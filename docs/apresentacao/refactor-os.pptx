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65A82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00" b="0" i="0" u="none">
                    <a:solidFill>
                      <a:srgbClr val="0F172A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Detector F1</c:v>
                </c:pt>
                <c:pt idx="1">
                  <c:v>Pattern OK</c:v>
                </c:pt>
                <c:pt idx="2">
                  <c:v>Sintaxe OK</c:v>
                </c:pt>
                <c:pt idx="3">
                  <c:v>API preservada</c:v>
                </c:pt>
                <c:pt idx="4">
                  <c:v>Aprov. pipeline</c:v>
                </c:pt>
                <c:pt idx="5">
                  <c:v>Critic F1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0.6</c:v>
                </c:pt>
                <c:pt idx="4">
                  <c:v>0.7</c:v>
                </c:pt>
                <c:pt idx="5">
                  <c:v>0.94099999999999995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09C-4559-B2CC-D7E2BA50485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100" b="0" i="0" u="none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"/>
        </c:scaling>
        <c:delete val="0"/>
        <c:axPos val="l"/>
        <c:majorGridlines>
          <c:spPr>
            <a:ln w="6350">
              <a:solidFill>
                <a:srgbClr val="E2E8F0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000" b="0" i="0" u="none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  <c:spPr>
    <a:solidFill>
      <a:srgbClr val="FFFFFF"/>
    </a:solidFill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065A82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800" b="0" i="0" u="none">
                    <a:solidFill>
                      <a:srgbClr val="0F172A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Detector F1</c:v>
                </c:pt>
                <c:pt idx="1">
                  <c:v>Pattern OK</c:v>
                </c:pt>
                <c:pt idx="2">
                  <c:v>Sintaxe OK</c:v>
                </c:pt>
                <c:pt idx="3">
                  <c:v>Lógica/API</c:v>
                </c:pt>
                <c:pt idx="4">
                  <c:v>Aprov. pipe</c:v>
                </c:pt>
                <c:pt idx="5">
                  <c:v>Critic F1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0.6</c:v>
                </c:pt>
                <c:pt idx="4">
                  <c:v>0.7</c:v>
                </c:pt>
                <c:pt idx="5">
                  <c:v>0.94099999999999995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721-475A-B0C2-103247D80C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Pós-mudanças</c:v>
                </c:pt>
              </c:strCache>
            </c:strRef>
          </c:tx>
          <c:spPr>
            <a:solidFill>
              <a:srgbClr val="10B981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800" b="0" i="0" u="none">
                    <a:solidFill>
                      <a:srgbClr val="0F172A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Detector F1</c:v>
                </c:pt>
                <c:pt idx="1">
                  <c:v>Pattern OK</c:v>
                </c:pt>
                <c:pt idx="2">
                  <c:v>Sintaxe OK</c:v>
                </c:pt>
                <c:pt idx="3">
                  <c:v>Lógica/API</c:v>
                </c:pt>
                <c:pt idx="4">
                  <c:v>Aprov. pipe</c:v>
                </c:pt>
                <c:pt idx="5">
                  <c:v>Critic F1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0.9</c:v>
                </c:pt>
                <c:pt idx="4">
                  <c:v>0.9</c:v>
                </c:pt>
                <c:pt idx="5">
                  <c:v>0.94699999999999995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721-475A-B0C2-103247D80C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000" b="0" i="0" u="none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.05"/>
        </c:scaling>
        <c:delete val="0"/>
        <c:axPos val="l"/>
        <c:majorGridlines>
          <c:spPr>
            <a:ln w="6350">
              <a:solidFill>
                <a:srgbClr val="E2E8F0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900" b="0" i="0" u="none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</c:valAx>
    </c:plotArea>
    <c:legend>
      <c:legendPos val="r"/>
      <c:overlay val="0"/>
      <c:txPr>
        <a:bodyPr anchorCtr="1"/>
        <a:lstStyle/>
        <a:p>
          <a:pPr>
            <a:defRPr sz="1000"/>
          </a:pPr>
          <a:endParaRPr lang="pt-BR"/>
        </a:p>
      </c:txPr>
    </c:legend>
    <c:plotVisOnly val="1"/>
    <c:dispBlanksAs val="zero"/>
    <c:showDLblsOverMax val="1"/>
  </c:chart>
  <c:spPr>
    <a:solidFill>
      <a:srgbClr val="FFFFFF"/>
    </a:solidFill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B0ABF98-2CFF-49DA-AD8D-63F787BD40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ADA50FD-4129-49BC-AD4D-32CFA99EEF95}"/>
              </a:ext>
            </a:extLst>
          </p:cNvPr>
          <p:cNvSpPr>
            <a:spLocks noGrp="1"/>
          </p:cNvSpPr>
          <p:nvPr/>
        </p:nvSpPr>
        <p:spPr>
          <a:xfrm>
            <a:off x="731520" y="1645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6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SISTEMAS AGENTIC · ENGENHARIA DE SOFTWARE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FBCDFCF-F3B3-4682-B8E8-FDC85959CD47}"/>
              </a:ext>
            </a:extLst>
          </p:cNvPr>
          <p:cNvSpPr>
            <a:spLocks noGrp="1"/>
          </p:cNvSpPr>
          <p:nvPr/>
        </p:nvSpPr>
        <p:spPr>
          <a:xfrm>
            <a:off x="731520" y="210312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refactor-os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0B2A23C-456C-4295-849C-35EDAF523CE6}"/>
              </a:ext>
            </a:extLst>
          </p:cNvPr>
          <p:cNvSpPr>
            <a:spLocks noGrp="1"/>
          </p:cNvSpPr>
          <p:nvPr/>
        </p:nvSpPr>
        <p:spPr>
          <a:xfrm>
            <a:off x="731520" y="320040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Pipeline multi-agente determinístico para revisão e refatoração de código orientada por Design Patterns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558A9B-DB2D-4FE4-A43E-6DBC3AA1E65E}"/>
              </a:ext>
            </a:extLst>
          </p:cNvPr>
          <p:cNvSpPr>
            <a:spLocks noGrp="1"/>
          </p:cNvSpPr>
          <p:nvPr/>
        </p:nvSpPr>
        <p:spPr>
          <a:xfrm>
            <a:off x="731520" y="42976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Bad Smells × 5 Design Patterns · Detector → Recommender → Critic (Reflection)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70664DA-7A99-480D-AAF8-74BA85CED449}"/>
              </a:ext>
            </a:extLst>
          </p:cNvPr>
          <p:cNvSpPr>
            <a:spLocks noGrp="1"/>
          </p:cNvSpPr>
          <p:nvPr/>
        </p:nvSpPr>
        <p:spPr>
          <a:xfrm>
            <a:off x="731520" y="5486400"/>
            <a:ext cx="365760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1D23B8C-4608-46FF-9D18-462AB0991D89}"/>
              </a:ext>
            </a:extLst>
          </p:cNvPr>
          <p:cNvSpPr>
            <a:spLocks noGrp="1"/>
          </p:cNvSpPr>
          <p:nvPr/>
        </p:nvSpPr>
        <p:spPr>
          <a:xfrm>
            <a:off x="731520" y="562356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jvras58</a:t>
            </a:r>
          </a:p>
          <a:p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Trabalho de Conclusão — 2026</a:t>
            </a:r>
          </a:p>
        </p:txBody>
      </p:sp>
    </p:spTree>
    <p:extLst>
      <p:ext uri="{BB962C8B-B14F-4D97-AF65-F5344CB8AC3E}">
        <p14:creationId xmlns:p14="http://schemas.microsoft.com/office/powerpoint/2010/main" val="914749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2F6FB3B-79A8-4BA0-B722-5D7113D00EF4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01 · CONTEXTO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49A17AB-E442-4745-84ED-7E2D0DC8D465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Refatoração por Design Patterns ainda é manual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522844E-E466-4206-A10C-E2FF9B3849A0}"/>
              </a:ext>
            </a:extLst>
          </p:cNvPr>
          <p:cNvSpPr>
            <a:spLocks noGrp="1"/>
          </p:cNvSpPr>
          <p:nvPr/>
        </p:nvSpPr>
        <p:spPr>
          <a:xfrm>
            <a:off x="548640" y="1645920"/>
            <a:ext cx="5669280" cy="4206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600"/>
              </a:spcAft>
              <a:buNone/>
            </a:pPr>
            <a:r>
              <a:rPr sz="14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O cenário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Bad smells e Design Patterns são conceitos clássicos da engenharia de software (Fowler, 1999; GoF, 1994), mas a aplicação correta em código real depende fortemente da experiência do desenvolvedor.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Ferramentas atuais como SonarQube, PMD ou Checkstyle detectam smells, mas </a:t>
            </a:r>
            <a:r>
              <a:rPr sz="1400" b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não propõem nem aplicam</a:t>
            </a:r>
            <a:r>
              <a:rPr sz="14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a refatoração — e LLMs gerais (ChatGPT, Copilot) frequentemente alucinam padrões fora de escopo ou quebram a API pública.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BC95243-A7B3-4B3D-B810-4CBBC48CCB27}"/>
              </a:ext>
            </a:extLst>
          </p:cNvPr>
          <p:cNvSpPr>
            <a:spLocks noGrp="1"/>
          </p:cNvSpPr>
          <p:nvPr/>
        </p:nvSpPr>
        <p:spPr>
          <a:xfrm>
            <a:off x="6492240" y="1645920"/>
            <a:ext cx="51206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1FC9794-EA88-4FF9-AE46-5364643854FB}"/>
              </a:ext>
            </a:extLst>
          </p:cNvPr>
          <p:cNvSpPr>
            <a:spLocks noGrp="1"/>
          </p:cNvSpPr>
          <p:nvPr/>
        </p:nvSpPr>
        <p:spPr>
          <a:xfrm>
            <a:off x="6766560" y="1828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O escopo fechado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3BAFD7-ECF8-4DA3-9EF4-C6ACC6780A2D}"/>
              </a:ext>
            </a:extLst>
          </p:cNvPr>
          <p:cNvSpPr>
            <a:spLocks noGrp="1"/>
          </p:cNvSpPr>
          <p:nvPr/>
        </p:nvSpPr>
        <p:spPr>
          <a:xfrm>
            <a:off x="6766560" y="2286000"/>
            <a:ext cx="219456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6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5</a:t>
            </a:r>
          </a:p>
          <a:p>
            <a:pPr marL="0" indent="0">
              <a:buNone/>
            </a:pPr>
            <a:r>
              <a:rPr sz="11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BAD SMELLS NO CATÁLOGO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470A957-818C-43D9-8D81-A32FF50F5882}"/>
              </a:ext>
            </a:extLst>
          </p:cNvPr>
          <p:cNvSpPr>
            <a:spLocks noGrp="1"/>
          </p:cNvSpPr>
          <p:nvPr/>
        </p:nvSpPr>
        <p:spPr>
          <a:xfrm>
            <a:off x="9326880" y="2286000"/>
            <a:ext cx="219456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6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5</a:t>
            </a:r>
          </a:p>
          <a:p>
            <a:pPr marL="0" indent="0">
              <a:buNone/>
            </a:pPr>
            <a:r>
              <a:rPr sz="11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DESIGN PATTERNS PAREADOS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51BE740-ADAB-41C9-9741-ACD482378DEE}"/>
              </a:ext>
            </a:extLst>
          </p:cNvPr>
          <p:cNvSpPr>
            <a:spLocks noGrp="1"/>
          </p:cNvSpPr>
          <p:nvPr/>
        </p:nvSpPr>
        <p:spPr>
          <a:xfrm>
            <a:off x="6766560" y="3931920"/>
            <a:ext cx="4572000" cy="1920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20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Bad Smell ↔ Pattern (1-pra-1)</a:t>
            </a:r>
          </a:p>
          <a:p>
            <a:pPr marL="0" indent="0">
              <a:spcAft>
                <a:spcPts val="200"/>
              </a:spcAft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Complex Switch → Strategy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Long Parameter List → Builder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God Class → Facade / SRP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Tight Coupling → Dependency Injection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Duplicated Code → Template Method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90261F6-B13F-47C2-8C2E-679FF9302FAD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51A82B4-712D-4756-A47D-5D94234BAAE7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 / 24</a:t>
            </a:r>
          </a:p>
        </p:txBody>
      </p:sp>
    </p:spTree>
    <p:extLst>
      <p:ext uri="{BB962C8B-B14F-4D97-AF65-F5344CB8AC3E}">
        <p14:creationId xmlns:p14="http://schemas.microsoft.com/office/powerpoint/2010/main" val="1293691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5B109C8-C094-4B43-A94C-EECD10A7CEE8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02 · PROBLEMA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FB628-D36B-4C23-A8FE-8811403ABC4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O que o sistema precisa entregar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D0DF266-AB32-4BFC-8BF3-A8D186909E90}"/>
              </a:ext>
            </a:extLst>
          </p:cNvPr>
          <p:cNvSpPr>
            <a:spLocks noGrp="1"/>
          </p:cNvSpPr>
          <p:nvPr/>
        </p:nvSpPr>
        <p:spPr>
          <a:xfrm>
            <a:off x="548640" y="1920240"/>
            <a:ext cx="3611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B123384-50EC-45E2-88E4-7B9177267FE3}"/>
              </a:ext>
            </a:extLst>
          </p:cNvPr>
          <p:cNvSpPr>
            <a:spLocks noGrp="1"/>
          </p:cNvSpPr>
          <p:nvPr/>
        </p:nvSpPr>
        <p:spPr>
          <a:xfrm>
            <a:off x="548640" y="1920240"/>
            <a:ext cx="3611880" cy="1645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3AE6A1E-6D9E-45B2-A755-F07595FCA7B2}"/>
              </a:ext>
            </a:extLst>
          </p:cNvPr>
          <p:cNvSpPr>
            <a:spLocks noGrp="1"/>
          </p:cNvSpPr>
          <p:nvPr/>
        </p:nvSpPr>
        <p:spPr>
          <a:xfrm>
            <a:off x="822960" y="22860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065A82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396814F-C69F-4E8A-93CC-4A5CB436F375}"/>
              </a:ext>
            </a:extLst>
          </p:cNvPr>
          <p:cNvSpPr>
            <a:spLocks noGrp="1"/>
          </p:cNvSpPr>
          <p:nvPr/>
        </p:nvSpPr>
        <p:spPr>
          <a:xfrm>
            <a:off x="822960" y="29260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Detecção objetiva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D53E30C-5E16-42BD-AFA3-8137E60D6C57}"/>
              </a:ext>
            </a:extLst>
          </p:cNvPr>
          <p:cNvSpPr>
            <a:spLocks noGrp="1"/>
          </p:cNvSpPr>
          <p:nvPr/>
        </p:nvSpPr>
        <p:spPr>
          <a:xfrm>
            <a:off x="822960" y="3474720"/>
            <a:ext cx="3108960" cy="1920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Identificar UM dos 5 bad smells no código submetido, sem confundir com pseudo-smells fora do escopo nem alucinar em código limpo.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E21A74D-CFDF-4D87-92CB-D2A50E251660}"/>
              </a:ext>
            </a:extLst>
          </p:cNvPr>
          <p:cNvSpPr>
            <a:spLocks noGrp="1"/>
          </p:cNvSpPr>
          <p:nvPr/>
        </p:nvSpPr>
        <p:spPr>
          <a:xfrm>
            <a:off x="4343400" y="1920240"/>
            <a:ext cx="3611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1DF2FA8-8561-45B4-9805-7C2618B0F6AD}"/>
              </a:ext>
            </a:extLst>
          </p:cNvPr>
          <p:cNvSpPr>
            <a:spLocks noGrp="1"/>
          </p:cNvSpPr>
          <p:nvPr/>
        </p:nvSpPr>
        <p:spPr>
          <a:xfrm>
            <a:off x="4343400" y="1920240"/>
            <a:ext cx="361188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E78ACBA-BA59-4DC7-A413-146EF62EC077}"/>
              </a:ext>
            </a:extLst>
          </p:cNvPr>
          <p:cNvSpPr>
            <a:spLocks noGrp="1"/>
          </p:cNvSpPr>
          <p:nvPr/>
        </p:nvSpPr>
        <p:spPr>
          <a:xfrm>
            <a:off x="4617720" y="22860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C729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18C5CB3-F21E-455D-9559-413B373EA013}"/>
              </a:ext>
            </a:extLst>
          </p:cNvPr>
          <p:cNvSpPr>
            <a:spLocks noGrp="1"/>
          </p:cNvSpPr>
          <p:nvPr/>
        </p:nvSpPr>
        <p:spPr>
          <a:xfrm>
            <a:off x="4617720" y="29260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Refatoração canônica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48A8D66-E8FC-4057-9BC5-8632126AA6B8}"/>
              </a:ext>
            </a:extLst>
          </p:cNvPr>
          <p:cNvSpPr>
            <a:spLocks noGrp="1"/>
          </p:cNvSpPr>
          <p:nvPr/>
        </p:nvSpPr>
        <p:spPr>
          <a:xfrm>
            <a:off x="4617720" y="3474720"/>
            <a:ext cx="3108960" cy="1920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Aplicar o Design Pattern correto (mapeado 1-pra-1) preservando lógica de negócio e — sobretudo — a assinatura pública do código original.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589838D-511A-4D20-98F8-6E56D6C611AF}"/>
              </a:ext>
            </a:extLst>
          </p:cNvPr>
          <p:cNvSpPr>
            <a:spLocks noGrp="1"/>
          </p:cNvSpPr>
          <p:nvPr/>
        </p:nvSpPr>
        <p:spPr>
          <a:xfrm>
            <a:off x="8138160" y="1920240"/>
            <a:ext cx="3611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75753432-9247-48C7-B967-EA0322519297}"/>
              </a:ext>
            </a:extLst>
          </p:cNvPr>
          <p:cNvSpPr>
            <a:spLocks noGrp="1"/>
          </p:cNvSpPr>
          <p:nvPr/>
        </p:nvSpPr>
        <p:spPr>
          <a:xfrm>
            <a:off x="8138160" y="1920240"/>
            <a:ext cx="36118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8DBE325-9F2A-4AA2-81AC-42E030378D15}"/>
              </a:ext>
            </a:extLst>
          </p:cNvPr>
          <p:cNvSpPr>
            <a:spLocks noGrp="1"/>
          </p:cNvSpPr>
          <p:nvPr/>
        </p:nvSpPr>
        <p:spPr>
          <a:xfrm>
            <a:off x="8412480" y="22860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0B981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F9B7684-55EC-4E8F-9037-BF86D38FC407}"/>
              </a:ext>
            </a:extLst>
          </p:cNvPr>
          <p:cNvSpPr>
            <a:spLocks noGrp="1"/>
          </p:cNvSpPr>
          <p:nvPr/>
        </p:nvSpPr>
        <p:spPr>
          <a:xfrm>
            <a:off x="8412480" y="29260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Validação confiável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FEEAFA4-345B-49E9-8711-DF54B8AD6262}"/>
              </a:ext>
            </a:extLst>
          </p:cNvPr>
          <p:cNvSpPr>
            <a:spLocks noGrp="1"/>
          </p:cNvSpPr>
          <p:nvPr/>
        </p:nvSpPr>
        <p:spPr>
          <a:xfrm>
            <a:off x="8412480" y="3474720"/>
            <a:ext cx="3108960" cy="1920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Verificar sintaxe, lógica preservada, pattern correto e API estável antes de aprovar — com ciclo de reflection caso falhe.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C7AC384-BD31-41A0-BAA5-7C5A4AE26F7B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Tudo isso de forma determinística e mensurável — cada estágio precisa ser avaliado em isolamento contra ground truth.</a:t>
            </a: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133F61E-93C0-400E-8F42-F76E8660295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9B22295-6DAF-4B8E-9A30-76C31716D796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 / 24</a:t>
            </a:r>
          </a:p>
        </p:txBody>
      </p:sp>
    </p:spTree>
    <p:extLst>
      <p:ext uri="{BB962C8B-B14F-4D97-AF65-F5344CB8AC3E}">
        <p14:creationId xmlns:p14="http://schemas.microsoft.com/office/powerpoint/2010/main" val="748022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80B66CD-9978-4363-AE50-06EEB5249B0B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03 · SOLUÇÃO · ARQUITETURA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7EBEEB-9590-4A17-BD59-DA4FA95B4496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Pipeline Detector → Recommender → Critic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F25EF7D-C8C0-4F06-A9C4-E92526DED97C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29184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3E3816A-1465-4EB3-8026-F9E72DCBFC06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291840" cy="1645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5928AFD-16B2-4F98-8F50-56EF75B94E2F}"/>
              </a:ext>
            </a:extLst>
          </p:cNvPr>
          <p:cNvSpPr>
            <a:spLocks noGrp="1"/>
          </p:cNvSpPr>
          <p:nvPr/>
        </p:nvSpPr>
        <p:spPr>
          <a:xfrm>
            <a:off x="822960" y="20116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Detector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3176B09-9ACD-4ACC-8231-242FDC4D8730}"/>
              </a:ext>
            </a:extLst>
          </p:cNvPr>
          <p:cNvSpPr>
            <a:spLocks noGrp="1"/>
          </p:cNvSpPr>
          <p:nvPr/>
        </p:nvSpPr>
        <p:spPr>
          <a:xfrm>
            <a:off x="822960" y="25146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Identifica o smell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43478D8-723D-4F7B-892E-5B94547F5B9C}"/>
              </a:ext>
            </a:extLst>
          </p:cNvPr>
          <p:cNvSpPr>
            <a:spLocks noGrp="1"/>
          </p:cNvSpPr>
          <p:nvPr/>
        </p:nvSpPr>
        <p:spPr>
          <a:xfrm>
            <a:off x="822960" y="3200400"/>
            <a:ext cx="292608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8BBB998-A307-4C4B-8158-DF2BF025C0D2}"/>
              </a:ext>
            </a:extLst>
          </p:cNvPr>
          <p:cNvSpPr>
            <a:spLocks noGrp="1"/>
          </p:cNvSpPr>
          <p:nvPr/>
        </p:nvSpPr>
        <p:spPr>
          <a:xfrm>
            <a:off x="822960" y="32461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output_schema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5309611-760D-4134-8589-D7D235AB260C}"/>
              </a:ext>
            </a:extLst>
          </p:cNvPr>
          <p:cNvSpPr>
            <a:spLocks noGrp="1"/>
          </p:cNvSpPr>
          <p:nvPr/>
        </p:nvSpPr>
        <p:spPr>
          <a:xfrm>
            <a:off x="822960" y="35204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SmellDetection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0DD47BB-7212-441C-A6A1-DBBA42AC7898}"/>
              </a:ext>
            </a:extLst>
          </p:cNvPr>
          <p:cNvSpPr>
            <a:spLocks noGrp="1"/>
          </p:cNvSpPr>
          <p:nvPr/>
        </p:nvSpPr>
        <p:spPr>
          <a:xfrm>
            <a:off x="4297680" y="1737360"/>
            <a:ext cx="329184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3220988-CA1B-4C68-9CED-777B947ABF26}"/>
              </a:ext>
            </a:extLst>
          </p:cNvPr>
          <p:cNvSpPr>
            <a:spLocks noGrp="1"/>
          </p:cNvSpPr>
          <p:nvPr/>
        </p:nvSpPr>
        <p:spPr>
          <a:xfrm>
            <a:off x="4297680" y="1737360"/>
            <a:ext cx="329184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01C06E1-A74A-4DA1-96A1-55310750A1F4}"/>
              </a:ext>
            </a:extLst>
          </p:cNvPr>
          <p:cNvSpPr>
            <a:spLocks noGrp="1"/>
          </p:cNvSpPr>
          <p:nvPr/>
        </p:nvSpPr>
        <p:spPr>
          <a:xfrm>
            <a:off x="4480560" y="20116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Recommender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92BE719-8A28-4186-ABBE-3867F3A34370}"/>
              </a:ext>
            </a:extLst>
          </p:cNvPr>
          <p:cNvSpPr>
            <a:spLocks noGrp="1"/>
          </p:cNvSpPr>
          <p:nvPr/>
        </p:nvSpPr>
        <p:spPr>
          <a:xfrm>
            <a:off x="4480560" y="25146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Aplica o pattern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91278EA-14A5-4DC2-ABC1-886A0E1F8C39}"/>
              </a:ext>
            </a:extLst>
          </p:cNvPr>
          <p:cNvSpPr>
            <a:spLocks noGrp="1"/>
          </p:cNvSpPr>
          <p:nvPr/>
        </p:nvSpPr>
        <p:spPr>
          <a:xfrm>
            <a:off x="4480560" y="3200400"/>
            <a:ext cx="292608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69CFBA1-7AC0-455A-8ADF-96F8FF10B2A4}"/>
              </a:ext>
            </a:extLst>
          </p:cNvPr>
          <p:cNvSpPr>
            <a:spLocks noGrp="1"/>
          </p:cNvSpPr>
          <p:nvPr/>
        </p:nvSpPr>
        <p:spPr>
          <a:xfrm>
            <a:off x="4480560" y="32461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output_schema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C9B62F3-4029-45B1-9274-76D01997DAF1}"/>
              </a:ext>
            </a:extLst>
          </p:cNvPr>
          <p:cNvSpPr>
            <a:spLocks noGrp="1"/>
          </p:cNvSpPr>
          <p:nvPr/>
        </p:nvSpPr>
        <p:spPr>
          <a:xfrm>
            <a:off x="4480560" y="35204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RefactoringProposal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D3355B-6041-4413-A3ED-EE498CDB8CBA}"/>
              </a:ext>
            </a:extLst>
          </p:cNvPr>
          <p:cNvSpPr>
            <a:spLocks noGrp="1"/>
          </p:cNvSpPr>
          <p:nvPr/>
        </p:nvSpPr>
        <p:spPr>
          <a:xfrm>
            <a:off x="7955280" y="1737360"/>
            <a:ext cx="329184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BEE994A-B257-4109-B0DC-B72B17352D5F}"/>
              </a:ext>
            </a:extLst>
          </p:cNvPr>
          <p:cNvSpPr>
            <a:spLocks noGrp="1"/>
          </p:cNvSpPr>
          <p:nvPr/>
        </p:nvSpPr>
        <p:spPr>
          <a:xfrm>
            <a:off x="7955280" y="1737360"/>
            <a:ext cx="329184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7DD030D-0845-4059-94C7-996DA7B93B15}"/>
              </a:ext>
            </a:extLst>
          </p:cNvPr>
          <p:cNvSpPr>
            <a:spLocks noGrp="1"/>
          </p:cNvSpPr>
          <p:nvPr/>
        </p:nvSpPr>
        <p:spPr>
          <a:xfrm>
            <a:off x="8138160" y="20116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Critic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D30DD19-A852-4DCB-B21C-66FDF42C554B}"/>
              </a:ext>
            </a:extLst>
          </p:cNvPr>
          <p:cNvSpPr>
            <a:spLocks noGrp="1"/>
          </p:cNvSpPr>
          <p:nvPr/>
        </p:nvSpPr>
        <p:spPr>
          <a:xfrm>
            <a:off x="8138160" y="25146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Valida e julga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BE2F63E-7E65-405E-AB33-AEB20CDF4B5A}"/>
              </a:ext>
            </a:extLst>
          </p:cNvPr>
          <p:cNvSpPr>
            <a:spLocks noGrp="1"/>
          </p:cNvSpPr>
          <p:nvPr/>
        </p:nvSpPr>
        <p:spPr>
          <a:xfrm>
            <a:off x="8138160" y="3200400"/>
            <a:ext cx="292608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7477FD1-E3F0-48A7-95DD-412B4D2268E5}"/>
              </a:ext>
            </a:extLst>
          </p:cNvPr>
          <p:cNvSpPr>
            <a:spLocks noGrp="1"/>
          </p:cNvSpPr>
          <p:nvPr/>
        </p:nvSpPr>
        <p:spPr>
          <a:xfrm>
            <a:off x="8138160" y="32461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output_schema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7CF43C9-5714-4FEF-B876-37AEF16F474E}"/>
              </a:ext>
            </a:extLst>
          </p:cNvPr>
          <p:cNvSpPr>
            <a:spLocks noGrp="1"/>
          </p:cNvSpPr>
          <p:nvPr/>
        </p:nvSpPr>
        <p:spPr>
          <a:xfrm>
            <a:off x="8138160" y="35204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ReflectionReview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5AC08BB-59E7-40FE-BCF9-0C23D447BC1A}"/>
              </a:ext>
            </a:extLst>
          </p:cNvPr>
          <p:cNvSpPr>
            <a:spLocks noGrp="1"/>
          </p:cNvSpPr>
          <p:nvPr/>
        </p:nvSpPr>
        <p:spPr>
          <a:xfrm rot="5400000">
            <a:off x="3977640" y="2743200"/>
            <a:ext cx="274320" cy="365760"/>
          </a:xfrm>
          <a:prstGeom prst="rtTriangl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8B2FFE1-C35E-4381-86C9-E7ED1BB0ADAC}"/>
              </a:ext>
            </a:extLst>
          </p:cNvPr>
          <p:cNvSpPr>
            <a:spLocks noGrp="1"/>
          </p:cNvSpPr>
          <p:nvPr/>
        </p:nvSpPr>
        <p:spPr>
          <a:xfrm rot="5400000">
            <a:off x="7635240" y="2743200"/>
            <a:ext cx="274320" cy="365760"/>
          </a:xfrm>
          <a:prstGeom prst="rtTriangl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A848A172-A21D-4E37-A176-52BC60646909}"/>
              </a:ext>
            </a:extLst>
          </p:cNvPr>
          <p:cNvSpPr>
            <a:spLocks noGrp="1"/>
          </p:cNvSpPr>
          <p:nvPr/>
        </p:nvSpPr>
        <p:spPr>
          <a:xfrm>
            <a:off x="640080" y="4572000"/>
            <a:ext cx="10972800" cy="128016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181A097-3770-4AD9-A8B9-ED5BC8E27EAC}"/>
              </a:ext>
            </a:extLst>
          </p:cNvPr>
          <p:cNvSpPr>
            <a:spLocks noGrp="1"/>
          </p:cNvSpPr>
          <p:nvPr/>
        </p:nvSpPr>
        <p:spPr>
          <a:xfrm>
            <a:off x="822960" y="46634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 spc="2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🔄  REFLECTION LOOP (até 3 iterações)</a:t>
            </a: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A239077-CF34-4B8B-85BA-4E31E0536AB0}"/>
              </a:ext>
            </a:extLst>
          </p:cNvPr>
          <p:cNvSpPr>
            <a:spLocks noGrp="1"/>
          </p:cNvSpPr>
          <p:nvPr/>
        </p:nvSpPr>
        <p:spPr>
          <a:xfrm>
            <a:off x="822960" y="502920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Se o Critic reprova, a critique é injetada no próximo prompt do Recommender pelo RefactorService (em Python, não pelo history do Agno) — preservando ordem fixa, iterações exatas e métricas isoladas por estágio.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7B4957B3-3DD3-4CB8-9849-54D9922BE16E}"/>
              </a:ext>
            </a:extLst>
          </p:cNvPr>
          <p:cNvSpPr>
            <a:spLocks noGrp="1"/>
          </p:cNvSpPr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Comunicação Spec-Driven: cada estágio devolve um schema Pydantic validado.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CE14E1E-1DE1-493A-8C85-50A1748D9D38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E6A2F25-E315-4EFB-BE7C-A89F7FCB9B4F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 / 24</a:t>
            </a:r>
          </a:p>
        </p:txBody>
      </p:sp>
    </p:spTree>
    <p:extLst>
      <p:ext uri="{BB962C8B-B14F-4D97-AF65-F5344CB8AC3E}">
        <p14:creationId xmlns:p14="http://schemas.microsoft.com/office/powerpoint/2010/main" val="1670231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1B68BFF-E835-404B-9F75-15067A3AEDD7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04 · SOLUÇÃO · PATTERNS AGENTIC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190ADEC-7B48-4C04-A419-97395CE180A0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Padrões agentic aplicados ao pipeline</a:t>
            </a:r>
          </a:p>
        </p:txBody>
      </p:sp>
      <p:graphicFrame>
        <p:nvGraphicFramePr>
          <p:cNvPr id="12" name="Table 0"/>
          <p:cNvGraphicFramePr/>
          <p:nvPr/>
        </p:nvGraphicFramePr>
        <p:xfrm>
          <a:off x="548640" y="1691640"/>
          <a:ext cx="11064240" cy="438912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</a:t>
                      </a:r>
                    </a:p>
                  </a:txBody>
                  <a:tcPr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Pattern</a:t>
                      </a:r>
                    </a:p>
                  </a:txBody>
                  <a:tcPr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Onde no código</a:t>
                      </a:r>
                    </a:p>
                  </a:txBody>
                  <a:tcPr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Prompt Chaining (Pipeline)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RefactorService — sequência fixa Detector → Recommender → Critic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Reflection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Loop Generator–Critic com MAX_REFLECTION_ITERATIONS=3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Tool Use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ast_analyzer_tool, syntax_checker_tool, diff_generator_tool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Multi-Agent Collaboration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Três agentes especializados, papéis exclusivos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</a:rPr>
                        <a:t>Skills (substitui RAG)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Agno Skills: 5 SKILL.md, lazy-load por get_skill_instructions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</a:rPr>
                        <a:t>Few-Shot Prompting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Exemplos canônicos no Recommender (via skill) + Critic (inline)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17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</a:rPr>
                        <a:t>Stateless Agents (sem DB)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db=None nos 3 agentes — pipeline atômico por request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Guardrails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Pydantic: max_length=50_000 no source_code; ShellTools removido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11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Goal Setting (SMART no Critic)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5 critérios binários numerados — decisão verificável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Exception Handling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RefactorResult.error preenchido; arun_typed + retry 429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19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Evaluation &amp; Monitoring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/evaluate/{detector,refactor,critic,all} — 3 métricas independentes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Shape 2">
            <a:extLst>
              <a:ext uri="{FF2B5EF4-FFF2-40B4-BE49-F238E27FC236}">
                <a16:creationId xmlns:a16="http://schemas.microsoft.com/office/drawing/2014/main" id="{C1A84084-9B1A-42F5-8938-829E7317C4A7}"/>
              </a:ext>
            </a:extLst>
          </p:cNvPr>
          <p:cNvSpPr>
            <a:spLocks noGrp="1"/>
          </p:cNvSpPr>
          <p:nvPr/>
        </p:nvSpPr>
        <p:spPr>
          <a:xfrm>
            <a:off x="548640" y="62636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9BF55A1-4428-42C7-B528-949232B36729}"/>
              </a:ext>
            </a:extLst>
          </p:cNvPr>
          <p:cNvSpPr>
            <a:spLocks noGrp="1"/>
          </p:cNvSpPr>
          <p:nvPr/>
        </p:nvSpPr>
        <p:spPr>
          <a:xfrm>
            <a:off x="777240" y="61996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verde: pattern adicionado nesta evolução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E36AE94-3995-48FA-BA8E-12F94E20F0C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6BE57CE-75D7-42E1-B9E2-A377FD2D6968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 / 24</a:t>
            </a:r>
          </a:p>
        </p:txBody>
      </p:sp>
    </p:spTree>
    <p:extLst>
      <p:ext uri="{BB962C8B-B14F-4D97-AF65-F5344CB8AC3E}">
        <p14:creationId xmlns:p14="http://schemas.microsoft.com/office/powerpoint/2010/main" val="1406492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B2EFA76-B493-48CC-A22B-1391F793B623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05 · SOLUÇÃO · STACK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C5A232-C6C8-4366-BDCD-8DEF54A69AD6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Stack final — enxuta por decisão arquitetural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BBA3199-4805-40DF-A51B-5E3651BB1C4B}"/>
              </a:ext>
            </a:extLst>
          </p:cNvPr>
          <p:cNvSpPr>
            <a:spLocks noGrp="1"/>
          </p:cNvSpPr>
          <p:nvPr/>
        </p:nvSpPr>
        <p:spPr>
          <a:xfrm>
            <a:off x="548640" y="173736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5257CAA-C17A-4A73-A639-55D9F10C658D}"/>
              </a:ext>
            </a:extLst>
          </p:cNvPr>
          <p:cNvSpPr>
            <a:spLocks noGrp="1"/>
          </p:cNvSpPr>
          <p:nvPr/>
        </p:nvSpPr>
        <p:spPr>
          <a:xfrm>
            <a:off x="548640" y="1737360"/>
            <a:ext cx="109728" cy="2103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1259B5-5F51-4460-8115-B4B82DFCD4A8}"/>
              </a:ext>
            </a:extLst>
          </p:cNvPr>
          <p:cNvSpPr>
            <a:spLocks noGrp="1"/>
          </p:cNvSpPr>
          <p:nvPr/>
        </p:nvSpPr>
        <p:spPr>
          <a:xfrm>
            <a:off x="868680" y="1874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LLM principal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F8B30CB-8B86-4E06-ADBC-2DAA88D18E4A}"/>
              </a:ext>
            </a:extLst>
          </p:cNvPr>
          <p:cNvSpPr>
            <a:spLocks noGrp="1"/>
          </p:cNvSpPr>
          <p:nvPr/>
        </p:nvSpPr>
        <p:spPr>
          <a:xfrm>
            <a:off x="868680" y="22402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Mistral via Agno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B8791FD-33D1-4D45-B5B0-12752D51F826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5029200" cy="10972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build_main_model()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Tool/skill calling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Temperatura = .env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023DDCA-4E9F-4AB0-B67E-DE1C00B95DAE}"/>
              </a:ext>
            </a:extLst>
          </p:cNvPr>
          <p:cNvSpPr>
            <a:spLocks noGrp="1"/>
          </p:cNvSpPr>
          <p:nvPr/>
        </p:nvSpPr>
        <p:spPr>
          <a:xfrm>
            <a:off x="6263640" y="173736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F5AD44F-D383-443A-9BA2-9C6083EA8E1A}"/>
              </a:ext>
            </a:extLst>
          </p:cNvPr>
          <p:cNvSpPr>
            <a:spLocks noGrp="1"/>
          </p:cNvSpPr>
          <p:nvPr/>
        </p:nvSpPr>
        <p:spPr>
          <a:xfrm>
            <a:off x="6263640" y="1737360"/>
            <a:ext cx="109728" cy="21031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366FDB2-ADAF-4269-89AA-17BDEF3F88E5}"/>
              </a:ext>
            </a:extLst>
          </p:cNvPr>
          <p:cNvSpPr>
            <a:spLocks noGrp="1"/>
          </p:cNvSpPr>
          <p:nvPr/>
        </p:nvSpPr>
        <p:spPr>
          <a:xfrm>
            <a:off x="6583680" y="1874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Parser model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663D059-4296-48E4-9305-87EEF3E82F1F}"/>
              </a:ext>
            </a:extLst>
          </p:cNvPr>
          <p:cNvSpPr>
            <a:spLocks noGrp="1"/>
          </p:cNvSpPr>
          <p:nvPr/>
        </p:nvSpPr>
        <p:spPr>
          <a:xfrm>
            <a:off x="6583680" y="22402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Mistral · temperatura 0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3AE88CA-E39C-4AF8-8D27-BBDBBC3996D1}"/>
              </a:ext>
            </a:extLst>
          </p:cNvPr>
          <p:cNvSpPr>
            <a:spLocks noGrp="1"/>
          </p:cNvSpPr>
          <p:nvPr/>
        </p:nvSpPr>
        <p:spPr>
          <a:xfrm>
            <a:off x="6583680" y="2651760"/>
            <a:ext cx="5029200" cy="10972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build_parser_model()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Sem tools, só extração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Resolve bug JSON-mode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8DF1749-960B-4354-A8CA-E4F85F2C6066}"/>
              </a:ext>
            </a:extLst>
          </p:cNvPr>
          <p:cNvSpPr>
            <a:spLocks noGrp="1"/>
          </p:cNvSpPr>
          <p:nvPr/>
        </p:nvSpPr>
        <p:spPr>
          <a:xfrm>
            <a:off x="548640" y="402336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F14104-3998-405C-8390-8B810248930E}"/>
              </a:ext>
            </a:extLst>
          </p:cNvPr>
          <p:cNvSpPr>
            <a:spLocks noGrp="1"/>
          </p:cNvSpPr>
          <p:nvPr/>
        </p:nvSpPr>
        <p:spPr>
          <a:xfrm>
            <a:off x="548640" y="4023360"/>
            <a:ext cx="109728" cy="2103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F9AC1D8-A646-41C1-BEFC-923DBF49DC24}"/>
              </a:ext>
            </a:extLst>
          </p:cNvPr>
          <p:cNvSpPr>
            <a:spLocks noGrp="1"/>
          </p:cNvSpPr>
          <p:nvPr/>
        </p:nvSpPr>
        <p:spPr>
          <a:xfrm>
            <a:off x="868680" y="4160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Conhecimento dos patterns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5E55D46-B54A-416A-8944-4CC0BBDA0738}"/>
              </a:ext>
            </a:extLst>
          </p:cNvPr>
          <p:cNvSpPr>
            <a:spLocks noGrp="1"/>
          </p:cNvSpPr>
          <p:nvPr/>
        </p:nvSpPr>
        <p:spPr>
          <a:xfrm>
            <a:off x="868680" y="45262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Agno Skills (lazy-load)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A1C99BD-FF49-4B84-BC63-4E0B2547B919}"/>
              </a:ext>
            </a:extLst>
          </p:cNvPr>
          <p:cNvSpPr>
            <a:spLocks noGrp="1"/>
          </p:cNvSpPr>
          <p:nvPr/>
        </p:nvSpPr>
        <p:spPr>
          <a:xfrm>
            <a:off x="868680" y="4937760"/>
            <a:ext cx="5029200" cy="10972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5× SKILL.md em app/skills/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get_skill_instructions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Substitui PgVector + HF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7670F34-C85C-4A3A-AC52-25556CE5F961}"/>
              </a:ext>
            </a:extLst>
          </p:cNvPr>
          <p:cNvSpPr>
            <a:spLocks noGrp="1"/>
          </p:cNvSpPr>
          <p:nvPr/>
        </p:nvSpPr>
        <p:spPr>
          <a:xfrm>
            <a:off x="6263640" y="402336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0479DAE-C2D3-4591-9FDC-6BBA2296FFA6}"/>
              </a:ext>
            </a:extLst>
          </p:cNvPr>
          <p:cNvSpPr>
            <a:spLocks noGrp="1"/>
          </p:cNvSpPr>
          <p:nvPr/>
        </p:nvSpPr>
        <p:spPr>
          <a:xfrm>
            <a:off x="6263640" y="4023360"/>
            <a:ext cx="109728" cy="2103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6DD476-C087-4CEB-8859-1235088744F8}"/>
              </a:ext>
            </a:extLst>
          </p:cNvPr>
          <p:cNvSpPr>
            <a:spLocks noGrp="1"/>
          </p:cNvSpPr>
          <p:nvPr/>
        </p:nvSpPr>
        <p:spPr>
          <a:xfrm>
            <a:off x="6583680" y="4160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Persistência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CCAC91F-7517-4BD5-BAE0-8685061449D2}"/>
              </a:ext>
            </a:extLst>
          </p:cNvPr>
          <p:cNvSpPr>
            <a:spLocks noGrp="1"/>
          </p:cNvSpPr>
          <p:nvPr/>
        </p:nvSpPr>
        <p:spPr>
          <a:xfrm>
            <a:off x="6583680" y="45262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Nenhuma (stateless)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620BB7F-3CD5-45A7-9792-18E93D47E954}"/>
              </a:ext>
            </a:extLst>
          </p:cNvPr>
          <p:cNvSpPr>
            <a:spLocks noGrp="1"/>
          </p:cNvSpPr>
          <p:nvPr/>
        </p:nvSpPr>
        <p:spPr>
          <a:xfrm>
            <a:off x="6583680" y="4937760"/>
            <a:ext cx="5029200" cy="10972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db=None nos 3 agentes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Sem Postgres / pgvector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Sem psycopg / sqlalchemy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808D8AF-3F7D-4D12-B1B0-23E1C3284BBF}"/>
              </a:ext>
            </a:extLst>
          </p:cNvPr>
          <p:cNvSpPr>
            <a:spLocks noGrp="1"/>
          </p:cNvSpPr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Antes: </a:t>
            </a: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Mistral + HuggingFace + Postgres+pgvector </a:t>
            </a: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(4 env vars obrigatórias)</a:t>
            </a:r>
            <a:r>
              <a:rPr sz="12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   →    </a:t>
            </a:r>
            <a:r>
              <a:rPr sz="12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Agora: </a:t>
            </a: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só Mistral </a:t>
            </a: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(1 env var: MISTRAL_API_KEY)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6BF0944B-77C6-44D9-9A94-AD1577EF1B7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73515CF-F158-406B-AE77-BB98CCDA1762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 / 24</a:t>
            </a:r>
          </a:p>
        </p:txBody>
      </p:sp>
    </p:spTree>
    <p:extLst>
      <p:ext uri="{BB962C8B-B14F-4D97-AF65-F5344CB8AC3E}">
        <p14:creationId xmlns:p14="http://schemas.microsoft.com/office/powerpoint/2010/main" val="1347976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0ED8E3-7DC1-4184-ACDD-887DC5C00D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6A06DC-93D9-455D-97DA-E49F002DA20E}"/>
              </a:ext>
            </a:extLst>
          </p:cNvPr>
          <p:cNvSpPr>
            <a:spLocks noGrp="1"/>
          </p:cNvSpPr>
          <p:nvPr/>
        </p:nvSpPr>
        <p:spPr>
          <a:xfrm>
            <a:off x="548640" y="249529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dirty="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07 · SOLUÇÃO · COMUNICAÇÃO ENTRE AGENTES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60A817-331A-4407-8BBA-00571E580A13}"/>
              </a:ext>
            </a:extLst>
          </p:cNvPr>
          <p:cNvSpPr>
            <a:spLocks noGrp="1"/>
          </p:cNvSpPr>
          <p:nvPr/>
        </p:nvSpPr>
        <p:spPr>
          <a:xfrm>
            <a:off x="548640" y="405005"/>
            <a:ext cx="11439144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Spec-Driven: </a:t>
            </a: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Pydantic</a:t>
            </a: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 é o </a:t>
            </a: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contrato</a:t>
            </a: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; Python é a </a:t>
            </a: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orquestração</a:t>
            </a:r>
            <a:endParaRPr sz="3000" b="1" dirty="0">
              <a:solidFill>
                <a:srgbClr val="0A2540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CF4047-23AD-461B-ABF0-13D07F3C9256}"/>
              </a:ext>
            </a:extLst>
          </p:cNvPr>
          <p:cNvSpPr>
            <a:spLocks noGrp="1"/>
          </p:cNvSpPr>
          <p:nvPr/>
        </p:nvSpPr>
        <p:spPr>
          <a:xfrm>
            <a:off x="548640" y="1310000"/>
            <a:ext cx="109728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Cada agente devolve um schema tipado; o RefactorService chama os agentes em ordem fixa e injeta o feedback do Critic no próximo prompt do Recommender.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0063610-DE24-4BBF-AF81-1D907D291D81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336490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29E63C-6133-4601-9171-7FE65F35F3D1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3364906" cy="110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654074-D899-421F-9CDA-76E7C125DA41}"/>
              </a:ext>
            </a:extLst>
          </p:cNvPr>
          <p:cNvSpPr>
            <a:spLocks noGrp="1"/>
          </p:cNvSpPr>
          <p:nvPr/>
        </p:nvSpPr>
        <p:spPr>
          <a:xfrm>
            <a:off x="808640" y="2040000"/>
            <a:ext cx="2844906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Detector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921142-F447-45CB-97DF-A8310DBC94AF}"/>
              </a:ext>
            </a:extLst>
          </p:cNvPr>
          <p:cNvSpPr>
            <a:spLocks noGrp="1"/>
          </p:cNvSpPr>
          <p:nvPr/>
        </p:nvSpPr>
        <p:spPr>
          <a:xfrm>
            <a:off x="808640" y="2460000"/>
            <a:ext cx="2844906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SmellDetection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F12B6B-9EAF-457C-B622-2DCB50205670}"/>
              </a:ext>
            </a:extLst>
          </p:cNvPr>
          <p:cNvSpPr>
            <a:spLocks noGrp="1"/>
          </p:cNvSpPr>
          <p:nvPr/>
        </p:nvSpPr>
        <p:spPr>
          <a:xfrm>
            <a:off x="808640" y="2820000"/>
            <a:ext cx="2844906" cy="1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has_smell: bool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smell_type: BadSmellType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line_start / line_end: int | None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reasoning: str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40239882-A28C-4DBD-944A-5F44DB231A1A}"/>
              </a:ext>
            </a:extLst>
          </p:cNvPr>
          <p:cNvSpPr>
            <a:spLocks noGrp="1"/>
          </p:cNvSpPr>
          <p:nvPr/>
        </p:nvSpPr>
        <p:spPr>
          <a:xfrm>
            <a:off x="3973546" y="2870000"/>
            <a:ext cx="280000" cy="200000"/>
          </a:xfrm>
          <a:prstGeom prst="rightArrow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E03279C-6E94-44FB-9222-BC630B0152C8}"/>
              </a:ext>
            </a:extLst>
          </p:cNvPr>
          <p:cNvSpPr>
            <a:spLocks noGrp="1"/>
          </p:cNvSpPr>
          <p:nvPr/>
        </p:nvSpPr>
        <p:spPr>
          <a:xfrm>
            <a:off x="4413546" y="1820000"/>
            <a:ext cx="336490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63745F-D9EE-4154-A9EA-60D4A8FD8235}"/>
              </a:ext>
            </a:extLst>
          </p:cNvPr>
          <p:cNvSpPr>
            <a:spLocks noGrp="1"/>
          </p:cNvSpPr>
          <p:nvPr/>
        </p:nvSpPr>
        <p:spPr>
          <a:xfrm>
            <a:off x="4413546" y="1820000"/>
            <a:ext cx="3364906" cy="110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F12CCA-2D08-4258-B729-72135A4CE068}"/>
              </a:ext>
            </a:extLst>
          </p:cNvPr>
          <p:cNvSpPr>
            <a:spLocks noGrp="1"/>
          </p:cNvSpPr>
          <p:nvPr/>
        </p:nvSpPr>
        <p:spPr>
          <a:xfrm>
            <a:off x="4673546" y="2040000"/>
            <a:ext cx="2844906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Recommender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AAAABF-39B3-4BE5-B4E1-7C29A15D83D1}"/>
              </a:ext>
            </a:extLst>
          </p:cNvPr>
          <p:cNvSpPr>
            <a:spLocks noGrp="1"/>
          </p:cNvSpPr>
          <p:nvPr/>
        </p:nvSpPr>
        <p:spPr>
          <a:xfrm>
            <a:off x="4673546" y="2460000"/>
            <a:ext cx="2844906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RefactoringProposal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3AF9D6-269E-4C7B-882C-4DED833A10DE}"/>
              </a:ext>
            </a:extLst>
          </p:cNvPr>
          <p:cNvSpPr>
            <a:spLocks noGrp="1"/>
          </p:cNvSpPr>
          <p:nvPr/>
        </p:nvSpPr>
        <p:spPr>
          <a:xfrm>
            <a:off x="4673546" y="2820000"/>
            <a:ext cx="2844906" cy="1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applied_pattern: DesignPatternType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refactored_code: str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architectural_explanation: str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expected_benefits: list[str]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C20D7D0B-1CD3-4B85-8A29-9A2C8486758B}"/>
              </a:ext>
            </a:extLst>
          </p:cNvPr>
          <p:cNvSpPr>
            <a:spLocks noGrp="1"/>
          </p:cNvSpPr>
          <p:nvPr/>
        </p:nvSpPr>
        <p:spPr>
          <a:xfrm>
            <a:off x="7838452" y="2870000"/>
            <a:ext cx="280000" cy="200000"/>
          </a:xfrm>
          <a:prstGeom prst="rightArrow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DF18A63-8199-49B5-B040-13107EE8336C}"/>
              </a:ext>
            </a:extLst>
          </p:cNvPr>
          <p:cNvSpPr>
            <a:spLocks noGrp="1"/>
          </p:cNvSpPr>
          <p:nvPr/>
        </p:nvSpPr>
        <p:spPr>
          <a:xfrm>
            <a:off x="8278452" y="1820000"/>
            <a:ext cx="336490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82D13-0AEC-4A78-96D1-4EFFEFE97B98}"/>
              </a:ext>
            </a:extLst>
          </p:cNvPr>
          <p:cNvSpPr>
            <a:spLocks noGrp="1"/>
          </p:cNvSpPr>
          <p:nvPr/>
        </p:nvSpPr>
        <p:spPr>
          <a:xfrm>
            <a:off x="8278452" y="1820000"/>
            <a:ext cx="3364906" cy="11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12A296-E7A1-4E25-8460-8D933CC83A78}"/>
              </a:ext>
            </a:extLst>
          </p:cNvPr>
          <p:cNvSpPr>
            <a:spLocks noGrp="1"/>
          </p:cNvSpPr>
          <p:nvPr/>
        </p:nvSpPr>
        <p:spPr>
          <a:xfrm>
            <a:off x="8538452" y="2040000"/>
            <a:ext cx="2844906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Critic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80EF1A-00CD-47AB-8102-91DC6CF095CA}"/>
              </a:ext>
            </a:extLst>
          </p:cNvPr>
          <p:cNvSpPr>
            <a:spLocks noGrp="1"/>
          </p:cNvSpPr>
          <p:nvPr/>
        </p:nvSpPr>
        <p:spPr>
          <a:xfrm>
            <a:off x="8538452" y="2460000"/>
            <a:ext cx="2844906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ReflectionReview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C1AB61-2E2C-4E0D-9FAB-4C7157366712}"/>
              </a:ext>
            </a:extLst>
          </p:cNvPr>
          <p:cNvSpPr>
            <a:spLocks noGrp="1"/>
          </p:cNvSpPr>
          <p:nvPr/>
        </p:nvSpPr>
        <p:spPr>
          <a:xfrm>
            <a:off x="8538452" y="2820000"/>
            <a:ext cx="2844906" cy="1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is_approved: bool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critique: str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final_validated_code: str | None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179B6E-8251-4F0F-B36C-BF89B93929F8}"/>
              </a:ext>
            </a:extLst>
          </p:cNvPr>
          <p:cNvSpPr>
            <a:spLocks noGrp="1"/>
          </p:cNvSpPr>
          <p:nvPr/>
        </p:nvSpPr>
        <p:spPr>
          <a:xfrm>
            <a:off x="548640" y="4220000"/>
            <a:ext cx="1109472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🔄  Reflection loop — até 3 iterações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DEE7E4-17D9-414F-827A-60DDD21EC8D5}"/>
              </a:ext>
            </a:extLst>
          </p:cNvPr>
          <p:cNvSpPr>
            <a:spLocks noGrp="1"/>
          </p:cNvSpPr>
          <p:nvPr/>
        </p:nvSpPr>
        <p:spPr>
          <a:xfrm>
            <a:off x="548640" y="4500000"/>
            <a:ext cx="1109472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se review.is_approved=False → critique vira prior_critique no prompt do Recommender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205B2C8-0335-4BD9-926E-58312E3AAD32}"/>
              </a:ext>
            </a:extLst>
          </p:cNvPr>
          <p:cNvSpPr>
            <a:spLocks noGrp="1"/>
          </p:cNvSpPr>
          <p:nvPr/>
        </p:nvSpPr>
        <p:spPr>
          <a:xfrm>
            <a:off x="548640" y="5020000"/>
            <a:ext cx="100000" cy="1000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99D5E1-3E1F-4B22-91C6-58B5F15CCF4A}"/>
              </a:ext>
            </a:extLst>
          </p:cNvPr>
          <p:cNvSpPr>
            <a:spLocks noGrp="1"/>
          </p:cNvSpPr>
          <p:nvPr/>
        </p:nvSpPr>
        <p:spPr>
          <a:xfrm>
            <a:off x="708640" y="4980000"/>
            <a:ext cx="3418240" cy="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ORQUESTRAÇÃO EM PYTHON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B31545-11A8-4A3F-83BD-D4594043E242}"/>
              </a:ext>
            </a:extLst>
          </p:cNvPr>
          <p:cNvSpPr>
            <a:spLocks noGrp="1"/>
          </p:cNvSpPr>
          <p:nvPr/>
        </p:nvSpPr>
        <p:spPr>
          <a:xfrm>
            <a:off x="548640" y="5240000"/>
            <a:ext cx="357824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RefactorService.run() chama detect → propose → review em ordem fixa. Sem LLM router, sem Team abstraction — ordem e iterações são determinísticas.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AB087CE-E1C2-471D-BF35-6F46B7B360BF}"/>
              </a:ext>
            </a:extLst>
          </p:cNvPr>
          <p:cNvSpPr>
            <a:spLocks noGrp="1"/>
          </p:cNvSpPr>
          <p:nvPr/>
        </p:nvSpPr>
        <p:spPr>
          <a:xfrm>
            <a:off x="4306880" y="5020000"/>
            <a:ext cx="100000" cy="10000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B65ECF-C221-4D79-B723-CDC549483AD7}"/>
              </a:ext>
            </a:extLst>
          </p:cNvPr>
          <p:cNvSpPr>
            <a:spLocks noGrp="1"/>
          </p:cNvSpPr>
          <p:nvPr/>
        </p:nvSpPr>
        <p:spPr>
          <a:xfrm>
            <a:off x="4466880" y="4980000"/>
            <a:ext cx="3418240" cy="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CRITIQUE INJETADO MANUALMENTE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99EF9F-C502-4C20-BF8F-3D8BA4191BB8}"/>
              </a:ext>
            </a:extLst>
          </p:cNvPr>
          <p:cNvSpPr>
            <a:spLocks noGrp="1"/>
          </p:cNvSpPr>
          <p:nvPr/>
        </p:nvSpPr>
        <p:spPr>
          <a:xfrm>
            <a:off x="4306880" y="5240000"/>
            <a:ext cx="357824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O feedback do Critic não passa pelo history do Agno. Vira string no próximo prompt do Recommender (prior_critique=...) — isolável e mensurável.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4B07E9-4A15-4D48-AA06-516FBF76D29E}"/>
              </a:ext>
            </a:extLst>
          </p:cNvPr>
          <p:cNvSpPr>
            <a:spLocks noGrp="1"/>
          </p:cNvSpPr>
          <p:nvPr/>
        </p:nvSpPr>
        <p:spPr>
          <a:xfrm>
            <a:off x="8065120" y="5020000"/>
            <a:ext cx="100000" cy="10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A760F-827C-4FCA-BD3A-77F9F47B2703}"/>
              </a:ext>
            </a:extLst>
          </p:cNvPr>
          <p:cNvSpPr>
            <a:spLocks noGrp="1"/>
          </p:cNvSpPr>
          <p:nvPr/>
        </p:nvSpPr>
        <p:spPr>
          <a:xfrm>
            <a:off x="8225120" y="4980000"/>
            <a:ext cx="3418240" cy="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AGENTES STATELESS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A38220-FE9B-43F9-9579-D74A6AA19B56}"/>
              </a:ext>
            </a:extLst>
          </p:cNvPr>
          <p:cNvSpPr>
            <a:spLocks noGrp="1"/>
          </p:cNvSpPr>
          <p:nvPr/>
        </p:nvSpPr>
        <p:spPr>
          <a:xfrm>
            <a:off x="8065120" y="5240000"/>
            <a:ext cx="357824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db=None nos 3 agentes. Pipeline atômico por request. Métricas de cada estágio ficam puras — Detector/Recommender/Critic são avaliados em isolamento.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C81D0A-F0CE-4626-9989-AE105C0D0094}"/>
              </a:ext>
            </a:extLst>
          </p:cNvPr>
          <p:cNvSpPr>
            <a:spLocks noGrp="1"/>
          </p:cNvSpPr>
          <p:nvPr/>
        </p:nvSpPr>
        <p:spPr>
          <a:xfrm>
            <a:off x="548640" y="6500000"/>
            <a:ext cx="20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1ADDCA-B963-494F-A2D8-E023C2E51A01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7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 / 24</a:t>
            </a:r>
          </a:p>
        </p:txBody>
      </p:sp>
    </p:spTree>
    <p:extLst>
      <p:ext uri="{BB962C8B-B14F-4D97-AF65-F5344CB8AC3E}">
        <p14:creationId xmlns:p14="http://schemas.microsoft.com/office/powerpoint/2010/main" val="1531785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D398BE-08FF-4E16-AE0E-0CC6E2C15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7B770-83B8-406A-88A2-B7E54D4E5353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06 · SOLUÇÃO · AGNO · TOOLS &amp; SKILLS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111EC-1772-46B2-8FF9-5072B4CE2AD0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6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As 4 ferramentas do Agno usadas no refactor-os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1464E3-F560-4F1D-8810-9FC9BBEFBC1F}"/>
              </a:ext>
            </a:extLst>
          </p:cNvPr>
          <p:cNvSpPr>
            <a:spLocks noGrp="1"/>
          </p:cNvSpPr>
          <p:nvPr/>
        </p:nvSpPr>
        <p:spPr>
          <a:xfrm>
            <a:off x="548640" y="1310000"/>
            <a:ext cx="109728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Cada uma substitui código de cola que normalmente o dev escreveria à mão — tool calling, RAG, validação de schema e parsing.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AB87B1E-BEE5-4819-888F-7A34645D12B8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2653680" cy="4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F14182-5984-4370-BA3B-0C41F091BF1C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2653680" cy="110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36A091-A03D-4B1B-AB2E-E72152169C5D}"/>
              </a:ext>
            </a:extLst>
          </p:cNvPr>
          <p:cNvSpPr>
            <a:spLocks noGrp="1"/>
          </p:cNvSpPr>
          <p:nvPr/>
        </p:nvSpPr>
        <p:spPr>
          <a:xfrm>
            <a:off x="808640" y="2040000"/>
            <a:ext cx="213368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@tool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2089-BA6B-4168-B0E2-ECB2E4FAB495}"/>
              </a:ext>
            </a:extLst>
          </p:cNvPr>
          <p:cNvSpPr>
            <a:spLocks noGrp="1"/>
          </p:cNvSpPr>
          <p:nvPr/>
        </p:nvSpPr>
        <p:spPr>
          <a:xfrm>
            <a:off x="808640" y="246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Decorator que vira function-call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0B75CA-4F24-4664-8B4D-1E2E02DC8A8B}"/>
              </a:ext>
            </a:extLst>
          </p:cNvPr>
          <p:cNvSpPr>
            <a:spLocks noGrp="1"/>
          </p:cNvSpPr>
          <p:nvPr/>
        </p:nvSpPr>
        <p:spPr>
          <a:xfrm>
            <a:off x="808640" y="3060000"/>
            <a:ext cx="380000" cy="20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8A354F-946D-4325-9BA6-5192CC70ED0F}"/>
              </a:ext>
            </a:extLst>
          </p:cNvPr>
          <p:cNvSpPr>
            <a:spLocks noGrp="1"/>
          </p:cNvSpPr>
          <p:nvPr/>
        </p:nvSpPr>
        <p:spPr>
          <a:xfrm>
            <a:off x="808640" y="3160000"/>
            <a:ext cx="2133680" cy="2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Decora função Python pura.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Schema inferido do signature.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Descrição entra no system prompt.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C62C3D-3998-42D5-9449-7997217AB7D0}"/>
              </a:ext>
            </a:extLst>
          </p:cNvPr>
          <p:cNvSpPr>
            <a:spLocks noGrp="1"/>
          </p:cNvSpPr>
          <p:nvPr/>
        </p:nvSpPr>
        <p:spPr>
          <a:xfrm>
            <a:off x="808640" y="552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Usado em: ast_analyzer_tool, syntax_checker_tool, diff_generator_tool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4AF3C07-17C7-41DC-A2BE-015E5C7121ED}"/>
              </a:ext>
            </a:extLst>
          </p:cNvPr>
          <p:cNvSpPr>
            <a:spLocks noGrp="1"/>
          </p:cNvSpPr>
          <p:nvPr/>
        </p:nvSpPr>
        <p:spPr>
          <a:xfrm>
            <a:off x="3362320" y="1820000"/>
            <a:ext cx="2653680" cy="4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2C9380-FE5C-4C48-BABC-7CF54D4E5D2F}"/>
              </a:ext>
            </a:extLst>
          </p:cNvPr>
          <p:cNvSpPr>
            <a:spLocks noGrp="1"/>
          </p:cNvSpPr>
          <p:nvPr/>
        </p:nvSpPr>
        <p:spPr>
          <a:xfrm>
            <a:off x="3362320" y="1820000"/>
            <a:ext cx="2653680" cy="110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CAE91A-C01E-4C8B-8FDB-ADF27F94B2C9}"/>
              </a:ext>
            </a:extLst>
          </p:cNvPr>
          <p:cNvSpPr>
            <a:spLocks noGrp="1"/>
          </p:cNvSpPr>
          <p:nvPr/>
        </p:nvSpPr>
        <p:spPr>
          <a:xfrm>
            <a:off x="3622320" y="2040000"/>
            <a:ext cx="213368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Skills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037A2B-4252-4103-92A9-100AE0E74362}"/>
              </a:ext>
            </a:extLst>
          </p:cNvPr>
          <p:cNvSpPr>
            <a:spLocks noGrp="1"/>
          </p:cNvSpPr>
          <p:nvPr/>
        </p:nvSpPr>
        <p:spPr>
          <a:xfrm>
            <a:off x="3622320" y="246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LocalSkills("app/skills")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F9F7B-C895-4EB2-8015-C98EEA4BF7E7}"/>
              </a:ext>
            </a:extLst>
          </p:cNvPr>
          <p:cNvSpPr>
            <a:spLocks noGrp="1"/>
          </p:cNvSpPr>
          <p:nvPr/>
        </p:nvSpPr>
        <p:spPr>
          <a:xfrm>
            <a:off x="3622320" y="3060000"/>
            <a:ext cx="380000" cy="20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295EB-8555-4482-8FA8-6BC13B2EB644}"/>
              </a:ext>
            </a:extLst>
          </p:cNvPr>
          <p:cNvSpPr>
            <a:spLocks noGrp="1"/>
          </p:cNvSpPr>
          <p:nvPr/>
        </p:nvSpPr>
        <p:spPr>
          <a:xfrm>
            <a:off x="3622320" y="3160000"/>
            <a:ext cx="2133680" cy="2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5× SKILL.md sob app/skills/.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get_skill_instructions(name=...) carrega lazy.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Substitui RAG + embeddings + vector store.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D8DD77-663C-4929-9B7D-88C52E7279F7}"/>
              </a:ext>
            </a:extLst>
          </p:cNvPr>
          <p:cNvSpPr>
            <a:spLocks noGrp="1"/>
          </p:cNvSpPr>
          <p:nvPr/>
        </p:nvSpPr>
        <p:spPr>
          <a:xfrm>
            <a:off x="3622320" y="552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Antes: Postgres+pgvector + HuggingFace embeddings (3 deps).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82FA602-8F48-44E1-BAEF-678560AD90FC}"/>
              </a:ext>
            </a:extLst>
          </p:cNvPr>
          <p:cNvSpPr>
            <a:spLocks noGrp="1"/>
          </p:cNvSpPr>
          <p:nvPr/>
        </p:nvSpPr>
        <p:spPr>
          <a:xfrm>
            <a:off x="6176000" y="1820000"/>
            <a:ext cx="2653680" cy="4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2A63A3-683F-4EE3-98E4-4EACCF785A17}"/>
              </a:ext>
            </a:extLst>
          </p:cNvPr>
          <p:cNvSpPr>
            <a:spLocks noGrp="1"/>
          </p:cNvSpPr>
          <p:nvPr/>
        </p:nvSpPr>
        <p:spPr>
          <a:xfrm>
            <a:off x="6176000" y="1820000"/>
            <a:ext cx="2653680" cy="11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CAA590-DB8D-4795-952D-43A7E275B03A}"/>
              </a:ext>
            </a:extLst>
          </p:cNvPr>
          <p:cNvSpPr>
            <a:spLocks noGrp="1"/>
          </p:cNvSpPr>
          <p:nvPr/>
        </p:nvSpPr>
        <p:spPr>
          <a:xfrm>
            <a:off x="6436000" y="2040000"/>
            <a:ext cx="213368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output_schema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3B592-4F4F-4D9C-B888-55781376C586}"/>
              </a:ext>
            </a:extLst>
          </p:cNvPr>
          <p:cNvSpPr>
            <a:spLocks noGrp="1"/>
          </p:cNvSpPr>
          <p:nvPr/>
        </p:nvSpPr>
        <p:spPr>
          <a:xfrm>
            <a:off x="6436000" y="246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Saída tipada via Pydantic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3378A7-BBA0-417D-B8C3-7AE3A6DE8A9C}"/>
              </a:ext>
            </a:extLst>
          </p:cNvPr>
          <p:cNvSpPr>
            <a:spLocks noGrp="1"/>
          </p:cNvSpPr>
          <p:nvPr/>
        </p:nvSpPr>
        <p:spPr>
          <a:xfrm>
            <a:off x="6436000" y="3060000"/>
            <a:ext cx="380000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AFE13F-B2F2-43E2-B863-6A5CE159CC33}"/>
              </a:ext>
            </a:extLst>
          </p:cNvPr>
          <p:cNvSpPr>
            <a:spLocks noGrp="1"/>
          </p:cNvSpPr>
          <p:nvPr/>
        </p:nvSpPr>
        <p:spPr>
          <a:xfrm>
            <a:off x="6436000" y="3160000"/>
            <a:ext cx="2133680" cy="2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SmellDetection, RefactoringProposal, ReflectionReview.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Validação automática no retorno do agente.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Field(description=...) ancora o LLM no contrato.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EEC1DC-D6EE-468E-BC1F-8326ADBBE3EB}"/>
              </a:ext>
            </a:extLst>
          </p:cNvPr>
          <p:cNvSpPr>
            <a:spLocks noGrp="1"/>
          </p:cNvSpPr>
          <p:nvPr/>
        </p:nvSpPr>
        <p:spPr>
          <a:xfrm>
            <a:off x="6436000" y="552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response.content já é a instância Pydantic — sem json.loads.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6C535C7-4FCF-4FB4-AF25-4449B3DCB10E}"/>
              </a:ext>
            </a:extLst>
          </p:cNvPr>
          <p:cNvSpPr>
            <a:spLocks noGrp="1"/>
          </p:cNvSpPr>
          <p:nvPr/>
        </p:nvSpPr>
        <p:spPr>
          <a:xfrm>
            <a:off x="8989680" y="1820000"/>
            <a:ext cx="2653680" cy="4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44034D0-48D7-4CC3-9017-85064A873EE1}"/>
              </a:ext>
            </a:extLst>
          </p:cNvPr>
          <p:cNvSpPr>
            <a:spLocks noGrp="1"/>
          </p:cNvSpPr>
          <p:nvPr/>
        </p:nvSpPr>
        <p:spPr>
          <a:xfrm>
            <a:off x="8989680" y="1820000"/>
            <a:ext cx="2653680" cy="11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49F287-646D-402E-8EF0-A592966A6679}"/>
              </a:ext>
            </a:extLst>
          </p:cNvPr>
          <p:cNvSpPr>
            <a:spLocks noGrp="1"/>
          </p:cNvSpPr>
          <p:nvPr/>
        </p:nvSpPr>
        <p:spPr>
          <a:xfrm>
            <a:off x="9249680" y="2040000"/>
            <a:ext cx="213368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parser_model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94B682-9CEB-41BF-90D2-B331B7CF117F}"/>
              </a:ext>
            </a:extLst>
          </p:cNvPr>
          <p:cNvSpPr>
            <a:spLocks noGrp="1"/>
          </p:cNvSpPr>
          <p:nvPr/>
        </p:nvSpPr>
        <p:spPr>
          <a:xfrm>
            <a:off x="9249680" y="246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Round-trip dedicado a JSON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1B578F1-7A72-482D-A393-51DC6CF9448B}"/>
              </a:ext>
            </a:extLst>
          </p:cNvPr>
          <p:cNvSpPr>
            <a:spLocks noGrp="1"/>
          </p:cNvSpPr>
          <p:nvPr/>
        </p:nvSpPr>
        <p:spPr>
          <a:xfrm>
            <a:off x="9249680" y="3060000"/>
            <a:ext cx="380000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752EF0-DF19-4142-A840-6D9BA370E70E}"/>
              </a:ext>
            </a:extLst>
          </p:cNvPr>
          <p:cNvSpPr>
            <a:spLocks noGrp="1"/>
          </p:cNvSpPr>
          <p:nvPr/>
        </p:nvSpPr>
        <p:spPr>
          <a:xfrm>
            <a:off x="9249680" y="3160000"/>
            <a:ext cx="2133680" cy="2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2º MistralChat com temperature=0.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Sem tools expostas — só extrai estrutura.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Workaround oficial: JSON-mode × tool calling.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8EDEA3-D7AE-4F2B-85FD-9F089B64A6C3}"/>
              </a:ext>
            </a:extLst>
          </p:cNvPr>
          <p:cNvSpPr>
            <a:spLocks noGrp="1"/>
          </p:cNvSpPr>
          <p:nvPr/>
        </p:nvSpPr>
        <p:spPr>
          <a:xfrm>
            <a:off x="9249680" y="552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arun_typed re-tenta quando parser devolve string crua.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268CE89A-59AB-4294-AE30-018E0C169B15}"/>
              </a:ext>
            </a:extLst>
          </p:cNvPr>
          <p:cNvSpPr>
            <a:spLocks noGrp="1"/>
          </p:cNvSpPr>
          <p:nvPr/>
        </p:nvSpPr>
        <p:spPr>
          <a:xfrm>
            <a:off x="548640" y="6210000"/>
            <a:ext cx="11094720" cy="2200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635472-F39D-49FF-B887-23A5FF76D159}"/>
              </a:ext>
            </a:extLst>
          </p:cNvPr>
          <p:cNvSpPr>
            <a:spLocks noGrp="1"/>
          </p:cNvSpPr>
          <p:nvPr/>
        </p:nvSpPr>
        <p:spPr>
          <a:xfrm>
            <a:off x="768640" y="6190000"/>
            <a:ext cx="1065472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Resultado prático: zero código de orquestração LLM no projeto — tudo que sobra é prompt, schema e regras do domínio.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0B7A10-1AFC-411E-8917-282DAE037116}"/>
              </a:ext>
            </a:extLst>
          </p:cNvPr>
          <p:cNvSpPr>
            <a:spLocks noGrp="1"/>
          </p:cNvSpPr>
          <p:nvPr/>
        </p:nvSpPr>
        <p:spPr>
          <a:xfrm>
            <a:off x="548640" y="6500000"/>
            <a:ext cx="20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493DE9-91F1-4869-82C3-DF4FBD6F7A9D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7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 / 24</a:t>
            </a:r>
          </a:p>
        </p:txBody>
      </p:sp>
    </p:spTree>
    <p:extLst>
      <p:ext uri="{BB962C8B-B14F-4D97-AF65-F5344CB8AC3E}">
        <p14:creationId xmlns:p14="http://schemas.microsoft.com/office/powerpoint/2010/main" val="1743227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E8CC8D-DA33-4E4C-A27E-3B94331377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27DA0-6EC9-48D2-A9EF-3F62D4E0DD65}"/>
              </a:ext>
            </a:extLst>
          </p:cNvPr>
          <p:cNvSpPr>
            <a:spLocks noGrp="1"/>
          </p:cNvSpPr>
          <p:nvPr/>
        </p:nvSpPr>
        <p:spPr>
          <a:xfrm>
            <a:off x="548640" y="213984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dirty="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05 · SOLUÇÃO · AGNO · EFICIÊNCIA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DEE384-99AD-4BFB-9FEB-4A3A360B0F46}"/>
              </a:ext>
            </a:extLst>
          </p:cNvPr>
          <p:cNvSpPr>
            <a:spLocks noGrp="1"/>
          </p:cNvSpPr>
          <p:nvPr/>
        </p:nvSpPr>
        <p:spPr>
          <a:xfrm>
            <a:off x="548640" y="380000"/>
            <a:ext cx="10972800" cy="6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Três</a:t>
            </a: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 </a:t>
            </a: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agentes</a:t>
            </a: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 </a:t>
            </a: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em</a:t>
            </a: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 ~25 </a:t>
            </a: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linhas</a:t>
            </a: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: o </a:t>
            </a: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que</a:t>
            </a: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 o Agno </a:t>
            </a:r>
            <a:r>
              <a:rPr sz="3000" b="1" dirty="0" err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entrega</a:t>
            </a:r>
            <a:r>
              <a:rPr sz="3000" b="1" dirty="0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 de pronto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BA4EE-57D2-4EB0-AE2A-45A4E930AD93}"/>
              </a:ext>
            </a:extLst>
          </p:cNvPr>
          <p:cNvSpPr>
            <a:spLocks noGrp="1"/>
          </p:cNvSpPr>
          <p:nvPr/>
        </p:nvSpPr>
        <p:spPr>
          <a:xfrm>
            <a:off x="548640" y="1310000"/>
            <a:ext cx="109728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Um construtor declarativo (Agent(...)) reúne modelo, parser, tools, skills e schema — sem boilerplate de orquestração, sem hand-rolled JSON parsing.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18F8981-22A5-4AC3-87A7-D7347735051F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5500000" cy="3900000"/>
          </a:xfrm>
          <a:prstGeom prst="roundRect">
            <a:avLst>
              <a:gd name="adj" fmla="val 4000"/>
            </a:avLst>
          </a:prstGeom>
          <a:solidFill>
            <a:srgbClr val="0F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079782-29E9-4364-890B-E8433F4023D4}"/>
              </a:ext>
            </a:extLst>
          </p:cNvPr>
          <p:cNvSpPr>
            <a:spLocks noGrp="1"/>
          </p:cNvSpPr>
          <p:nvPr/>
        </p:nvSpPr>
        <p:spPr>
          <a:xfrm>
            <a:off x="768640" y="1960000"/>
            <a:ext cx="506000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app/agents/detector_agent.py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994650-12AA-44E2-9A88-3683647CC1C2}"/>
              </a:ext>
            </a:extLst>
          </p:cNvPr>
          <p:cNvSpPr>
            <a:spLocks noGrp="1"/>
          </p:cNvSpPr>
          <p:nvPr/>
        </p:nvSpPr>
        <p:spPr>
          <a:xfrm>
            <a:off x="768640" y="2240000"/>
            <a:ext cx="5060000" cy="334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472B6"/>
                </a:solidFill>
                <a:latin typeface="Consolas"/>
                <a:ea typeface="Consolas"/>
                <a:cs typeface="Consolas"/>
              </a:rPr>
              <a:t>from agno.agent import Agent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def build_detector_agent() -&gt; Agent: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return Agent(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DE047"/>
                </a:solidFill>
                <a:latin typeface="Consolas"/>
                <a:ea typeface="Consolas"/>
                <a:cs typeface="Consolas"/>
              </a:rPr>
              <a:t>        name="Detector Agent",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DE047"/>
                </a:solidFill>
                <a:latin typeface="Consolas"/>
                <a:ea typeface="Consolas"/>
                <a:cs typeface="Consolas"/>
              </a:rPr>
              <a:t>        role="Detecta bad smells via AST.",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model=build_main_model(),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parser_model=build_parser_model(),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tools=[ast_analyzer_tool],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instructions=DETECTOR_INSTRUCTIONS,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6EE7B7"/>
                </a:solidFill>
                <a:latin typeface="Consolas"/>
                <a:ea typeface="Consolas"/>
                <a:cs typeface="Consolas"/>
              </a:rPr>
              <a:t>        output_schema=SmellDetection,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markdown=False,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B4A7949-A95F-4290-AF05-8D4FEBC56E5F}"/>
              </a:ext>
            </a:extLst>
          </p:cNvPr>
          <p:cNvSpPr>
            <a:spLocks noGrp="1"/>
          </p:cNvSpPr>
          <p:nvPr/>
        </p:nvSpPr>
        <p:spPr>
          <a:xfrm>
            <a:off x="6300000" y="1820000"/>
            <a:ext cx="420000" cy="4200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EB7432-CD28-4019-A525-5BB7AAA5C2DA}"/>
              </a:ext>
            </a:extLst>
          </p:cNvPr>
          <p:cNvSpPr>
            <a:spLocks noGrp="1"/>
          </p:cNvSpPr>
          <p:nvPr/>
        </p:nvSpPr>
        <p:spPr>
          <a:xfrm>
            <a:off x="6820000" y="1800000"/>
            <a:ext cx="483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Modelo + parser separados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DDE89A-534F-45EC-BD30-767CE2333F67}"/>
              </a:ext>
            </a:extLst>
          </p:cNvPr>
          <p:cNvSpPr>
            <a:spLocks noGrp="1"/>
          </p:cNvSpPr>
          <p:nvPr/>
        </p:nvSpPr>
        <p:spPr>
          <a:xfrm>
            <a:off x="6820000" y="2080000"/>
            <a:ext cx="4830000" cy="6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dirty="0" err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build_main_model</a:t>
            </a:r>
            <a:r>
              <a:rPr sz="1100" b="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() chama tools; </a:t>
            </a:r>
            <a:r>
              <a:rPr sz="1100" b="0" dirty="0" err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parser_model</a:t>
            </a:r>
            <a:r>
              <a:rPr sz="1100" b="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(T=0) </a:t>
            </a:r>
            <a:r>
              <a:rPr sz="1100" b="0" dirty="0" err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extrai</a:t>
            </a:r>
            <a:r>
              <a:rPr sz="1100" b="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o JSON </a:t>
            </a:r>
            <a:r>
              <a:rPr sz="1100" b="0" dirty="0" err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tipado</a:t>
            </a:r>
            <a:r>
              <a:rPr sz="1100" b="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. Resolve </a:t>
            </a:r>
            <a:r>
              <a:rPr sz="1100" b="0" dirty="0" err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incompatibilidade</a:t>
            </a:r>
            <a:r>
              <a:rPr sz="1100" b="0" dirty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JSON-mode × tool calling do Mistral.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D6D6582-6309-41A5-9E8D-E71C2FE7B4C2}"/>
              </a:ext>
            </a:extLst>
          </p:cNvPr>
          <p:cNvSpPr>
            <a:spLocks noGrp="1"/>
          </p:cNvSpPr>
          <p:nvPr/>
        </p:nvSpPr>
        <p:spPr>
          <a:xfrm>
            <a:off x="6300000" y="2800000"/>
            <a:ext cx="420000" cy="4200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909E06-3E95-4D2D-855C-C8A08051AA02}"/>
              </a:ext>
            </a:extLst>
          </p:cNvPr>
          <p:cNvSpPr>
            <a:spLocks noGrp="1"/>
          </p:cNvSpPr>
          <p:nvPr/>
        </p:nvSpPr>
        <p:spPr>
          <a:xfrm>
            <a:off x="6820000" y="2780000"/>
            <a:ext cx="483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tools[...] aceita @tool nativo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9532B3-3F6B-486F-BCCB-44EF7B458526}"/>
              </a:ext>
            </a:extLst>
          </p:cNvPr>
          <p:cNvSpPr>
            <a:spLocks noGrp="1"/>
          </p:cNvSpPr>
          <p:nvPr/>
        </p:nvSpPr>
        <p:spPr>
          <a:xfrm>
            <a:off x="6820000" y="3060000"/>
            <a:ext cx="4830000" cy="6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Funções Python decoradas com @agno.tools.tool — schema inferido, descrição vai pro prompt automaticamente. Sem function-calling boilerplate.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AE0F2DE-5119-4A95-837D-A9A2948C1B25}"/>
              </a:ext>
            </a:extLst>
          </p:cNvPr>
          <p:cNvSpPr>
            <a:spLocks noGrp="1"/>
          </p:cNvSpPr>
          <p:nvPr/>
        </p:nvSpPr>
        <p:spPr>
          <a:xfrm>
            <a:off x="6300000" y="3780000"/>
            <a:ext cx="420000" cy="4200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F380D7-0C2C-4960-895B-569CD9394140}"/>
              </a:ext>
            </a:extLst>
          </p:cNvPr>
          <p:cNvSpPr>
            <a:spLocks noGrp="1"/>
          </p:cNvSpPr>
          <p:nvPr/>
        </p:nvSpPr>
        <p:spPr>
          <a:xfrm>
            <a:off x="6820000" y="3760000"/>
            <a:ext cx="483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skills lazy-load por nome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15B02A-C910-4134-9AC9-2AA6493C684F}"/>
              </a:ext>
            </a:extLst>
          </p:cNvPr>
          <p:cNvSpPr>
            <a:spLocks noGrp="1"/>
          </p:cNvSpPr>
          <p:nvPr/>
        </p:nvSpPr>
        <p:spPr>
          <a:xfrm>
            <a:off x="6820000" y="4040000"/>
            <a:ext cx="4830000" cy="6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Skills(LocalSkills("app/skills")) carrega 5 SKILL.md sob demanda via get_skill_instructions. Substitui pgvector + embeddings + retriever.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4B673A2-ED2B-4907-9139-985BAC2411D6}"/>
              </a:ext>
            </a:extLst>
          </p:cNvPr>
          <p:cNvSpPr>
            <a:spLocks noGrp="1"/>
          </p:cNvSpPr>
          <p:nvPr/>
        </p:nvSpPr>
        <p:spPr>
          <a:xfrm>
            <a:off x="6300000" y="4760000"/>
            <a:ext cx="420000" cy="4200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B14531-C903-48BB-BE8B-540C103667FC}"/>
              </a:ext>
            </a:extLst>
          </p:cNvPr>
          <p:cNvSpPr>
            <a:spLocks noGrp="1"/>
          </p:cNvSpPr>
          <p:nvPr/>
        </p:nvSpPr>
        <p:spPr>
          <a:xfrm>
            <a:off x="6820000" y="4740000"/>
            <a:ext cx="483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output_schema=Pydantic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2722B0-9E50-43BC-AB66-B6A0031CD6AB}"/>
              </a:ext>
            </a:extLst>
          </p:cNvPr>
          <p:cNvSpPr>
            <a:spLocks noGrp="1"/>
          </p:cNvSpPr>
          <p:nvPr/>
        </p:nvSpPr>
        <p:spPr>
          <a:xfrm>
            <a:off x="6820000" y="5020000"/>
            <a:ext cx="4830000" cy="6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Response chega validado como instância tipada (SmellDetection). Sem json.loads, sem regex, sem reparar markdown — o framework garante o contrato.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E7CD9D-8697-4C6B-AE58-CD42392AB12D}"/>
              </a:ext>
            </a:extLst>
          </p:cNvPr>
          <p:cNvSpPr>
            <a:spLocks noGrp="1"/>
          </p:cNvSpPr>
          <p:nvPr/>
        </p:nvSpPr>
        <p:spPr>
          <a:xfrm>
            <a:off x="548640" y="6500000"/>
            <a:ext cx="20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931D3C-33CF-450C-9306-7FD74D8709D8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7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 / 24</a:t>
            </a:r>
          </a:p>
        </p:txBody>
      </p:sp>
    </p:spTree>
    <p:extLst>
      <p:ext uri="{BB962C8B-B14F-4D97-AF65-F5344CB8AC3E}">
        <p14:creationId xmlns:p14="http://schemas.microsoft.com/office/powerpoint/2010/main" val="1845367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E8CC8D-DA33-4E4C-A27E-3B94331377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27DA0-6EC9-48D2-A9EF-3F62D4E0DD65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AGNO · EFICIÊNCIA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DEE384-99AD-4BFB-9FEB-4A3A360B0F46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6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Configurar agentes, não infraestrutura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BA4EE-57D2-4EB0-AE2A-45A4E930AD93}"/>
              </a:ext>
            </a:extLst>
          </p:cNvPr>
          <p:cNvSpPr>
            <a:spLocks noGrp="1"/>
          </p:cNvSpPr>
          <p:nvPr/>
        </p:nvSpPr>
        <p:spPr>
          <a:xfrm>
            <a:off x="548640" y="1310000"/>
            <a:ext cx="10972800" cy="426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Cada Agent concentra modelo, parser, tools/skills, instruções e output_schema em uma factory curta. O Agno cuida do ciclo de chamada, parsing e validação.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18F8981-22A5-4AC3-87A7-D7347735051F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5500000" cy="3900000"/>
          </a:xfrm>
          <a:prstGeom prst="roundRect">
            <a:avLst>
              <a:gd name="adj" fmla="val 4000"/>
            </a:avLst>
          </a:prstGeom>
          <a:solidFill>
            <a:srgbClr val="0F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079782-29E9-4364-890B-E8433F4023D4}"/>
              </a:ext>
            </a:extLst>
          </p:cNvPr>
          <p:cNvSpPr>
            <a:spLocks noGrp="1"/>
          </p:cNvSpPr>
          <p:nvPr/>
        </p:nvSpPr>
        <p:spPr>
          <a:xfrm>
            <a:off x="768640" y="1960000"/>
            <a:ext cx="506000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Factory de agente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994650-12AA-44E2-9A88-3683647CC1C2}"/>
              </a:ext>
            </a:extLst>
          </p:cNvPr>
          <p:cNvSpPr>
            <a:spLocks noGrp="1"/>
          </p:cNvSpPr>
          <p:nvPr/>
        </p:nvSpPr>
        <p:spPr>
          <a:xfrm>
            <a:off x="768640" y="2240000"/>
            <a:ext cx="5060000" cy="334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472B6"/>
                </a:solidFill>
                <a:latin typeface="Consolas"/>
                <a:ea typeface="Consolas"/>
                <a:cs typeface="Consolas"/>
              </a:rPr>
              <a:t>return Agent(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id="detector-agent",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model=build_main_model(),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parser_model=build_parser_model(),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DE047"/>
                </a:solidFill>
                <a:latin typeface="Consolas"/>
                <a:ea typeface="Consolas"/>
                <a:cs typeface="Consolas"/>
              </a:rPr>
              <a:t>    tools=[ast_analyzer_tool],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DE047"/>
                </a:solidFill>
                <a:latin typeface="Consolas"/>
                <a:ea typeface="Consolas"/>
                <a:cs typeface="Consolas"/>
              </a:rPr>
              <a:t>    output_schema=SmellDetection,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B4A7949-A95F-4290-AF05-8D4FEBC56E5F}"/>
              </a:ext>
            </a:extLst>
          </p:cNvPr>
          <p:cNvSpPr>
            <a:spLocks noGrp="1"/>
          </p:cNvSpPr>
          <p:nvPr/>
        </p:nvSpPr>
        <p:spPr>
          <a:xfrm>
            <a:off x="6300000" y="1820000"/>
            <a:ext cx="420000" cy="4200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EB7432-CD28-4019-A525-5BB7AAA5C2DA}"/>
              </a:ext>
            </a:extLst>
          </p:cNvPr>
          <p:cNvSpPr>
            <a:spLocks noGrp="1"/>
          </p:cNvSpPr>
          <p:nvPr/>
        </p:nvSpPr>
        <p:spPr>
          <a:xfrm>
            <a:off x="6820000" y="1800000"/>
            <a:ext cx="483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Menos boilerplate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DDE89A-534F-45EC-BD30-767CE2333F67}"/>
              </a:ext>
            </a:extLst>
          </p:cNvPr>
          <p:cNvSpPr>
            <a:spLocks noGrp="1"/>
          </p:cNvSpPr>
          <p:nvPr/>
        </p:nvSpPr>
        <p:spPr>
          <a:xfrm>
            <a:off x="6820000" y="2080000"/>
            <a:ext cx="4830000" cy="6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Sem montar manualmente tool calls, schemas JSON ou parsing da resposta.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D6D6582-6309-41A5-9E8D-E71C2FE7B4C2}"/>
              </a:ext>
            </a:extLst>
          </p:cNvPr>
          <p:cNvSpPr>
            <a:spLocks noGrp="1"/>
          </p:cNvSpPr>
          <p:nvPr/>
        </p:nvSpPr>
        <p:spPr>
          <a:xfrm>
            <a:off x="6300000" y="2800000"/>
            <a:ext cx="420000" cy="4200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909E06-3E95-4D2D-855C-C8A08051AA02}"/>
              </a:ext>
            </a:extLst>
          </p:cNvPr>
          <p:cNvSpPr>
            <a:spLocks noGrp="1"/>
          </p:cNvSpPr>
          <p:nvPr/>
        </p:nvSpPr>
        <p:spPr>
          <a:xfrm>
            <a:off x="6820000" y="2780000"/>
            <a:ext cx="483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Especialização por papel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9532B3-3F6B-486F-BCCB-44EF7B458526}"/>
              </a:ext>
            </a:extLst>
          </p:cNvPr>
          <p:cNvSpPr>
            <a:spLocks noGrp="1"/>
          </p:cNvSpPr>
          <p:nvPr/>
        </p:nvSpPr>
        <p:spPr>
          <a:xfrm>
            <a:off x="6820000" y="3060000"/>
            <a:ext cx="4830000" cy="6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Detector, Recommender e Critic recebem só as tools/skills do próprio estágio.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AE0F2DE-5119-4A95-837D-A9A2948C1B25}"/>
              </a:ext>
            </a:extLst>
          </p:cNvPr>
          <p:cNvSpPr>
            <a:spLocks noGrp="1"/>
          </p:cNvSpPr>
          <p:nvPr/>
        </p:nvSpPr>
        <p:spPr>
          <a:xfrm>
            <a:off x="6300000" y="3780000"/>
            <a:ext cx="420000" cy="4200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F380D7-0C2C-4960-895B-569CD9394140}"/>
              </a:ext>
            </a:extLst>
          </p:cNvPr>
          <p:cNvSpPr>
            <a:spLocks noGrp="1"/>
          </p:cNvSpPr>
          <p:nvPr/>
        </p:nvSpPr>
        <p:spPr>
          <a:xfrm>
            <a:off x="6820000" y="3760000"/>
            <a:ext cx="483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Saída validada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15B02A-C910-4134-9AC9-2AA6493C684F}"/>
              </a:ext>
            </a:extLst>
          </p:cNvPr>
          <p:cNvSpPr>
            <a:spLocks noGrp="1"/>
          </p:cNvSpPr>
          <p:nvPr/>
        </p:nvSpPr>
        <p:spPr>
          <a:xfrm>
            <a:off x="6820000" y="4040000"/>
            <a:ext cx="4830000" cy="6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response.content volta como Pydantic; o service trabalha com tipos, não texto solto.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4B673A2-ED2B-4907-9139-985BAC2411D6}"/>
              </a:ext>
            </a:extLst>
          </p:cNvPr>
          <p:cNvSpPr>
            <a:spLocks noGrp="1"/>
          </p:cNvSpPr>
          <p:nvPr/>
        </p:nvSpPr>
        <p:spPr>
          <a:xfrm>
            <a:off x="6300000" y="4760000"/>
            <a:ext cx="420000" cy="4200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B14531-C903-48BB-BE8B-540C103667FC}"/>
              </a:ext>
            </a:extLst>
          </p:cNvPr>
          <p:cNvSpPr>
            <a:spLocks noGrp="1"/>
          </p:cNvSpPr>
          <p:nvPr/>
        </p:nvSpPr>
        <p:spPr>
          <a:xfrm>
            <a:off x="6820000" y="4740000"/>
            <a:ext cx="483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Stateless por chamada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2722B0-9E50-43BC-AB66-B6A0031CD6AB}"/>
              </a:ext>
            </a:extLst>
          </p:cNvPr>
          <p:cNvSpPr>
            <a:spLocks noGrp="1"/>
          </p:cNvSpPr>
          <p:nvPr/>
        </p:nvSpPr>
        <p:spPr>
          <a:xfrm>
            <a:off x="6820000" y="5020000"/>
            <a:ext cx="4830000" cy="6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Sem db= e sem sessão: cada request fica reprodutível e fácil de avaliar.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E7CD9D-8697-4C6B-AE58-CD42392AB12D}"/>
              </a:ext>
            </a:extLst>
          </p:cNvPr>
          <p:cNvSpPr>
            <a:spLocks noGrp="1"/>
          </p:cNvSpPr>
          <p:nvPr/>
        </p:nvSpPr>
        <p:spPr>
          <a:xfrm>
            <a:off x="548640" y="6500000"/>
            <a:ext cx="20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931D3C-33CF-450C-9306-7FD74D8709D8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7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 / 24</a:t>
            </a:r>
          </a:p>
        </p:txBody>
      </p:sp>
    </p:spTree>
    <p:extLst>
      <p:ext uri="{BB962C8B-B14F-4D97-AF65-F5344CB8AC3E}">
        <p14:creationId xmlns:p14="http://schemas.microsoft.com/office/powerpoint/2010/main" val="1845367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D398BE-08FF-4E16-AE0E-0CC6E2C15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7B770-83B8-406A-88A2-B7E54D4E5353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AGNO · FERRAMENTAS DO DEV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111EC-1772-46B2-8FF9-5072B4CE2AD0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6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O que o Agno entrega ao desenvolvedor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1464E3-F560-4F1D-8810-9FC9BBEFBC1F}"/>
              </a:ext>
            </a:extLst>
          </p:cNvPr>
          <p:cNvSpPr>
            <a:spLocks noGrp="1"/>
          </p:cNvSpPr>
          <p:nvPr/>
        </p:nvSpPr>
        <p:spPr>
          <a:xfrm>
            <a:off x="548640" y="1310000"/>
            <a:ext cx="109728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 framework remove código repetitivo e deixa o projeto focado no domínio: prompts, schemas, tools determinísticas e skills.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AB87B1E-BEE5-4819-888F-7A34645D12B8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2653680" cy="4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F14182-5984-4370-BA3B-0C41F091BF1C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2653680" cy="110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36A091-A03D-4B1B-AB2E-E72152169C5D}"/>
              </a:ext>
            </a:extLst>
          </p:cNvPr>
          <p:cNvSpPr>
            <a:spLocks noGrp="1"/>
          </p:cNvSpPr>
          <p:nvPr/>
        </p:nvSpPr>
        <p:spPr>
          <a:xfrm>
            <a:off x="808640" y="2040000"/>
            <a:ext cx="213368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@tool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2089-BA6B-4168-B0E2-ECB2E4FAB495}"/>
              </a:ext>
            </a:extLst>
          </p:cNvPr>
          <p:cNvSpPr>
            <a:spLocks noGrp="1"/>
          </p:cNvSpPr>
          <p:nvPr/>
        </p:nvSpPr>
        <p:spPr>
          <a:xfrm>
            <a:off x="808640" y="246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Function calling nativo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0B75CA-4F24-4664-8B4D-1E2E02DC8A8B}"/>
              </a:ext>
            </a:extLst>
          </p:cNvPr>
          <p:cNvSpPr>
            <a:spLocks noGrp="1"/>
          </p:cNvSpPr>
          <p:nvPr/>
        </p:nvSpPr>
        <p:spPr>
          <a:xfrm>
            <a:off x="808640" y="3060000"/>
            <a:ext cx="380000" cy="20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8A354F-946D-4325-9BA6-5192CC70ED0F}"/>
              </a:ext>
            </a:extLst>
          </p:cNvPr>
          <p:cNvSpPr>
            <a:spLocks noGrp="1"/>
          </p:cNvSpPr>
          <p:nvPr/>
        </p:nvSpPr>
        <p:spPr>
          <a:xfrm>
            <a:off x="808640" y="3160000"/>
            <a:ext cx="2133680" cy="2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Função Python pura vira tool.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Signature gera schema.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Descrição entra no prompt.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C62C3D-3998-42D5-9449-7997217AB7D0}"/>
              </a:ext>
            </a:extLst>
          </p:cNvPr>
          <p:cNvSpPr>
            <a:spLocks noGrp="1"/>
          </p:cNvSpPr>
          <p:nvPr/>
        </p:nvSpPr>
        <p:spPr>
          <a:xfrm>
            <a:off x="808640" y="552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Usado por Detector e Critic.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4AF3C07-17C7-41DC-A2BE-015E5C7121ED}"/>
              </a:ext>
            </a:extLst>
          </p:cNvPr>
          <p:cNvSpPr>
            <a:spLocks noGrp="1"/>
          </p:cNvSpPr>
          <p:nvPr/>
        </p:nvSpPr>
        <p:spPr>
          <a:xfrm>
            <a:off x="3362320" y="1820000"/>
            <a:ext cx="2653680" cy="4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2C9380-FE5C-4C48-BABC-7CF54D4E5D2F}"/>
              </a:ext>
            </a:extLst>
          </p:cNvPr>
          <p:cNvSpPr>
            <a:spLocks noGrp="1"/>
          </p:cNvSpPr>
          <p:nvPr/>
        </p:nvSpPr>
        <p:spPr>
          <a:xfrm>
            <a:off x="3362320" y="1820000"/>
            <a:ext cx="2653680" cy="110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CAE91A-C01E-4C8B-8FDB-ADF27F94B2C9}"/>
              </a:ext>
            </a:extLst>
          </p:cNvPr>
          <p:cNvSpPr>
            <a:spLocks noGrp="1"/>
          </p:cNvSpPr>
          <p:nvPr/>
        </p:nvSpPr>
        <p:spPr>
          <a:xfrm>
            <a:off x="3622320" y="2040000"/>
            <a:ext cx="213368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Skills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037A2B-4252-4103-92A9-100AE0E74362}"/>
              </a:ext>
            </a:extLst>
          </p:cNvPr>
          <p:cNvSpPr>
            <a:spLocks noGrp="1"/>
          </p:cNvSpPr>
          <p:nvPr/>
        </p:nvSpPr>
        <p:spPr>
          <a:xfrm>
            <a:off x="3622320" y="246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Conhecimento sob demanda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F9F7B-C895-4EB2-8015-C98EEA4BF7E7}"/>
              </a:ext>
            </a:extLst>
          </p:cNvPr>
          <p:cNvSpPr>
            <a:spLocks noGrp="1"/>
          </p:cNvSpPr>
          <p:nvPr/>
        </p:nvSpPr>
        <p:spPr>
          <a:xfrm>
            <a:off x="3622320" y="3060000"/>
            <a:ext cx="380000" cy="20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295EB-8555-4482-8FA8-6BC13B2EB644}"/>
              </a:ext>
            </a:extLst>
          </p:cNvPr>
          <p:cNvSpPr>
            <a:spLocks noGrp="1"/>
          </p:cNvSpPr>
          <p:nvPr/>
        </p:nvSpPr>
        <p:spPr>
          <a:xfrm>
            <a:off x="3622320" y="3160000"/>
            <a:ext cx="2133680" cy="2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LocalSkills("app/skills").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get_skill_instructions por nome.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Conteúdo carregado só quando precisa.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D8DD77-663C-4929-9B7D-88C52E7279F7}"/>
              </a:ext>
            </a:extLst>
          </p:cNvPr>
          <p:cNvSpPr>
            <a:spLocks noGrp="1"/>
          </p:cNvSpPr>
          <p:nvPr/>
        </p:nvSpPr>
        <p:spPr>
          <a:xfrm>
            <a:off x="3622320" y="552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Substitui RAG, embeddings e pgvector.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82FA602-8F48-44E1-BAEF-678560AD90FC}"/>
              </a:ext>
            </a:extLst>
          </p:cNvPr>
          <p:cNvSpPr>
            <a:spLocks noGrp="1"/>
          </p:cNvSpPr>
          <p:nvPr/>
        </p:nvSpPr>
        <p:spPr>
          <a:xfrm>
            <a:off x="6176000" y="1820000"/>
            <a:ext cx="2653680" cy="4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2A63A3-683F-4EE3-98E4-4EACCF785A17}"/>
              </a:ext>
            </a:extLst>
          </p:cNvPr>
          <p:cNvSpPr>
            <a:spLocks noGrp="1"/>
          </p:cNvSpPr>
          <p:nvPr/>
        </p:nvSpPr>
        <p:spPr>
          <a:xfrm>
            <a:off x="6176000" y="1820000"/>
            <a:ext cx="2653680" cy="11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CAA590-DB8D-4795-952D-43A7E275B03A}"/>
              </a:ext>
            </a:extLst>
          </p:cNvPr>
          <p:cNvSpPr>
            <a:spLocks noGrp="1"/>
          </p:cNvSpPr>
          <p:nvPr/>
        </p:nvSpPr>
        <p:spPr>
          <a:xfrm>
            <a:off x="6436000" y="2040000"/>
            <a:ext cx="213368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output_schema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3B592-4F4F-4D9C-B888-55781376C586}"/>
              </a:ext>
            </a:extLst>
          </p:cNvPr>
          <p:cNvSpPr>
            <a:spLocks noGrp="1"/>
          </p:cNvSpPr>
          <p:nvPr/>
        </p:nvSpPr>
        <p:spPr>
          <a:xfrm>
            <a:off x="6436000" y="246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Contrato Pydantic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3378A7-BBA0-417D-B8C3-7AE3A6DE8A9C}"/>
              </a:ext>
            </a:extLst>
          </p:cNvPr>
          <p:cNvSpPr>
            <a:spLocks noGrp="1"/>
          </p:cNvSpPr>
          <p:nvPr/>
        </p:nvSpPr>
        <p:spPr>
          <a:xfrm>
            <a:off x="6436000" y="3060000"/>
            <a:ext cx="380000" cy="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AFE13F-B2F2-43E2-B863-6A5CE159CC33}"/>
              </a:ext>
            </a:extLst>
          </p:cNvPr>
          <p:cNvSpPr>
            <a:spLocks noGrp="1"/>
          </p:cNvSpPr>
          <p:nvPr/>
        </p:nvSpPr>
        <p:spPr>
          <a:xfrm>
            <a:off x="6436000" y="3160000"/>
            <a:ext cx="2133680" cy="2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SmellDetection, RefactoringProposal, ReflectionReview.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Agno valida o retorno.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Menos json.loads e regex.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EEC1DC-D6EE-468E-BC1F-8326ADBBE3EB}"/>
              </a:ext>
            </a:extLst>
          </p:cNvPr>
          <p:cNvSpPr>
            <a:spLocks noGrp="1"/>
          </p:cNvSpPr>
          <p:nvPr/>
        </p:nvSpPr>
        <p:spPr>
          <a:xfrm>
            <a:off x="6436000" y="552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Service recebe tipos, não texto livre.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6C535C7-4FCF-4FB4-AF25-4449B3DCB10E}"/>
              </a:ext>
            </a:extLst>
          </p:cNvPr>
          <p:cNvSpPr>
            <a:spLocks noGrp="1"/>
          </p:cNvSpPr>
          <p:nvPr/>
        </p:nvSpPr>
        <p:spPr>
          <a:xfrm>
            <a:off x="8989680" y="1820000"/>
            <a:ext cx="2653680" cy="4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44034D0-48D7-4CC3-9017-85064A873EE1}"/>
              </a:ext>
            </a:extLst>
          </p:cNvPr>
          <p:cNvSpPr>
            <a:spLocks noGrp="1"/>
          </p:cNvSpPr>
          <p:nvPr/>
        </p:nvSpPr>
        <p:spPr>
          <a:xfrm>
            <a:off x="8989680" y="1820000"/>
            <a:ext cx="2653680" cy="11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49F287-646D-402E-8EF0-A592966A6679}"/>
              </a:ext>
            </a:extLst>
          </p:cNvPr>
          <p:cNvSpPr>
            <a:spLocks noGrp="1"/>
          </p:cNvSpPr>
          <p:nvPr/>
        </p:nvSpPr>
        <p:spPr>
          <a:xfrm>
            <a:off x="9249680" y="2040000"/>
            <a:ext cx="213368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parser_model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94B682-9CEB-41BF-90D2-B331B7CF117F}"/>
              </a:ext>
            </a:extLst>
          </p:cNvPr>
          <p:cNvSpPr>
            <a:spLocks noGrp="1"/>
          </p:cNvSpPr>
          <p:nvPr/>
        </p:nvSpPr>
        <p:spPr>
          <a:xfrm>
            <a:off x="9249680" y="246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Parsing isolado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1B578F1-7A72-482D-A393-51DC6CF9448B}"/>
              </a:ext>
            </a:extLst>
          </p:cNvPr>
          <p:cNvSpPr>
            <a:spLocks noGrp="1"/>
          </p:cNvSpPr>
          <p:nvPr/>
        </p:nvSpPr>
        <p:spPr>
          <a:xfrm>
            <a:off x="9249680" y="3060000"/>
            <a:ext cx="380000" cy="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752EF0-DF19-4142-A840-6D9BA370E70E}"/>
              </a:ext>
            </a:extLst>
          </p:cNvPr>
          <p:cNvSpPr>
            <a:spLocks noGrp="1"/>
          </p:cNvSpPr>
          <p:nvPr/>
        </p:nvSpPr>
        <p:spPr>
          <a:xfrm>
            <a:off x="9249680" y="3160000"/>
            <a:ext cx="2133680" cy="2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Modelo principal chama tools.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Parser T=0 extrai estrutura.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arun_typed cobre retries.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8EDEA3-D7AE-4F2B-85FD-9F089B64A6C3}"/>
              </a:ext>
            </a:extLst>
          </p:cNvPr>
          <p:cNvSpPr>
            <a:spLocks noGrp="1"/>
          </p:cNvSpPr>
          <p:nvPr/>
        </p:nvSpPr>
        <p:spPr>
          <a:xfrm>
            <a:off x="9249680" y="5520000"/>
            <a:ext cx="213368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Contorna conflitos de JSON-mode + tools.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268CE89A-59AB-4294-AE30-018E0C169B15}"/>
              </a:ext>
            </a:extLst>
          </p:cNvPr>
          <p:cNvSpPr>
            <a:spLocks noGrp="1"/>
          </p:cNvSpPr>
          <p:nvPr/>
        </p:nvSpPr>
        <p:spPr>
          <a:xfrm>
            <a:off x="548640" y="6210000"/>
            <a:ext cx="11094720" cy="2200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635472-F39D-49FF-B887-23A5FF76D159}"/>
              </a:ext>
            </a:extLst>
          </p:cNvPr>
          <p:cNvSpPr>
            <a:spLocks noGrp="1"/>
          </p:cNvSpPr>
          <p:nvPr/>
        </p:nvSpPr>
        <p:spPr>
          <a:xfrm>
            <a:off x="768640" y="6190000"/>
            <a:ext cx="1065472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Resultado prático: o código descreve o papel do agente; a infraestrutura de chamada fica com Agno.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0B7A10-1AFC-411E-8917-282DAE037116}"/>
              </a:ext>
            </a:extLst>
          </p:cNvPr>
          <p:cNvSpPr>
            <a:spLocks noGrp="1"/>
          </p:cNvSpPr>
          <p:nvPr/>
        </p:nvSpPr>
        <p:spPr>
          <a:xfrm>
            <a:off x="548640" y="6500000"/>
            <a:ext cx="20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493DE9-91F1-4869-82C3-DF4FBD6F7A9D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7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 / 24</a:t>
            </a:r>
          </a:p>
        </p:txBody>
      </p:sp>
    </p:spTree>
    <p:extLst>
      <p:ext uri="{BB962C8B-B14F-4D97-AF65-F5344CB8AC3E}">
        <p14:creationId xmlns:p14="http://schemas.microsoft.com/office/powerpoint/2010/main" val="17432270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0ED8E3-7DC1-4184-ACDD-887DC5C00D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6A06DC-93D9-455D-97DA-E49F002DA20E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COMUNICAÇÃO ENTRE AGENTES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60A817-331A-4407-8BBA-00571E580A13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6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Comunicação explícita: schemas passam pelo service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CF4047-23AD-461B-ABF0-13D07F3C9256}"/>
              </a:ext>
            </a:extLst>
          </p:cNvPr>
          <p:cNvSpPr>
            <a:spLocks noGrp="1"/>
          </p:cNvSpPr>
          <p:nvPr/>
        </p:nvSpPr>
        <p:spPr>
          <a:xfrm>
            <a:off x="548640" y="1310000"/>
            <a:ext cx="109728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Os agentes não conversam por memória compartilhada. Cada etapa devolve um objeto Pydantic e o RefactorService decide a próxima chamada.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0063610-DE24-4BBF-AF81-1D907D291D81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336490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29E63C-6133-4601-9171-7FE65F35F3D1}"/>
              </a:ext>
            </a:extLst>
          </p:cNvPr>
          <p:cNvSpPr>
            <a:spLocks noGrp="1"/>
          </p:cNvSpPr>
          <p:nvPr/>
        </p:nvSpPr>
        <p:spPr>
          <a:xfrm>
            <a:off x="548640" y="1820000"/>
            <a:ext cx="3364906" cy="110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654074-D899-421F-9CDA-76E7C125DA41}"/>
              </a:ext>
            </a:extLst>
          </p:cNvPr>
          <p:cNvSpPr>
            <a:spLocks noGrp="1"/>
          </p:cNvSpPr>
          <p:nvPr/>
        </p:nvSpPr>
        <p:spPr>
          <a:xfrm>
            <a:off x="808640" y="2040000"/>
            <a:ext cx="2844906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Detector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921142-F447-45CB-97DF-A8310DBC94AF}"/>
              </a:ext>
            </a:extLst>
          </p:cNvPr>
          <p:cNvSpPr>
            <a:spLocks noGrp="1"/>
          </p:cNvSpPr>
          <p:nvPr/>
        </p:nvSpPr>
        <p:spPr>
          <a:xfrm>
            <a:off x="808640" y="2460000"/>
            <a:ext cx="2844906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SmellDetection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F12B6B-9EAF-457C-B622-2DCB50205670}"/>
              </a:ext>
            </a:extLst>
          </p:cNvPr>
          <p:cNvSpPr>
            <a:spLocks noGrp="1"/>
          </p:cNvSpPr>
          <p:nvPr/>
        </p:nvSpPr>
        <p:spPr>
          <a:xfrm>
            <a:off x="808640" y="2820000"/>
            <a:ext cx="2844906" cy="1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has_smell: bool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smell_type: BadSmellType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line_start / line_end: int | None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reasoning: str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40239882-A28C-4DBD-944A-5F44DB231A1A}"/>
              </a:ext>
            </a:extLst>
          </p:cNvPr>
          <p:cNvSpPr>
            <a:spLocks noGrp="1"/>
          </p:cNvSpPr>
          <p:nvPr/>
        </p:nvSpPr>
        <p:spPr>
          <a:xfrm>
            <a:off x="3973546" y="2870000"/>
            <a:ext cx="280000" cy="200000"/>
          </a:xfrm>
          <a:prstGeom prst="rightArrow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E03279C-6E94-44FB-9222-BC630B0152C8}"/>
              </a:ext>
            </a:extLst>
          </p:cNvPr>
          <p:cNvSpPr>
            <a:spLocks noGrp="1"/>
          </p:cNvSpPr>
          <p:nvPr/>
        </p:nvSpPr>
        <p:spPr>
          <a:xfrm>
            <a:off x="4413546" y="1820000"/>
            <a:ext cx="336490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63745F-D9EE-4154-A9EA-60D4A8FD8235}"/>
              </a:ext>
            </a:extLst>
          </p:cNvPr>
          <p:cNvSpPr>
            <a:spLocks noGrp="1"/>
          </p:cNvSpPr>
          <p:nvPr/>
        </p:nvSpPr>
        <p:spPr>
          <a:xfrm>
            <a:off x="4413546" y="1820000"/>
            <a:ext cx="3364906" cy="110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F12CCA-2D08-4258-B729-72135A4CE068}"/>
              </a:ext>
            </a:extLst>
          </p:cNvPr>
          <p:cNvSpPr>
            <a:spLocks noGrp="1"/>
          </p:cNvSpPr>
          <p:nvPr/>
        </p:nvSpPr>
        <p:spPr>
          <a:xfrm>
            <a:off x="4673546" y="2040000"/>
            <a:ext cx="2844906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Recommender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AAAABF-39B3-4BE5-B4E1-7C29A15D83D1}"/>
              </a:ext>
            </a:extLst>
          </p:cNvPr>
          <p:cNvSpPr>
            <a:spLocks noGrp="1"/>
          </p:cNvSpPr>
          <p:nvPr/>
        </p:nvSpPr>
        <p:spPr>
          <a:xfrm>
            <a:off x="4673546" y="2460000"/>
            <a:ext cx="2844906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RefactoringProposal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3AF9D6-269E-4C7B-882C-4DED833A10DE}"/>
              </a:ext>
            </a:extLst>
          </p:cNvPr>
          <p:cNvSpPr>
            <a:spLocks noGrp="1"/>
          </p:cNvSpPr>
          <p:nvPr/>
        </p:nvSpPr>
        <p:spPr>
          <a:xfrm>
            <a:off x="4673546" y="2820000"/>
            <a:ext cx="2844906" cy="1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applied_pattern: DesignPatternType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refactored_code: str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architectural_explanation: str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expected_benefits: list[str]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C20D7D0B-1CD3-4B85-8A29-9A2C8486758B}"/>
              </a:ext>
            </a:extLst>
          </p:cNvPr>
          <p:cNvSpPr>
            <a:spLocks noGrp="1"/>
          </p:cNvSpPr>
          <p:nvPr/>
        </p:nvSpPr>
        <p:spPr>
          <a:xfrm>
            <a:off x="7838452" y="2870000"/>
            <a:ext cx="280000" cy="200000"/>
          </a:xfrm>
          <a:prstGeom prst="rightArrow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DF18A63-8199-49B5-B040-13107EE8336C}"/>
              </a:ext>
            </a:extLst>
          </p:cNvPr>
          <p:cNvSpPr>
            <a:spLocks noGrp="1"/>
          </p:cNvSpPr>
          <p:nvPr/>
        </p:nvSpPr>
        <p:spPr>
          <a:xfrm>
            <a:off x="8278452" y="1820000"/>
            <a:ext cx="3364906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82D13-0AEC-4A78-96D1-4EFFEFE97B98}"/>
              </a:ext>
            </a:extLst>
          </p:cNvPr>
          <p:cNvSpPr>
            <a:spLocks noGrp="1"/>
          </p:cNvSpPr>
          <p:nvPr/>
        </p:nvSpPr>
        <p:spPr>
          <a:xfrm>
            <a:off x="8278452" y="1820000"/>
            <a:ext cx="3364906" cy="11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12A296-E7A1-4E25-8460-8D933CC83A78}"/>
              </a:ext>
            </a:extLst>
          </p:cNvPr>
          <p:cNvSpPr>
            <a:spLocks noGrp="1"/>
          </p:cNvSpPr>
          <p:nvPr/>
        </p:nvSpPr>
        <p:spPr>
          <a:xfrm>
            <a:off x="8538452" y="2040000"/>
            <a:ext cx="2844906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Critic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80EF1A-00CD-47AB-8102-91DC6CF095CA}"/>
              </a:ext>
            </a:extLst>
          </p:cNvPr>
          <p:cNvSpPr>
            <a:spLocks noGrp="1"/>
          </p:cNvSpPr>
          <p:nvPr/>
        </p:nvSpPr>
        <p:spPr>
          <a:xfrm>
            <a:off x="8538452" y="2460000"/>
            <a:ext cx="2844906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ReflectionReview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C1AB61-2E2C-4E0D-9FAB-4C7157366712}"/>
              </a:ext>
            </a:extLst>
          </p:cNvPr>
          <p:cNvSpPr>
            <a:spLocks noGrp="1"/>
          </p:cNvSpPr>
          <p:nvPr/>
        </p:nvSpPr>
        <p:spPr>
          <a:xfrm>
            <a:off x="8538452" y="2820000"/>
            <a:ext cx="2844906" cy="1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is_approved: bool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critique: str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final_validated_code: str | None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179B6E-8251-4F0F-B36C-BF89B93929F8}"/>
              </a:ext>
            </a:extLst>
          </p:cNvPr>
          <p:cNvSpPr>
            <a:spLocks noGrp="1"/>
          </p:cNvSpPr>
          <p:nvPr/>
        </p:nvSpPr>
        <p:spPr>
          <a:xfrm>
            <a:off x="548640" y="4220000"/>
            <a:ext cx="1109472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Reflection loop — até 3 iterações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DEE7E4-17D9-414F-827A-60DDD21EC8D5}"/>
              </a:ext>
            </a:extLst>
          </p:cNvPr>
          <p:cNvSpPr>
            <a:spLocks noGrp="1"/>
          </p:cNvSpPr>
          <p:nvPr/>
        </p:nvSpPr>
        <p:spPr>
          <a:xfrm>
            <a:off x="548640" y="4500000"/>
            <a:ext cx="1109472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se is_approved=False → critique vira prior_critique no próximo propose()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205B2C8-0335-4BD9-926E-58312E3AAD32}"/>
              </a:ext>
            </a:extLst>
          </p:cNvPr>
          <p:cNvSpPr>
            <a:spLocks noGrp="1"/>
          </p:cNvSpPr>
          <p:nvPr/>
        </p:nvSpPr>
        <p:spPr>
          <a:xfrm>
            <a:off x="548640" y="5020000"/>
            <a:ext cx="100000" cy="1000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99D5E1-3E1F-4B22-91C6-58B5F15CCF4A}"/>
              </a:ext>
            </a:extLst>
          </p:cNvPr>
          <p:cNvSpPr>
            <a:spLocks noGrp="1"/>
          </p:cNvSpPr>
          <p:nvPr/>
        </p:nvSpPr>
        <p:spPr>
          <a:xfrm>
            <a:off x="708640" y="4980000"/>
            <a:ext cx="3418240" cy="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ORDEM FIXA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B31545-11A8-4A3F-83BD-D4594043E242}"/>
              </a:ext>
            </a:extLst>
          </p:cNvPr>
          <p:cNvSpPr>
            <a:spLocks noGrp="1"/>
          </p:cNvSpPr>
          <p:nvPr/>
        </p:nvSpPr>
        <p:spPr>
          <a:xfrm>
            <a:off x="548640" y="5240000"/>
            <a:ext cx="357824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detect → propose → review. O Python controla a sequência; não há LLM coordenador acima dos agentes.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AB087CE-E1C2-471D-BF35-6F46B7B360BF}"/>
              </a:ext>
            </a:extLst>
          </p:cNvPr>
          <p:cNvSpPr>
            <a:spLocks noGrp="1"/>
          </p:cNvSpPr>
          <p:nvPr/>
        </p:nvSpPr>
        <p:spPr>
          <a:xfrm>
            <a:off x="4306880" y="5020000"/>
            <a:ext cx="100000" cy="10000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B65ECF-C221-4D79-B723-CDC549483AD7}"/>
              </a:ext>
            </a:extLst>
          </p:cNvPr>
          <p:cNvSpPr>
            <a:spLocks noGrp="1"/>
          </p:cNvSpPr>
          <p:nvPr/>
        </p:nvSpPr>
        <p:spPr>
          <a:xfrm>
            <a:off x="4466880" y="4980000"/>
            <a:ext cx="3418240" cy="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CONTRATOS TIPADOS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99EF9F-C502-4C20-BF8F-3D8BA4191BB8}"/>
              </a:ext>
            </a:extLst>
          </p:cNvPr>
          <p:cNvSpPr>
            <a:spLocks noGrp="1"/>
          </p:cNvSpPr>
          <p:nvPr/>
        </p:nvSpPr>
        <p:spPr>
          <a:xfrm>
            <a:off x="4306880" y="5240000"/>
            <a:ext cx="357824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Cada fronteira é validada por output_schema. Se o tipo vier errado, arun_typed falha e re-tenta.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4B07E9-4A15-4D48-AA06-516FBF76D29E}"/>
              </a:ext>
            </a:extLst>
          </p:cNvPr>
          <p:cNvSpPr>
            <a:spLocks noGrp="1"/>
          </p:cNvSpPr>
          <p:nvPr/>
        </p:nvSpPr>
        <p:spPr>
          <a:xfrm>
            <a:off x="8065120" y="5020000"/>
            <a:ext cx="100000" cy="10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A760F-827C-4FCA-BD3A-77F9F47B2703}"/>
              </a:ext>
            </a:extLst>
          </p:cNvPr>
          <p:cNvSpPr>
            <a:spLocks noGrp="1"/>
          </p:cNvSpPr>
          <p:nvPr/>
        </p:nvSpPr>
        <p:spPr>
          <a:xfrm>
            <a:off x="8225120" y="4980000"/>
            <a:ext cx="3418240" cy="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AVALIAÇÃO ISOLADA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A38220-FE9B-43F9-9579-D74A6AA19B56}"/>
              </a:ext>
            </a:extLst>
          </p:cNvPr>
          <p:cNvSpPr>
            <a:spLocks noGrp="1"/>
          </p:cNvSpPr>
          <p:nvPr/>
        </p:nvSpPr>
        <p:spPr>
          <a:xfrm>
            <a:off x="8065120" y="5240000"/>
            <a:ext cx="357824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Sem Team: cada estágio mantém métricas próprias e reproduzíveis para a avaliação acadêmica.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C81D0A-F0CE-4626-9989-AE105C0D0094}"/>
              </a:ext>
            </a:extLst>
          </p:cNvPr>
          <p:cNvSpPr>
            <a:spLocks noGrp="1"/>
          </p:cNvSpPr>
          <p:nvPr/>
        </p:nvSpPr>
        <p:spPr>
          <a:xfrm>
            <a:off x="548640" y="6500000"/>
            <a:ext cx="20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1ADDCA-B963-494F-A2D8-E023C2E51A01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7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 / 24</a:t>
            </a:r>
          </a:p>
        </p:txBody>
      </p:sp>
    </p:spTree>
    <p:extLst>
      <p:ext uri="{BB962C8B-B14F-4D97-AF65-F5344CB8AC3E}">
        <p14:creationId xmlns:p14="http://schemas.microsoft.com/office/powerpoint/2010/main" val="1531785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554D57C-E896-42DF-AD7D-4FE5A6FB0D9E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06 · AVALIAÇÃO · METODOLOGIA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FF7E3BC-0575-4F95-B7BA-1CB4DE031A88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Três avaliações independentes contra ground truth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CB24D06-9380-4515-89F9-E4B3E168199B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47548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5827DF1-0DB2-45BA-83FE-EB4F958CD95D}"/>
              </a:ext>
            </a:extLst>
          </p:cNvPr>
          <p:cNvSpPr>
            <a:spLocks noGrp="1"/>
          </p:cNvSpPr>
          <p:nvPr/>
        </p:nvSpPr>
        <p:spPr>
          <a:xfrm>
            <a:off x="731520" y="1828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Dataset rotulado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D91B820-1864-45F2-B9E4-957C4DFFB5C7}"/>
              </a:ext>
            </a:extLst>
          </p:cNvPr>
          <p:cNvSpPr>
            <a:spLocks noGrp="1"/>
          </p:cNvSpPr>
          <p:nvPr/>
        </p:nvSpPr>
        <p:spPr>
          <a:xfrm>
            <a:off x="731520" y="21945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(40 amostras, 2 por categoria)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76457CE-9ED4-4F76-88DD-5C01C328DFA9}"/>
              </a:ext>
            </a:extLst>
          </p:cNvPr>
          <p:cNvSpPr>
            <a:spLocks noGrp="1"/>
          </p:cNvSpPr>
          <p:nvPr/>
        </p:nvSpPr>
        <p:spPr>
          <a:xfrm>
            <a:off x="731520" y="2606040"/>
            <a:ext cx="4480560" cy="3474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examples/   </a:t>
            </a:r>
            <a:r>
              <a:rPr sz="12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 arquivos COM smell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i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↳ 2× Complex Switch · 2× Long Params · 2× God Class · 2× Tight Coupling · 2× Duplicated Code</a:t>
            </a:r>
          </a:p>
          <a:p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clean/      </a:t>
            </a:r>
            <a:r>
              <a:rPr sz="12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 arquivos limpos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i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↳ medem Falsos Positivos do Detector</a:t>
            </a:r>
          </a:p>
          <a:p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solutions/correct/   </a:t>
            </a:r>
            <a:r>
              <a:rPr sz="12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 refatorações corretas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i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↳ medem False Reject do Critic</a:t>
            </a:r>
          </a:p>
          <a:p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F43F5E"/>
                </a:solidFill>
                <a:latin typeface="Consolas"/>
                <a:ea typeface="Consolas"/>
                <a:cs typeface="Consolas"/>
              </a:rPr>
              <a:t>solutions/incorrect/   </a:t>
            </a:r>
            <a:r>
              <a:rPr sz="12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 com defeito proposital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i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↳ medem False Accept do Critic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FE21C99-603F-48BF-9CBC-F548036192E9}"/>
              </a:ext>
            </a:extLst>
          </p:cNvPr>
          <p:cNvSpPr>
            <a:spLocks noGrp="1"/>
          </p:cNvSpPr>
          <p:nvPr/>
        </p:nvSpPr>
        <p:spPr>
          <a:xfrm>
            <a:off x="5486400" y="1783080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3 endpoints, 3 papéis distintos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BA3D808-0AB6-41BA-B2F6-0FE039FEA3F4}"/>
              </a:ext>
            </a:extLst>
          </p:cNvPr>
          <p:cNvSpPr>
            <a:spLocks noGrp="1"/>
          </p:cNvSpPr>
          <p:nvPr/>
        </p:nvSpPr>
        <p:spPr>
          <a:xfrm>
            <a:off x="5486400" y="2286000"/>
            <a:ext cx="6126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DCCE7AE-B1FA-49DE-872D-23A9CA4830A6}"/>
              </a:ext>
            </a:extLst>
          </p:cNvPr>
          <p:cNvSpPr>
            <a:spLocks noGrp="1"/>
          </p:cNvSpPr>
          <p:nvPr/>
        </p:nvSpPr>
        <p:spPr>
          <a:xfrm>
            <a:off x="5486400" y="2286000"/>
            <a:ext cx="91440" cy="1143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A90BAEB-2D03-4C3E-B8AC-17CB06336FB0}"/>
              </a:ext>
            </a:extLst>
          </p:cNvPr>
          <p:cNvSpPr>
            <a:spLocks noGrp="1"/>
          </p:cNvSpPr>
          <p:nvPr/>
        </p:nvSpPr>
        <p:spPr>
          <a:xfrm>
            <a:off x="5715000" y="2359152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/evaluate/detector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73ABF66-A64B-4575-828B-84E2FD77196E}"/>
              </a:ext>
            </a:extLst>
          </p:cNvPr>
          <p:cNvSpPr>
            <a:spLocks noGrp="1"/>
          </p:cNvSpPr>
          <p:nvPr/>
        </p:nvSpPr>
        <p:spPr>
          <a:xfrm>
            <a:off x="5715000" y="2606040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Agente Rastreador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3DD3E9B-4A2B-455B-966D-5D80D059C23E}"/>
              </a:ext>
            </a:extLst>
          </p:cNvPr>
          <p:cNvSpPr>
            <a:spLocks noGrp="1"/>
          </p:cNvSpPr>
          <p:nvPr/>
        </p:nvSpPr>
        <p:spPr>
          <a:xfrm>
            <a:off x="5715000" y="2880360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Confusion matrix sobre smelly + clean → FP, FN, precision, recall, F1, acerto do tipo.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312A043-29EB-44A1-8CC8-2F99CE053D6D}"/>
              </a:ext>
            </a:extLst>
          </p:cNvPr>
          <p:cNvSpPr>
            <a:spLocks noGrp="1"/>
          </p:cNvSpPr>
          <p:nvPr/>
        </p:nvSpPr>
        <p:spPr>
          <a:xfrm>
            <a:off x="5486400" y="3611880"/>
            <a:ext cx="6126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B9F7D7B-F6E2-4D97-B6ED-B74BB231B3E5}"/>
              </a:ext>
            </a:extLst>
          </p:cNvPr>
          <p:cNvSpPr>
            <a:spLocks noGrp="1"/>
          </p:cNvSpPr>
          <p:nvPr/>
        </p:nvSpPr>
        <p:spPr>
          <a:xfrm>
            <a:off x="5486400" y="3611880"/>
            <a:ext cx="91440" cy="1143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8316725-E894-434C-88EF-A08D1592BC51}"/>
              </a:ext>
            </a:extLst>
          </p:cNvPr>
          <p:cNvSpPr>
            <a:spLocks noGrp="1"/>
          </p:cNvSpPr>
          <p:nvPr/>
        </p:nvSpPr>
        <p:spPr>
          <a:xfrm>
            <a:off x="5715000" y="3685032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/evaluate/refactor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AFCFFA9-00FC-4442-825B-AF193649054A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Agente Refatorador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0CA3A20-6E08-41AC-ADBA-72F816F4CEE9}"/>
              </a:ext>
            </a:extLst>
          </p:cNvPr>
          <p:cNvSpPr>
            <a:spLocks noGrp="1"/>
          </p:cNvSpPr>
          <p:nvPr/>
        </p:nvSpPr>
        <p:spPr>
          <a:xfrm>
            <a:off x="5715000" y="4206240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Checagens objetivas por solução: pattern correto, sintaxe válida (ruff+ast), API preservada.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A8CB7FB-EDEB-4EA6-AF52-146EA7020F6B}"/>
              </a:ext>
            </a:extLst>
          </p:cNvPr>
          <p:cNvSpPr>
            <a:spLocks noGrp="1"/>
          </p:cNvSpPr>
          <p:nvPr/>
        </p:nvSpPr>
        <p:spPr>
          <a:xfrm>
            <a:off x="5486400" y="4937760"/>
            <a:ext cx="6126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C1F1336-204D-4031-94AD-B7AA2865F132}"/>
              </a:ext>
            </a:extLst>
          </p:cNvPr>
          <p:cNvSpPr>
            <a:spLocks noGrp="1"/>
          </p:cNvSpPr>
          <p:nvPr/>
        </p:nvSpPr>
        <p:spPr>
          <a:xfrm>
            <a:off x="5486400" y="4937760"/>
            <a:ext cx="91440" cy="1143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C7C8F0A-C782-454B-8205-274C96808043}"/>
              </a:ext>
            </a:extLst>
          </p:cNvPr>
          <p:cNvSpPr>
            <a:spLocks noGrp="1"/>
          </p:cNvSpPr>
          <p:nvPr/>
        </p:nvSpPr>
        <p:spPr>
          <a:xfrm>
            <a:off x="5715000" y="5010912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/evaluate/critic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280781A-9801-48B8-91E5-BD3DA0236F4B}"/>
              </a:ext>
            </a:extLst>
          </p:cNvPr>
          <p:cNvSpPr>
            <a:spLocks noGrp="1"/>
          </p:cNvSpPr>
          <p:nvPr/>
        </p:nvSpPr>
        <p:spPr>
          <a:xfrm>
            <a:off x="5715000" y="5257800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Agente Revisor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9889DAD-BECF-43FC-B80E-C5C689AEF587}"/>
              </a:ext>
            </a:extLst>
          </p:cNvPr>
          <p:cNvSpPr>
            <a:spLocks noGrp="1"/>
          </p:cNvSpPr>
          <p:nvPr/>
        </p:nvSpPr>
        <p:spPr>
          <a:xfrm>
            <a:off x="5715000" y="5532120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Confusion matrix sobre correct/incorrect → False Accept Rate (FAR), False Reject Rate (FRR).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DDF9D23-19FE-4490-A41B-E1157596E7D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4A2F99F-3408-43C1-AE58-01F4E227DCE7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 / 24</a:t>
            </a:r>
          </a:p>
        </p:txBody>
      </p:sp>
    </p:spTree>
    <p:extLst>
      <p:ext uri="{BB962C8B-B14F-4D97-AF65-F5344CB8AC3E}">
        <p14:creationId xmlns:p14="http://schemas.microsoft.com/office/powerpoint/2010/main" val="1090319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7CC0D20-0576-4031-9C03-F6A5C83D2D78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07 · AVALIAÇÃO · BASELINE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D02143-93B4-4D6D-B528-28462F8BA3E6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Baseline empírico (antes das mudanças)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6432E13-2005-4EA3-91D4-59FA6D53E25F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E877D13-AE40-47AC-B7DE-D5778AED9144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3611880" cy="1463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42A3E1-5CB0-4A35-9C21-C766A07B8304}"/>
              </a:ext>
            </a:extLst>
          </p:cNvPr>
          <p:cNvSpPr>
            <a:spLocks noGrp="1"/>
          </p:cNvSpPr>
          <p:nvPr/>
        </p:nvSpPr>
        <p:spPr>
          <a:xfrm>
            <a:off x="731520" y="1920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3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DETECTOR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57E43A6-EE47-49CD-A4D7-EF3DFAD71692}"/>
              </a:ext>
            </a:extLst>
          </p:cNvPr>
          <p:cNvSpPr>
            <a:spLocks noGrp="1"/>
          </p:cNvSpPr>
          <p:nvPr/>
        </p:nvSpPr>
        <p:spPr>
          <a:xfrm>
            <a:off x="731520" y="224028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6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16ED967-E27E-4CA2-9655-3B3419C1141A}"/>
              </a:ext>
            </a:extLst>
          </p:cNvPr>
          <p:cNvSpPr>
            <a:spLocks noGrp="1"/>
          </p:cNvSpPr>
          <p:nvPr/>
        </p:nvSpPr>
        <p:spPr>
          <a:xfrm>
            <a:off x="731520" y="31089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F1-Score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B2DBBA0-9FDE-4B33-AB66-73491374D2BD}"/>
              </a:ext>
            </a:extLst>
          </p:cNvPr>
          <p:cNvSpPr>
            <a:spLocks noGrp="1"/>
          </p:cNvSpPr>
          <p:nvPr/>
        </p:nvSpPr>
        <p:spPr>
          <a:xfrm>
            <a:off x="731520" y="33832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 FP · 0 FN · 20 amostras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CA8253D-3030-4535-9FFA-5CD3DAD73948}"/>
              </a:ext>
            </a:extLst>
          </p:cNvPr>
          <p:cNvSpPr>
            <a:spLocks noGrp="1"/>
          </p:cNvSpPr>
          <p:nvPr/>
        </p:nvSpPr>
        <p:spPr>
          <a:xfrm>
            <a:off x="4389120" y="1691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52AA4BE-5F67-4613-823C-23E7421049FD}"/>
              </a:ext>
            </a:extLst>
          </p:cNvPr>
          <p:cNvSpPr>
            <a:spLocks noGrp="1"/>
          </p:cNvSpPr>
          <p:nvPr/>
        </p:nvSpPr>
        <p:spPr>
          <a:xfrm>
            <a:off x="4389120" y="1691640"/>
            <a:ext cx="3611880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975AD34-F5D6-48A4-80F3-FDD078FF9EDD}"/>
              </a:ext>
            </a:extLst>
          </p:cNvPr>
          <p:cNvSpPr>
            <a:spLocks noGrp="1"/>
          </p:cNvSpPr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300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RECOMMENDER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E0A8DED-07BD-4487-AE80-F39239A641E3}"/>
              </a:ext>
            </a:extLst>
          </p:cNvPr>
          <p:cNvSpPr>
            <a:spLocks noGrp="1"/>
          </p:cNvSpPr>
          <p:nvPr/>
        </p:nvSpPr>
        <p:spPr>
          <a:xfrm>
            <a:off x="4572000" y="224028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6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0.600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667AF68-FF44-412B-9F4F-81720E86AA34}"/>
              </a:ext>
            </a:extLst>
          </p:cNvPr>
          <p:cNvSpPr>
            <a:spLocks noGrp="1"/>
          </p:cNvSpPr>
          <p:nvPr/>
        </p:nvSpPr>
        <p:spPr>
          <a:xfrm>
            <a:off x="4572000" y="31089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Accuracy total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BEAB52A-F8E8-44E0-9DC9-B540B337A988}"/>
              </a:ext>
            </a:extLst>
          </p:cNvPr>
          <p:cNvSpPr>
            <a:spLocks noGrp="1"/>
          </p:cNvSpPr>
          <p:nvPr/>
        </p:nvSpPr>
        <p:spPr>
          <a:xfrm>
            <a:off x="4572000" y="33832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Pattern: 1.00 · Sintaxe: 1.00 · API: 0.60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319A525-D004-4FF6-B313-64E4EA298991}"/>
              </a:ext>
            </a:extLst>
          </p:cNvPr>
          <p:cNvSpPr>
            <a:spLocks noGrp="1"/>
          </p:cNvSpPr>
          <p:nvPr/>
        </p:nvSpPr>
        <p:spPr>
          <a:xfrm>
            <a:off x="8229600" y="1691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9BBDD3B-F0F7-4258-8C94-2088F36B5EDA}"/>
              </a:ext>
            </a:extLst>
          </p:cNvPr>
          <p:cNvSpPr>
            <a:spLocks noGrp="1"/>
          </p:cNvSpPr>
          <p:nvPr/>
        </p:nvSpPr>
        <p:spPr>
          <a:xfrm>
            <a:off x="8229600" y="1691640"/>
            <a:ext cx="3611880" cy="1463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FE7444B-2706-4575-A371-FAD553779B16}"/>
              </a:ext>
            </a:extLst>
          </p:cNvPr>
          <p:cNvSpPr>
            <a:spLocks noGrp="1"/>
          </p:cNvSpPr>
          <p:nvPr/>
        </p:nvSpPr>
        <p:spPr>
          <a:xfrm>
            <a:off x="8412480" y="1920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3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CRITIC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1331F72-2058-4F68-8BBF-DC41DF07C44D}"/>
              </a:ext>
            </a:extLst>
          </p:cNvPr>
          <p:cNvSpPr>
            <a:spLocks noGrp="1"/>
          </p:cNvSpPr>
          <p:nvPr/>
        </p:nvSpPr>
        <p:spPr>
          <a:xfrm>
            <a:off x="8412480" y="224028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6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0.941</a:t>
            </a: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3992CB4-4B91-4933-A692-7D7342889011}"/>
              </a:ext>
            </a:extLst>
          </p:cNvPr>
          <p:cNvSpPr>
            <a:spLocks noGrp="1"/>
          </p:cNvSpPr>
          <p:nvPr/>
        </p:nvSpPr>
        <p:spPr>
          <a:xfrm>
            <a:off x="8412480" y="31089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F1-Score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3CA096D-697D-4872-B54B-34B05BE25853}"/>
              </a:ext>
            </a:extLst>
          </p:cNvPr>
          <p:cNvSpPr>
            <a:spLocks noGrp="1"/>
          </p:cNvSpPr>
          <p:nvPr/>
        </p:nvSpPr>
        <p:spPr>
          <a:xfrm>
            <a:off x="8412480" y="33832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FAR=0.00 · FRR=0.111 · 1 false reject</a:t>
            </a:r>
          </a:p>
        </p:txBody>
      </p:sp>
      <p:graphicFrame>
        <p:nvGraphicFramePr>
          <p:cNvPr id="47" name="Chart 0"/>
          <p:cNvGraphicFramePr/>
          <p:nvPr/>
        </p:nvGraphicFramePr>
        <p:xfrm>
          <a:off x="548640" y="3931920"/>
          <a:ext cx="1106424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" name="Text 20">
            <a:extLst>
              <a:ext uri="{FF2B5EF4-FFF2-40B4-BE49-F238E27FC236}">
                <a16:creationId xmlns:a16="http://schemas.microsoft.com/office/drawing/2014/main" id="{2C463933-B490-47BF-AF93-ECE1B3EB456F}"/>
              </a:ext>
            </a:extLst>
          </p:cNvPr>
          <p:cNvSpPr>
            <a:spLocks noGrp="1"/>
          </p:cNvSpPr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Baseline gerado em 2026-05-24 · escopo: 10 problemas + 10 soluções corretas + 10 com defeito · dataset/reports/evaluation_baseline.md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A2C5ED49-F2EB-42AE-8EAF-4E3F7E4EF43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DCD8C1C-CE25-4547-B198-9C76D8AFD00C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 / 24</a:t>
            </a:r>
          </a:p>
        </p:txBody>
      </p:sp>
    </p:spTree>
    <p:extLst>
      <p:ext uri="{BB962C8B-B14F-4D97-AF65-F5344CB8AC3E}">
        <p14:creationId xmlns:p14="http://schemas.microsoft.com/office/powerpoint/2010/main" val="10086136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1B7BA75-3073-4869-BDE6-C2A17F1D3564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08 · AVALIAÇÃO · PÓS-MUDANÇAS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4C3580C-C1D4-4BF2-8B8E-EA1F4F1D72EA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Execução pós-skills + parser_model (2026-06-17)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A7918C3-9D8A-45D4-BA85-459A7F4265DC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3465E04-DED6-40B6-9D71-882FDA9BA829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3611880" cy="1463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1C2A3B-BFF7-4B9B-B604-9FCA3908DC2D}"/>
              </a:ext>
            </a:extLst>
          </p:cNvPr>
          <p:cNvSpPr>
            <a:spLocks noGrp="1"/>
          </p:cNvSpPr>
          <p:nvPr/>
        </p:nvSpPr>
        <p:spPr>
          <a:xfrm>
            <a:off x="731520" y="1920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3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DETECTOR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8EE8BEE-9818-4992-ABBB-09D391415542}"/>
              </a:ext>
            </a:extLst>
          </p:cNvPr>
          <p:cNvSpPr>
            <a:spLocks noGrp="1"/>
          </p:cNvSpPr>
          <p:nvPr/>
        </p:nvSpPr>
        <p:spPr>
          <a:xfrm>
            <a:off x="731520" y="224028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A773ED5-D077-483C-9954-43A8F5284513}"/>
              </a:ext>
            </a:extLst>
          </p:cNvPr>
          <p:cNvSpPr>
            <a:spLocks noGrp="1"/>
          </p:cNvSpPr>
          <p:nvPr/>
        </p:nvSpPr>
        <p:spPr>
          <a:xfrm>
            <a:off x="731520" y="3200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F1-Score · 20/20 amostras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1E5BAA3-60F0-43EA-9559-60FDE56ACF3F}"/>
              </a:ext>
            </a:extLst>
          </p:cNvPr>
          <p:cNvSpPr>
            <a:spLocks noGrp="1"/>
          </p:cNvSpPr>
          <p:nvPr/>
        </p:nvSpPr>
        <p:spPr>
          <a:xfrm>
            <a:off x="731520" y="34747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Estável vs. baseline · já saturado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73494AE-650D-401D-B652-6EB871F2AC27}"/>
              </a:ext>
            </a:extLst>
          </p:cNvPr>
          <p:cNvSpPr>
            <a:spLocks noGrp="1"/>
          </p:cNvSpPr>
          <p:nvPr/>
        </p:nvSpPr>
        <p:spPr>
          <a:xfrm>
            <a:off x="4389120" y="169164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C9F1B13-7B17-4852-A754-18C9E0F1A7B3}"/>
              </a:ext>
            </a:extLst>
          </p:cNvPr>
          <p:cNvSpPr>
            <a:spLocks noGrp="1"/>
          </p:cNvSpPr>
          <p:nvPr/>
        </p:nvSpPr>
        <p:spPr>
          <a:xfrm>
            <a:off x="4389120" y="1691640"/>
            <a:ext cx="3611880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8EE1F59-D16C-4F9F-9275-8FA292533863}"/>
              </a:ext>
            </a:extLst>
          </p:cNvPr>
          <p:cNvSpPr>
            <a:spLocks noGrp="1"/>
          </p:cNvSpPr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300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RECOMMENDER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972C4A2-3E99-4E51-8D72-47BD38E530A6}"/>
              </a:ext>
            </a:extLst>
          </p:cNvPr>
          <p:cNvSpPr>
            <a:spLocks noGrp="1"/>
          </p:cNvSpPr>
          <p:nvPr/>
        </p:nvSpPr>
        <p:spPr>
          <a:xfrm>
            <a:off x="4572000" y="224028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0.900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5389CE5-7F22-470B-888C-3B70EED26ABC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Accuracy · 9/10 problemas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452712B-E4CC-4B72-88CB-0691B5EB57C5}"/>
              </a:ext>
            </a:extLst>
          </p:cNvPr>
          <p:cNvSpPr>
            <a:spLocks noGrp="1"/>
          </p:cNvSpPr>
          <p:nvPr/>
        </p:nvSpPr>
        <p:spPr>
          <a:xfrm>
            <a:off x="4572000" y="34747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Falha residual: 1× Facade omitiu 2 métodos públicos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E70AA82-64D9-40BD-9C6D-95BCF8D9E9A4}"/>
              </a:ext>
            </a:extLst>
          </p:cNvPr>
          <p:cNvSpPr>
            <a:spLocks noGrp="1"/>
          </p:cNvSpPr>
          <p:nvPr/>
        </p:nvSpPr>
        <p:spPr>
          <a:xfrm>
            <a:off x="8229600" y="169164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9BEEDD8-A934-4890-8433-20B022980314}"/>
              </a:ext>
            </a:extLst>
          </p:cNvPr>
          <p:cNvSpPr>
            <a:spLocks noGrp="1"/>
          </p:cNvSpPr>
          <p:nvPr/>
        </p:nvSpPr>
        <p:spPr>
          <a:xfrm>
            <a:off x="8229600" y="1691640"/>
            <a:ext cx="3611880" cy="1463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0D9DB3F-79BD-4BA6-8C25-1A57B990B8A8}"/>
              </a:ext>
            </a:extLst>
          </p:cNvPr>
          <p:cNvSpPr>
            <a:spLocks noGrp="1"/>
          </p:cNvSpPr>
          <p:nvPr/>
        </p:nvSpPr>
        <p:spPr>
          <a:xfrm>
            <a:off x="8412480" y="1920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3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CRITIC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9FF449D-520C-4835-A541-17D022D65500}"/>
              </a:ext>
            </a:extLst>
          </p:cNvPr>
          <p:cNvSpPr>
            <a:spLocks noGrp="1"/>
          </p:cNvSpPr>
          <p:nvPr/>
        </p:nvSpPr>
        <p:spPr>
          <a:xfrm>
            <a:off x="8412480" y="224028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0.947</a:t>
            </a: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1EC4D17-A4E9-40D0-8CDD-E696FAE189D3}"/>
              </a:ext>
            </a:extLst>
          </p:cNvPr>
          <p:cNvSpPr>
            <a:spLocks noGrp="1"/>
          </p:cNvSpPr>
          <p:nvPr/>
        </p:nvSpPr>
        <p:spPr>
          <a:xfrm>
            <a:off x="8412480" y="3200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F1-Score · 19/20 vereditos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46617BA-E399-465F-BF92-7B8ACCC0207A}"/>
              </a:ext>
            </a:extLst>
          </p:cNvPr>
          <p:cNvSpPr>
            <a:spLocks noGrp="1"/>
          </p:cNvSpPr>
          <p:nvPr/>
        </p:nvSpPr>
        <p:spPr>
          <a:xfrm>
            <a:off x="8412480" y="34747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 false reject em caso de borda (hook privado)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68204E5-855C-45B9-908C-BAEFEDA1DEF2}"/>
              </a:ext>
            </a:extLst>
          </p:cNvPr>
          <p:cNvSpPr>
            <a:spLocks noGrp="1"/>
          </p:cNvSpPr>
          <p:nvPr/>
        </p:nvSpPr>
        <p:spPr>
          <a:xfrm>
            <a:off x="548640" y="4069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Baseline vs. pós-mudanças — N=10 completos por agente</a:t>
            </a:r>
          </a:p>
        </p:txBody>
      </p:sp>
      <p:graphicFrame>
        <p:nvGraphicFramePr>
          <p:cNvPr id="50" name="Chart 0"/>
          <p:cNvGraphicFramePr/>
          <p:nvPr/>
        </p:nvGraphicFramePr>
        <p:xfrm>
          <a:off x="548640" y="4389120"/>
          <a:ext cx="1106424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>
            <a:extLst>
              <a:ext uri="{FF2B5EF4-FFF2-40B4-BE49-F238E27FC236}">
                <a16:creationId xmlns:a16="http://schemas.microsoft.com/office/drawing/2014/main" id="{272124DE-DC6D-4251-9734-9DCEACE48117}"/>
              </a:ext>
            </a:extLst>
          </p:cNvPr>
          <p:cNvSpPr>
            <a:spLocks noGrp="1"/>
          </p:cNvSpPr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93BE464-346B-4764-AEFF-6D5C4D6ED8CE}"/>
              </a:ext>
            </a:extLst>
          </p:cNvPr>
          <p:cNvSpPr>
            <a:spLocks noGrp="1"/>
          </p:cNvSpPr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Validado: </a:t>
            </a: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skills reduziram o gap de "API preservada" (0.60 → 0.90) e Aprov. pipeline (0.70 → 0.90). Critic estável (parser_model conserta crash, não muda julgamento do LLM). </a:t>
            </a:r>
            <a:r>
              <a:rPr sz="1100" i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Casos residuais documentados.</a:t>
            </a: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FDDABF33-31FE-42BA-900A-51D238691FFA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53F8BB5-3C8E-40F2-BC22-454C9BB4119D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 / 24</a:t>
            </a:r>
          </a:p>
        </p:txBody>
      </p:sp>
    </p:spTree>
    <p:extLst>
      <p:ext uri="{BB962C8B-B14F-4D97-AF65-F5344CB8AC3E}">
        <p14:creationId xmlns:p14="http://schemas.microsoft.com/office/powerpoint/2010/main" val="88572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E58618D-E784-4219-B3BF-9A4A4B2F2DAD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09 · ENDPOINT · DETECTOR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E5846F5-3B26-43BE-B3A8-677ADFA28A4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POST /api/v1/evaluate/detector — 20/20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16123DB-9801-4B10-AB0A-6DEA60737498}"/>
              </a:ext>
            </a:extLst>
          </p:cNvPr>
          <p:cNvSpPr>
            <a:spLocks noGrp="1"/>
          </p:cNvSpPr>
          <p:nvPr/>
        </p:nvSpPr>
        <p:spPr>
          <a:xfrm>
            <a:off x="548640" y="1627632"/>
            <a:ext cx="5029200" cy="329184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240E7-DAB4-4B8F-B2F8-F6FCD688B7E1}"/>
              </a:ext>
            </a:extLst>
          </p:cNvPr>
          <p:cNvSpPr>
            <a:spLocks noGrp="1"/>
          </p:cNvSpPr>
          <p:nvPr/>
        </p:nvSpPr>
        <p:spPr>
          <a:xfrm>
            <a:off x="640080" y="16276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/api/v1/evaluate/detector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B14C40D-095A-4965-911F-AE218859CADA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6577FB5-D806-4020-B74C-A7F825B96169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1A22082-2673-4101-AB54-780E75FE80D3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5F400A3-F52D-49D4-AD99-D224EAB2B2FF}"/>
              </a:ext>
            </a:extLst>
          </p:cNvPr>
          <p:cNvSpPr>
            <a:spLocks noGrp="1"/>
          </p:cNvSpPr>
          <p:nvPr/>
        </p:nvSpPr>
        <p:spPr>
          <a:xfrm>
            <a:off x="731520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66C2574-B1FE-425B-91B5-26F705981FD3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03B60A7-8975-41C3-ACBE-81B804CBD21A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46EA5B7-3AF4-49BE-8B21-A69D3BA585B2}"/>
              </a:ext>
            </a:extLst>
          </p:cNvPr>
          <p:cNvSpPr>
            <a:spLocks noGrp="1"/>
          </p:cNvSpPr>
          <p:nvPr/>
        </p:nvSpPr>
        <p:spPr>
          <a:xfrm>
            <a:off x="3593592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D06C9B7-8BED-4A07-8564-2CE2FAEF59A3}"/>
              </a:ext>
            </a:extLst>
          </p:cNvPr>
          <p:cNvSpPr>
            <a:spLocks noGrp="1"/>
          </p:cNvSpPr>
          <p:nvPr/>
        </p:nvSpPr>
        <p:spPr>
          <a:xfrm>
            <a:off x="3593592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EFADAAB-7BB9-4ADB-9A22-5A2A009C3450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1EA4F84-3282-42BD-AB76-B16870078BE7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476412B-E528-486D-9B60-1642696D37BA}"/>
              </a:ext>
            </a:extLst>
          </p:cNvPr>
          <p:cNvSpPr>
            <a:spLocks noGrp="1"/>
          </p:cNvSpPr>
          <p:nvPr/>
        </p:nvSpPr>
        <p:spPr>
          <a:xfrm>
            <a:off x="6455664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94084D6-7171-4051-97CA-362CB221986D}"/>
              </a:ext>
            </a:extLst>
          </p:cNvPr>
          <p:cNvSpPr>
            <a:spLocks noGrp="1"/>
          </p:cNvSpPr>
          <p:nvPr/>
        </p:nvSpPr>
        <p:spPr>
          <a:xfrm>
            <a:off x="6455664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A730726-04A0-4462-9486-C6A88BD1DB7E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21E1857-ED4D-4C7B-887D-5BBDC626640B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BDF3EB2-CF96-486A-A6B3-6FF8BD7DC7A0}"/>
              </a:ext>
            </a:extLst>
          </p:cNvPr>
          <p:cNvSpPr>
            <a:spLocks noGrp="1"/>
          </p:cNvSpPr>
          <p:nvPr/>
        </p:nvSpPr>
        <p:spPr>
          <a:xfrm>
            <a:off x="9317736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CA97853-0B4C-4E50-BD7E-4A34AA89983E}"/>
              </a:ext>
            </a:extLst>
          </p:cNvPr>
          <p:cNvSpPr>
            <a:spLocks noGrp="1"/>
          </p:cNvSpPr>
          <p:nvPr/>
        </p:nvSpPr>
        <p:spPr>
          <a:xfrm>
            <a:off x="9317736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D8705EF-511A-455F-A419-2597776B1643}"/>
              </a:ext>
            </a:extLst>
          </p:cNvPr>
          <p:cNvSpPr>
            <a:spLocks noGrp="1"/>
          </p:cNvSpPr>
          <p:nvPr/>
        </p:nvSpPr>
        <p:spPr>
          <a:xfrm>
            <a:off x="548640" y="30632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(20 amostras)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F94EEBF-A1F7-4151-B937-EC5BF5ED2646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6AA7FF7-981F-47BF-8DFF-B58D87CFA6FD}"/>
              </a:ext>
            </a:extLst>
          </p:cNvPr>
          <p:cNvSpPr>
            <a:spLocks noGrp="1"/>
          </p:cNvSpPr>
          <p:nvPr/>
        </p:nvSpPr>
        <p:spPr>
          <a:xfrm>
            <a:off x="640080" y="33832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examples/01_complex_switch.py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88D8ADC-303D-45DD-8FFB-EA110A599E4A}"/>
              </a:ext>
            </a:extLst>
          </p:cNvPr>
          <p:cNvSpPr>
            <a:spLocks noGrp="1"/>
          </p:cNvSpPr>
          <p:nvPr/>
        </p:nvSpPr>
        <p:spPr>
          <a:xfrm>
            <a:off x="3977640" y="33832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Complex Switch</a:t>
            </a: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7930E98-4E30-47B0-8CBF-EB231F4136D6}"/>
              </a:ext>
            </a:extLst>
          </p:cNvPr>
          <p:cNvSpPr>
            <a:spLocks noGrp="1"/>
          </p:cNvSpPr>
          <p:nvPr/>
        </p:nvSpPr>
        <p:spPr>
          <a:xfrm>
            <a:off x="5486400" y="3438144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C6F983C-3438-4589-854D-A9D73AB2F15A}"/>
              </a:ext>
            </a:extLst>
          </p:cNvPr>
          <p:cNvSpPr>
            <a:spLocks noGrp="1"/>
          </p:cNvSpPr>
          <p:nvPr/>
        </p:nvSpPr>
        <p:spPr>
          <a:xfrm>
            <a:off x="5486400" y="3429000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E8FED659-6977-47A1-9392-898A34C176CA}"/>
              </a:ext>
            </a:extLst>
          </p:cNvPr>
          <p:cNvSpPr>
            <a:spLocks noGrp="1"/>
          </p:cNvSpPr>
          <p:nvPr/>
        </p:nvSpPr>
        <p:spPr>
          <a:xfrm>
            <a:off x="548640" y="3675888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3C17B4D-CBB8-436E-A84D-22638C1EC1EA}"/>
              </a:ext>
            </a:extLst>
          </p:cNvPr>
          <p:cNvSpPr>
            <a:spLocks noGrp="1"/>
          </p:cNvSpPr>
          <p:nvPr/>
        </p:nvSpPr>
        <p:spPr>
          <a:xfrm>
            <a:off x="640080" y="367588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examples/02_long_parameter_list.py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9C3A1E9-1E5C-4864-AA21-2398EE65DE1D}"/>
              </a:ext>
            </a:extLst>
          </p:cNvPr>
          <p:cNvSpPr>
            <a:spLocks noGrp="1"/>
          </p:cNvSpPr>
          <p:nvPr/>
        </p:nvSpPr>
        <p:spPr>
          <a:xfrm>
            <a:off x="3977640" y="367588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Long Params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523732C6-A7FA-4DB4-83FD-CA3E15C894D6}"/>
              </a:ext>
            </a:extLst>
          </p:cNvPr>
          <p:cNvSpPr>
            <a:spLocks noGrp="1"/>
          </p:cNvSpPr>
          <p:nvPr/>
        </p:nvSpPr>
        <p:spPr>
          <a:xfrm>
            <a:off x="5486400" y="3730752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9EEFD16-A961-4081-BA3B-F12D480AA68D}"/>
              </a:ext>
            </a:extLst>
          </p:cNvPr>
          <p:cNvSpPr>
            <a:spLocks noGrp="1"/>
          </p:cNvSpPr>
          <p:nvPr/>
        </p:nvSpPr>
        <p:spPr>
          <a:xfrm>
            <a:off x="5486400" y="3721608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5854076-0328-43E5-8E39-40C54FB54CED}"/>
              </a:ext>
            </a:extLst>
          </p:cNvPr>
          <p:cNvSpPr>
            <a:spLocks noGrp="1"/>
          </p:cNvSpPr>
          <p:nvPr/>
        </p:nvSpPr>
        <p:spPr>
          <a:xfrm>
            <a:off x="548640" y="3968496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6E8B4B4-1407-491C-97B2-B1E7EF33FEC5}"/>
              </a:ext>
            </a:extLst>
          </p:cNvPr>
          <p:cNvSpPr>
            <a:spLocks noGrp="1"/>
          </p:cNvSpPr>
          <p:nvPr/>
        </p:nvSpPr>
        <p:spPr>
          <a:xfrm>
            <a:off x="640080" y="396849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examples/03_god_class.py</a:t>
            </a: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AC5E68B-442B-4BC1-BF43-B787134D9958}"/>
              </a:ext>
            </a:extLst>
          </p:cNvPr>
          <p:cNvSpPr>
            <a:spLocks noGrp="1"/>
          </p:cNvSpPr>
          <p:nvPr/>
        </p:nvSpPr>
        <p:spPr>
          <a:xfrm>
            <a:off x="3977640" y="3968496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God Class</a:t>
            </a: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3E3C27D1-FD53-40B7-8FA9-640372843A9C}"/>
              </a:ext>
            </a:extLst>
          </p:cNvPr>
          <p:cNvSpPr>
            <a:spLocks noGrp="1"/>
          </p:cNvSpPr>
          <p:nvPr/>
        </p:nvSpPr>
        <p:spPr>
          <a:xfrm>
            <a:off x="5486400" y="4023360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AFC28F1-AA0E-472D-9EEE-B26008DA07E3}"/>
              </a:ext>
            </a:extLst>
          </p:cNvPr>
          <p:cNvSpPr>
            <a:spLocks noGrp="1"/>
          </p:cNvSpPr>
          <p:nvPr/>
        </p:nvSpPr>
        <p:spPr>
          <a:xfrm>
            <a:off x="5486400" y="4014216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0A3E52FF-B75D-459A-9964-BE432FBFDB31}"/>
              </a:ext>
            </a:extLst>
          </p:cNvPr>
          <p:cNvSpPr>
            <a:spLocks noGrp="1"/>
          </p:cNvSpPr>
          <p:nvPr/>
        </p:nvSpPr>
        <p:spPr>
          <a:xfrm>
            <a:off x="548640" y="4261104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6EE8D92-6F7B-4524-BA33-E256BB9BCCBB}"/>
              </a:ext>
            </a:extLst>
          </p:cNvPr>
          <p:cNvSpPr>
            <a:spLocks noGrp="1"/>
          </p:cNvSpPr>
          <p:nvPr/>
        </p:nvSpPr>
        <p:spPr>
          <a:xfrm>
            <a:off x="640080" y="426110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examples/04_tight_coupling.py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2D57956-5DAC-4BE3-BAEB-74F80A3A04EB}"/>
              </a:ext>
            </a:extLst>
          </p:cNvPr>
          <p:cNvSpPr>
            <a:spLocks noGrp="1"/>
          </p:cNvSpPr>
          <p:nvPr/>
        </p:nvSpPr>
        <p:spPr>
          <a:xfrm>
            <a:off x="3977640" y="426110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Tight Coupling</a:t>
            </a: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B35DF83-68FE-4281-9E84-3EC4F79C47A5}"/>
              </a:ext>
            </a:extLst>
          </p:cNvPr>
          <p:cNvSpPr>
            <a:spLocks noGrp="1"/>
          </p:cNvSpPr>
          <p:nvPr/>
        </p:nvSpPr>
        <p:spPr>
          <a:xfrm>
            <a:off x="5486400" y="4315968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CD4DC756-5A36-41F3-84BB-61C9E5A77DC2}"/>
              </a:ext>
            </a:extLst>
          </p:cNvPr>
          <p:cNvSpPr>
            <a:spLocks noGrp="1"/>
          </p:cNvSpPr>
          <p:nvPr/>
        </p:nvSpPr>
        <p:spPr>
          <a:xfrm>
            <a:off x="5486400" y="4306824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F635421B-333C-4EA1-B5AB-CA9F4A48C3E6}"/>
              </a:ext>
            </a:extLst>
          </p:cNvPr>
          <p:cNvSpPr>
            <a:spLocks noGrp="1"/>
          </p:cNvSpPr>
          <p:nvPr/>
        </p:nvSpPr>
        <p:spPr>
          <a:xfrm>
            <a:off x="548640" y="4553712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274B81E-EF66-4E60-93CC-2988D3149C2E}"/>
              </a:ext>
            </a:extLst>
          </p:cNvPr>
          <p:cNvSpPr>
            <a:spLocks noGrp="1"/>
          </p:cNvSpPr>
          <p:nvPr/>
        </p:nvSpPr>
        <p:spPr>
          <a:xfrm>
            <a:off x="640080" y="455371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examples/05_duplicated_code.py</a:t>
            </a: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B4931BD-F327-47AB-A4E8-A67A43A271AB}"/>
              </a:ext>
            </a:extLst>
          </p:cNvPr>
          <p:cNvSpPr>
            <a:spLocks noGrp="1"/>
          </p:cNvSpPr>
          <p:nvPr/>
        </p:nvSpPr>
        <p:spPr>
          <a:xfrm>
            <a:off x="3977640" y="45537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Duplicated</a:t>
            </a: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F3621966-D963-4F9C-974A-36314D5F1CA5}"/>
              </a:ext>
            </a:extLst>
          </p:cNvPr>
          <p:cNvSpPr>
            <a:spLocks noGrp="1"/>
          </p:cNvSpPr>
          <p:nvPr/>
        </p:nvSpPr>
        <p:spPr>
          <a:xfrm>
            <a:off x="5486400" y="4608576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33A8B8DD-D4C4-40C1-AFE6-CFE46D62B63F}"/>
              </a:ext>
            </a:extLst>
          </p:cNvPr>
          <p:cNvSpPr>
            <a:spLocks noGrp="1"/>
          </p:cNvSpPr>
          <p:nvPr/>
        </p:nvSpPr>
        <p:spPr>
          <a:xfrm>
            <a:off x="5486400" y="4599432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357CC969-D1D8-40FD-842E-057FB4574CD7}"/>
              </a:ext>
            </a:extLst>
          </p:cNvPr>
          <p:cNvSpPr>
            <a:spLocks noGrp="1"/>
          </p:cNvSpPr>
          <p:nvPr/>
        </p:nvSpPr>
        <p:spPr>
          <a:xfrm>
            <a:off x="548640" y="4846320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B2D7FD6A-3EAC-4274-B980-8833BBCF2244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examples/06_complex_switch.py</a:t>
            </a: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AF7810C-6E79-4FD9-91FE-063E45924A74}"/>
              </a:ext>
            </a:extLst>
          </p:cNvPr>
          <p:cNvSpPr>
            <a:spLocks noGrp="1"/>
          </p:cNvSpPr>
          <p:nvPr/>
        </p:nvSpPr>
        <p:spPr>
          <a:xfrm>
            <a:off x="3977640" y="48463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Complex Switch</a:t>
            </a:r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C92A2EFC-2A31-41DF-9D77-0BDCC0F0A84A}"/>
              </a:ext>
            </a:extLst>
          </p:cNvPr>
          <p:cNvSpPr>
            <a:spLocks noGrp="1"/>
          </p:cNvSpPr>
          <p:nvPr/>
        </p:nvSpPr>
        <p:spPr>
          <a:xfrm>
            <a:off x="5486400" y="4901184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33C236DA-DAAE-4368-8B46-6A15B927BA6F}"/>
              </a:ext>
            </a:extLst>
          </p:cNvPr>
          <p:cNvSpPr>
            <a:spLocks noGrp="1"/>
          </p:cNvSpPr>
          <p:nvPr/>
        </p:nvSpPr>
        <p:spPr>
          <a:xfrm>
            <a:off x="5486400" y="4892040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1AD3B5B7-19E5-4D96-85F8-258750615E87}"/>
              </a:ext>
            </a:extLst>
          </p:cNvPr>
          <p:cNvSpPr>
            <a:spLocks noGrp="1"/>
          </p:cNvSpPr>
          <p:nvPr/>
        </p:nvSpPr>
        <p:spPr>
          <a:xfrm>
            <a:off x="548640" y="5138928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D7955DA8-6DF1-44E9-9D31-D6CD2D3692EA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examples/07_long_parameter_list.py</a:t>
            </a:r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A0121730-3353-4137-BD06-364E4BA294EB}"/>
              </a:ext>
            </a:extLst>
          </p:cNvPr>
          <p:cNvSpPr>
            <a:spLocks noGrp="1"/>
          </p:cNvSpPr>
          <p:nvPr/>
        </p:nvSpPr>
        <p:spPr>
          <a:xfrm>
            <a:off x="3977640" y="513892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Long Params</a:t>
            </a:r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35E82BD3-7920-491F-9CB1-55A926AA0C6A}"/>
              </a:ext>
            </a:extLst>
          </p:cNvPr>
          <p:cNvSpPr>
            <a:spLocks noGrp="1"/>
          </p:cNvSpPr>
          <p:nvPr/>
        </p:nvSpPr>
        <p:spPr>
          <a:xfrm>
            <a:off x="5486400" y="5193792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418B637C-D829-4FB1-B8E8-342C9A770256}"/>
              </a:ext>
            </a:extLst>
          </p:cNvPr>
          <p:cNvSpPr>
            <a:spLocks noGrp="1"/>
          </p:cNvSpPr>
          <p:nvPr/>
        </p:nvSpPr>
        <p:spPr>
          <a:xfrm>
            <a:off x="5486400" y="5184648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33F684DB-80FD-45BF-94B1-23A870A40961}"/>
              </a:ext>
            </a:extLst>
          </p:cNvPr>
          <p:cNvSpPr>
            <a:spLocks noGrp="1"/>
          </p:cNvSpPr>
          <p:nvPr/>
        </p:nvSpPr>
        <p:spPr>
          <a:xfrm>
            <a:off x="548640" y="5431536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FCF56427-2E6C-4AF4-A95D-87B14E97050D}"/>
              </a:ext>
            </a:extLst>
          </p:cNvPr>
          <p:cNvSpPr>
            <a:spLocks noGrp="1"/>
          </p:cNvSpPr>
          <p:nvPr/>
        </p:nvSpPr>
        <p:spPr>
          <a:xfrm>
            <a:off x="640080" y="543153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examples/08_god_class.py</a:t>
            </a: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BCB85CA1-C60C-4047-8419-194DABBD711B}"/>
              </a:ext>
            </a:extLst>
          </p:cNvPr>
          <p:cNvSpPr>
            <a:spLocks noGrp="1"/>
          </p:cNvSpPr>
          <p:nvPr/>
        </p:nvSpPr>
        <p:spPr>
          <a:xfrm>
            <a:off x="3977640" y="5431536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God Class</a:t>
            </a: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5C949BA5-29BA-4573-AB87-3E366BE4FBD8}"/>
              </a:ext>
            </a:extLst>
          </p:cNvPr>
          <p:cNvSpPr>
            <a:spLocks noGrp="1"/>
          </p:cNvSpPr>
          <p:nvPr/>
        </p:nvSpPr>
        <p:spPr>
          <a:xfrm>
            <a:off x="5486400" y="5486400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3F51EB83-C6C0-46DD-939E-9878EB2FCC08}"/>
              </a:ext>
            </a:extLst>
          </p:cNvPr>
          <p:cNvSpPr>
            <a:spLocks noGrp="1"/>
          </p:cNvSpPr>
          <p:nvPr/>
        </p:nvSpPr>
        <p:spPr>
          <a:xfrm>
            <a:off x="5486400" y="5477256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AD7253D6-DDDB-428A-84E8-A54821B1835C}"/>
              </a:ext>
            </a:extLst>
          </p:cNvPr>
          <p:cNvSpPr>
            <a:spLocks noGrp="1"/>
          </p:cNvSpPr>
          <p:nvPr/>
        </p:nvSpPr>
        <p:spPr>
          <a:xfrm>
            <a:off x="548640" y="5724144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DE845E5B-8A2C-46BA-8F45-CAFAC9F1FAE5}"/>
              </a:ext>
            </a:extLst>
          </p:cNvPr>
          <p:cNvSpPr>
            <a:spLocks noGrp="1"/>
          </p:cNvSpPr>
          <p:nvPr/>
        </p:nvSpPr>
        <p:spPr>
          <a:xfrm>
            <a:off x="640080" y="572414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examples/09_tight_coupling.py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8A2F7780-BE94-467B-80FF-F61102843973}"/>
              </a:ext>
            </a:extLst>
          </p:cNvPr>
          <p:cNvSpPr>
            <a:spLocks noGrp="1"/>
          </p:cNvSpPr>
          <p:nvPr/>
        </p:nvSpPr>
        <p:spPr>
          <a:xfrm>
            <a:off x="3977640" y="572414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Tight Coupling</a:t>
            </a:r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D3A3D9FE-4646-4F17-82F7-66FB2AC56554}"/>
              </a:ext>
            </a:extLst>
          </p:cNvPr>
          <p:cNvSpPr>
            <a:spLocks noGrp="1"/>
          </p:cNvSpPr>
          <p:nvPr/>
        </p:nvSpPr>
        <p:spPr>
          <a:xfrm>
            <a:off x="5486400" y="5779008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282CE434-F4CE-45D0-B9A7-7278A0655FC9}"/>
              </a:ext>
            </a:extLst>
          </p:cNvPr>
          <p:cNvSpPr>
            <a:spLocks noGrp="1"/>
          </p:cNvSpPr>
          <p:nvPr/>
        </p:nvSpPr>
        <p:spPr>
          <a:xfrm>
            <a:off x="5486400" y="5769864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4DC15CAB-B631-4156-9943-8CEAF43279FF}"/>
              </a:ext>
            </a:extLst>
          </p:cNvPr>
          <p:cNvSpPr>
            <a:spLocks noGrp="1"/>
          </p:cNvSpPr>
          <p:nvPr/>
        </p:nvSpPr>
        <p:spPr>
          <a:xfrm>
            <a:off x="548640" y="6016752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0C54D7C0-8F83-4215-AA75-54DC943DD80F}"/>
              </a:ext>
            </a:extLst>
          </p:cNvPr>
          <p:cNvSpPr>
            <a:spLocks noGrp="1"/>
          </p:cNvSpPr>
          <p:nvPr/>
        </p:nvSpPr>
        <p:spPr>
          <a:xfrm>
            <a:off x="640080" y="601675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examples/10_duplicated_code.py</a:t>
            </a:r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4E720DEB-4377-4728-AFB1-35C470E5CB9D}"/>
              </a:ext>
            </a:extLst>
          </p:cNvPr>
          <p:cNvSpPr>
            <a:spLocks noGrp="1"/>
          </p:cNvSpPr>
          <p:nvPr/>
        </p:nvSpPr>
        <p:spPr>
          <a:xfrm>
            <a:off x="3977640" y="601675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Duplicated</a:t>
            </a:r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15DDCFE9-7257-4F7A-955D-3BA2F433C0C4}"/>
              </a:ext>
            </a:extLst>
          </p:cNvPr>
          <p:cNvSpPr>
            <a:spLocks noGrp="1"/>
          </p:cNvSpPr>
          <p:nvPr/>
        </p:nvSpPr>
        <p:spPr>
          <a:xfrm>
            <a:off x="5486400" y="6071616"/>
            <a:ext cx="5029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804D7660-085E-4678-81EF-06C76554ABC7}"/>
              </a:ext>
            </a:extLst>
          </p:cNvPr>
          <p:cNvSpPr>
            <a:spLocks noGrp="1"/>
          </p:cNvSpPr>
          <p:nvPr/>
        </p:nvSpPr>
        <p:spPr>
          <a:xfrm>
            <a:off x="5486400" y="6062472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20FCD7CE-A15E-4B07-BFC7-1E19D3F9F901}"/>
              </a:ext>
            </a:extLst>
          </p:cNvPr>
          <p:cNvSpPr>
            <a:spLocks noGrp="1"/>
          </p:cNvSpPr>
          <p:nvPr/>
        </p:nvSpPr>
        <p:spPr>
          <a:xfrm>
            <a:off x="6263640" y="3383280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DAAC1402-A709-448E-BC55-E5A8AC3DEEC0}"/>
              </a:ext>
            </a:extLst>
          </p:cNvPr>
          <p:cNvSpPr>
            <a:spLocks noGrp="1"/>
          </p:cNvSpPr>
          <p:nvPr/>
        </p:nvSpPr>
        <p:spPr>
          <a:xfrm>
            <a:off x="6355080" y="33832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clean/clean_01_dict_dispatch.py</a:t>
            </a: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DD25F62D-14B1-48FE-A81B-5C5566579090}"/>
              </a:ext>
            </a:extLst>
          </p:cNvPr>
          <p:cNvSpPr>
            <a:spLocks noGrp="1"/>
          </p:cNvSpPr>
          <p:nvPr/>
        </p:nvSpPr>
        <p:spPr>
          <a:xfrm>
            <a:off x="9692640" y="33832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76" name="Shape 74">
            <a:extLst>
              <a:ext uri="{FF2B5EF4-FFF2-40B4-BE49-F238E27FC236}">
                <a16:creationId xmlns:a16="http://schemas.microsoft.com/office/drawing/2014/main" id="{5598776D-52D6-4F41-8FB4-7A81594D5101}"/>
              </a:ext>
            </a:extLst>
          </p:cNvPr>
          <p:cNvSpPr>
            <a:spLocks noGrp="1"/>
          </p:cNvSpPr>
          <p:nvPr/>
        </p:nvSpPr>
        <p:spPr>
          <a:xfrm>
            <a:off x="11201400" y="3438144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5A7F8EAE-E8FE-4175-AD65-65D73942DCA6}"/>
              </a:ext>
            </a:extLst>
          </p:cNvPr>
          <p:cNvSpPr>
            <a:spLocks noGrp="1"/>
          </p:cNvSpPr>
          <p:nvPr/>
        </p:nvSpPr>
        <p:spPr>
          <a:xfrm>
            <a:off x="11201400" y="3429000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7CC526EA-491C-479C-B3F3-CE716A68CB78}"/>
              </a:ext>
            </a:extLst>
          </p:cNvPr>
          <p:cNvSpPr>
            <a:spLocks noGrp="1"/>
          </p:cNvSpPr>
          <p:nvPr/>
        </p:nvSpPr>
        <p:spPr>
          <a:xfrm>
            <a:off x="6263640" y="3675888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F8C88A3B-68C0-4589-8D55-EEFB5C2A27B3}"/>
              </a:ext>
            </a:extLst>
          </p:cNvPr>
          <p:cNvSpPr>
            <a:spLocks noGrp="1"/>
          </p:cNvSpPr>
          <p:nvPr/>
        </p:nvSpPr>
        <p:spPr>
          <a:xfrm>
            <a:off x="6355080" y="367588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clean/clean_02_parameter_object.py</a:t>
            </a:r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770C7747-BA9F-47C2-BC07-82F766510BEE}"/>
              </a:ext>
            </a:extLst>
          </p:cNvPr>
          <p:cNvSpPr>
            <a:spLocks noGrp="1"/>
          </p:cNvSpPr>
          <p:nvPr/>
        </p:nvSpPr>
        <p:spPr>
          <a:xfrm>
            <a:off x="9692640" y="367588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924AAEF3-AE26-4982-972A-FA08B891546A}"/>
              </a:ext>
            </a:extLst>
          </p:cNvPr>
          <p:cNvSpPr>
            <a:spLocks noGrp="1"/>
          </p:cNvSpPr>
          <p:nvPr/>
        </p:nvSpPr>
        <p:spPr>
          <a:xfrm>
            <a:off x="11201400" y="3730752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85186C5E-8927-4F9B-8B26-132DA638FCA7}"/>
              </a:ext>
            </a:extLst>
          </p:cNvPr>
          <p:cNvSpPr>
            <a:spLocks noGrp="1"/>
          </p:cNvSpPr>
          <p:nvPr/>
        </p:nvSpPr>
        <p:spPr>
          <a:xfrm>
            <a:off x="11201400" y="3721608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F6ADF681-F5DA-45BB-8D2A-C6A9D58E3655}"/>
              </a:ext>
            </a:extLst>
          </p:cNvPr>
          <p:cNvSpPr>
            <a:spLocks noGrp="1"/>
          </p:cNvSpPr>
          <p:nvPr/>
        </p:nvSpPr>
        <p:spPr>
          <a:xfrm>
            <a:off x="6263640" y="3968496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2321FCDE-3E33-46D5-A28B-145B9F0923DC}"/>
              </a:ext>
            </a:extLst>
          </p:cNvPr>
          <p:cNvSpPr>
            <a:spLocks noGrp="1"/>
          </p:cNvSpPr>
          <p:nvPr/>
        </p:nvSpPr>
        <p:spPr>
          <a:xfrm>
            <a:off x="6355080" y="396849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clean/clean_03_focused_class.py</a:t>
            </a:r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49E5CDEE-0929-48CC-A0DC-98B0E985BB09}"/>
              </a:ext>
            </a:extLst>
          </p:cNvPr>
          <p:cNvSpPr>
            <a:spLocks noGrp="1"/>
          </p:cNvSpPr>
          <p:nvPr/>
        </p:nvSpPr>
        <p:spPr>
          <a:xfrm>
            <a:off x="9692640" y="3968496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86" name="Shape 84">
            <a:extLst>
              <a:ext uri="{FF2B5EF4-FFF2-40B4-BE49-F238E27FC236}">
                <a16:creationId xmlns:a16="http://schemas.microsoft.com/office/drawing/2014/main" id="{9E6A130E-2B17-4029-AA13-745665FBA8B1}"/>
              </a:ext>
            </a:extLst>
          </p:cNvPr>
          <p:cNvSpPr>
            <a:spLocks noGrp="1"/>
          </p:cNvSpPr>
          <p:nvPr/>
        </p:nvSpPr>
        <p:spPr>
          <a:xfrm>
            <a:off x="11201400" y="4023360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>
            <a:extLst>
              <a:ext uri="{FF2B5EF4-FFF2-40B4-BE49-F238E27FC236}">
                <a16:creationId xmlns:a16="http://schemas.microsoft.com/office/drawing/2014/main" id="{A1F49076-B38D-418C-A5ED-858B9FAA59C5}"/>
              </a:ext>
            </a:extLst>
          </p:cNvPr>
          <p:cNvSpPr>
            <a:spLocks noGrp="1"/>
          </p:cNvSpPr>
          <p:nvPr/>
        </p:nvSpPr>
        <p:spPr>
          <a:xfrm>
            <a:off x="11201400" y="4014216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8" name="Shape 86">
            <a:extLst>
              <a:ext uri="{FF2B5EF4-FFF2-40B4-BE49-F238E27FC236}">
                <a16:creationId xmlns:a16="http://schemas.microsoft.com/office/drawing/2014/main" id="{90F4A613-9843-4215-9B06-430293ACF2F4}"/>
              </a:ext>
            </a:extLst>
          </p:cNvPr>
          <p:cNvSpPr>
            <a:spLocks noGrp="1"/>
          </p:cNvSpPr>
          <p:nvPr/>
        </p:nvSpPr>
        <p:spPr>
          <a:xfrm>
            <a:off x="6263640" y="4261104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0DABC9B7-CB7C-45F6-B284-0FF87468A41E}"/>
              </a:ext>
            </a:extLst>
          </p:cNvPr>
          <p:cNvSpPr>
            <a:spLocks noGrp="1"/>
          </p:cNvSpPr>
          <p:nvPr/>
        </p:nvSpPr>
        <p:spPr>
          <a:xfrm>
            <a:off x="6355080" y="426110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clean/clean_04_injected_dependency.py</a:t>
            </a:r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99D42696-2E1E-492E-AEEF-16D992D47E1F}"/>
              </a:ext>
            </a:extLst>
          </p:cNvPr>
          <p:cNvSpPr>
            <a:spLocks noGrp="1"/>
          </p:cNvSpPr>
          <p:nvPr/>
        </p:nvSpPr>
        <p:spPr>
          <a:xfrm>
            <a:off x="9692640" y="426110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91" name="Shape 89">
            <a:extLst>
              <a:ext uri="{FF2B5EF4-FFF2-40B4-BE49-F238E27FC236}">
                <a16:creationId xmlns:a16="http://schemas.microsoft.com/office/drawing/2014/main" id="{562E4FF8-5E25-498D-80CF-BF2C020B3132}"/>
              </a:ext>
            </a:extLst>
          </p:cNvPr>
          <p:cNvSpPr>
            <a:spLocks noGrp="1"/>
          </p:cNvSpPr>
          <p:nvPr/>
        </p:nvSpPr>
        <p:spPr>
          <a:xfrm>
            <a:off x="11201400" y="4315968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F747F449-B9B1-4DD7-B33C-839EB588AE51}"/>
              </a:ext>
            </a:extLst>
          </p:cNvPr>
          <p:cNvSpPr>
            <a:spLocks noGrp="1"/>
          </p:cNvSpPr>
          <p:nvPr/>
        </p:nvSpPr>
        <p:spPr>
          <a:xfrm>
            <a:off x="11201400" y="4306824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6E813A64-D1C2-4315-AB62-27A136F15D4B}"/>
              </a:ext>
            </a:extLst>
          </p:cNvPr>
          <p:cNvSpPr>
            <a:spLocks noGrp="1"/>
          </p:cNvSpPr>
          <p:nvPr/>
        </p:nvSpPr>
        <p:spPr>
          <a:xfrm>
            <a:off x="6263640" y="4553712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51969032-2DDD-4B35-843D-7C1A6E2E2694}"/>
              </a:ext>
            </a:extLst>
          </p:cNvPr>
          <p:cNvSpPr>
            <a:spLocks noGrp="1"/>
          </p:cNvSpPr>
          <p:nvPr/>
        </p:nvSpPr>
        <p:spPr>
          <a:xfrm>
            <a:off x="6355080" y="455371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clean/clean_05_template_method.py</a:t>
            </a: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B90BBBDD-79BB-4139-B04B-9BBBCE0828D8}"/>
              </a:ext>
            </a:extLst>
          </p:cNvPr>
          <p:cNvSpPr>
            <a:spLocks noGrp="1"/>
          </p:cNvSpPr>
          <p:nvPr/>
        </p:nvSpPr>
        <p:spPr>
          <a:xfrm>
            <a:off x="9692640" y="45537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96" name="Shape 94">
            <a:extLst>
              <a:ext uri="{FF2B5EF4-FFF2-40B4-BE49-F238E27FC236}">
                <a16:creationId xmlns:a16="http://schemas.microsoft.com/office/drawing/2014/main" id="{E8C89315-084D-4E71-AB05-58F8F1AB04DB}"/>
              </a:ext>
            </a:extLst>
          </p:cNvPr>
          <p:cNvSpPr>
            <a:spLocks noGrp="1"/>
          </p:cNvSpPr>
          <p:nvPr/>
        </p:nvSpPr>
        <p:spPr>
          <a:xfrm>
            <a:off x="11201400" y="4608576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0B4144F6-C8D2-4DFE-9BEC-12B404258F41}"/>
              </a:ext>
            </a:extLst>
          </p:cNvPr>
          <p:cNvSpPr>
            <a:spLocks noGrp="1"/>
          </p:cNvSpPr>
          <p:nvPr/>
        </p:nvSpPr>
        <p:spPr>
          <a:xfrm>
            <a:off x="11201400" y="4599432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8" name="Shape 96">
            <a:extLst>
              <a:ext uri="{FF2B5EF4-FFF2-40B4-BE49-F238E27FC236}">
                <a16:creationId xmlns:a16="http://schemas.microsoft.com/office/drawing/2014/main" id="{1EA87C44-5B0C-45FF-B4B3-5E86EAD30EBB}"/>
              </a:ext>
            </a:extLst>
          </p:cNvPr>
          <p:cNvSpPr>
            <a:spLocks noGrp="1"/>
          </p:cNvSpPr>
          <p:nvPr/>
        </p:nvSpPr>
        <p:spPr>
          <a:xfrm>
            <a:off x="6263640" y="4846320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>
            <a:extLst>
              <a:ext uri="{FF2B5EF4-FFF2-40B4-BE49-F238E27FC236}">
                <a16:creationId xmlns:a16="http://schemas.microsoft.com/office/drawing/2014/main" id="{EFCE5688-DF49-4854-B803-1B9C60B3A8D4}"/>
              </a:ext>
            </a:extLst>
          </p:cNvPr>
          <p:cNvSpPr>
            <a:spLocks noGrp="1"/>
          </p:cNvSpPr>
          <p:nvPr/>
        </p:nvSpPr>
        <p:spPr>
          <a:xfrm>
            <a:off x="6355080" y="48463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clean/clean_06_pure_functions.py</a:t>
            </a:r>
          </a:p>
        </p:txBody>
      </p:sp>
      <p:sp>
        <p:nvSpPr>
          <p:cNvPr id="100" name="Text 98">
            <a:extLst>
              <a:ext uri="{FF2B5EF4-FFF2-40B4-BE49-F238E27FC236}">
                <a16:creationId xmlns:a16="http://schemas.microsoft.com/office/drawing/2014/main" id="{56BF75AE-84A4-4C6C-99F3-AB69ABF809EB}"/>
              </a:ext>
            </a:extLst>
          </p:cNvPr>
          <p:cNvSpPr>
            <a:spLocks noGrp="1"/>
          </p:cNvSpPr>
          <p:nvPr/>
        </p:nvSpPr>
        <p:spPr>
          <a:xfrm>
            <a:off x="9692640" y="48463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01" name="Shape 99">
            <a:extLst>
              <a:ext uri="{FF2B5EF4-FFF2-40B4-BE49-F238E27FC236}">
                <a16:creationId xmlns:a16="http://schemas.microsoft.com/office/drawing/2014/main" id="{271FBEFC-DE9F-40AA-9871-421567AAF49F}"/>
              </a:ext>
            </a:extLst>
          </p:cNvPr>
          <p:cNvSpPr>
            <a:spLocks noGrp="1"/>
          </p:cNvSpPr>
          <p:nvPr/>
        </p:nvSpPr>
        <p:spPr>
          <a:xfrm>
            <a:off x="11201400" y="4901184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Text 100">
            <a:extLst>
              <a:ext uri="{FF2B5EF4-FFF2-40B4-BE49-F238E27FC236}">
                <a16:creationId xmlns:a16="http://schemas.microsoft.com/office/drawing/2014/main" id="{C30FA841-4970-458F-A35D-E593BD7F70DD}"/>
              </a:ext>
            </a:extLst>
          </p:cNvPr>
          <p:cNvSpPr>
            <a:spLocks noGrp="1"/>
          </p:cNvSpPr>
          <p:nvPr/>
        </p:nvSpPr>
        <p:spPr>
          <a:xfrm>
            <a:off x="11201400" y="4892040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3" name="Shape 101">
            <a:extLst>
              <a:ext uri="{FF2B5EF4-FFF2-40B4-BE49-F238E27FC236}">
                <a16:creationId xmlns:a16="http://schemas.microsoft.com/office/drawing/2014/main" id="{B35A4FA3-52B0-4B63-8B7E-B489F54D53D3}"/>
              </a:ext>
            </a:extLst>
          </p:cNvPr>
          <p:cNvSpPr>
            <a:spLocks noGrp="1"/>
          </p:cNvSpPr>
          <p:nvPr/>
        </p:nvSpPr>
        <p:spPr>
          <a:xfrm>
            <a:off x="6263640" y="5138928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>
            <a:extLst>
              <a:ext uri="{FF2B5EF4-FFF2-40B4-BE49-F238E27FC236}">
                <a16:creationId xmlns:a16="http://schemas.microsoft.com/office/drawing/2014/main" id="{0E34A731-8C47-4726-B9BC-A738C2E6F376}"/>
              </a:ext>
            </a:extLst>
          </p:cNvPr>
          <p:cNvSpPr>
            <a:spLocks noGrp="1"/>
          </p:cNvSpPr>
          <p:nvPr/>
        </p:nvSpPr>
        <p:spPr>
          <a:xfrm>
            <a:off x="6355080" y="51389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clean/clean_07_short_switch.py</a:t>
            </a:r>
          </a:p>
        </p:txBody>
      </p:sp>
      <p:sp>
        <p:nvSpPr>
          <p:cNvPr id="105" name="Text 103">
            <a:extLst>
              <a:ext uri="{FF2B5EF4-FFF2-40B4-BE49-F238E27FC236}">
                <a16:creationId xmlns:a16="http://schemas.microsoft.com/office/drawing/2014/main" id="{47E52DE3-C334-40CE-AABD-3C6A481608FA}"/>
              </a:ext>
            </a:extLst>
          </p:cNvPr>
          <p:cNvSpPr>
            <a:spLocks noGrp="1"/>
          </p:cNvSpPr>
          <p:nvPr/>
        </p:nvSpPr>
        <p:spPr>
          <a:xfrm>
            <a:off x="9692640" y="513892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06" name="Shape 104">
            <a:extLst>
              <a:ext uri="{FF2B5EF4-FFF2-40B4-BE49-F238E27FC236}">
                <a16:creationId xmlns:a16="http://schemas.microsoft.com/office/drawing/2014/main" id="{46F8CB62-6E2D-40A1-BB76-21A035AABAFB}"/>
              </a:ext>
            </a:extLst>
          </p:cNvPr>
          <p:cNvSpPr>
            <a:spLocks noGrp="1"/>
          </p:cNvSpPr>
          <p:nvPr/>
        </p:nvSpPr>
        <p:spPr>
          <a:xfrm>
            <a:off x="11201400" y="5193792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Text 105">
            <a:extLst>
              <a:ext uri="{FF2B5EF4-FFF2-40B4-BE49-F238E27FC236}">
                <a16:creationId xmlns:a16="http://schemas.microsoft.com/office/drawing/2014/main" id="{8D0CDF41-F7D9-4F0D-8D6F-1F9EA1F318BC}"/>
              </a:ext>
            </a:extLst>
          </p:cNvPr>
          <p:cNvSpPr>
            <a:spLocks noGrp="1"/>
          </p:cNvSpPr>
          <p:nvPr/>
        </p:nvSpPr>
        <p:spPr>
          <a:xfrm>
            <a:off x="11201400" y="5184648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8" name="Shape 106">
            <a:extLst>
              <a:ext uri="{FF2B5EF4-FFF2-40B4-BE49-F238E27FC236}">
                <a16:creationId xmlns:a16="http://schemas.microsoft.com/office/drawing/2014/main" id="{4A7B39B4-A3D4-443B-B3BD-DADDE5756A9C}"/>
              </a:ext>
            </a:extLst>
          </p:cNvPr>
          <p:cNvSpPr>
            <a:spLocks noGrp="1"/>
          </p:cNvSpPr>
          <p:nvPr/>
        </p:nvSpPr>
        <p:spPr>
          <a:xfrm>
            <a:off x="6263640" y="5431536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Text 107">
            <a:extLst>
              <a:ext uri="{FF2B5EF4-FFF2-40B4-BE49-F238E27FC236}">
                <a16:creationId xmlns:a16="http://schemas.microsoft.com/office/drawing/2014/main" id="{09059135-53AE-4BDA-95D7-3A5FE9C04CBF}"/>
              </a:ext>
            </a:extLst>
          </p:cNvPr>
          <p:cNvSpPr>
            <a:spLocks noGrp="1"/>
          </p:cNvSpPr>
          <p:nvPr/>
        </p:nvSpPr>
        <p:spPr>
          <a:xfrm>
            <a:off x="6355080" y="543153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clean/clean_08_validator.py</a:t>
            </a:r>
          </a:p>
        </p:txBody>
      </p:sp>
      <p:sp>
        <p:nvSpPr>
          <p:cNvPr id="110" name="Text 108">
            <a:extLst>
              <a:ext uri="{FF2B5EF4-FFF2-40B4-BE49-F238E27FC236}">
                <a16:creationId xmlns:a16="http://schemas.microsoft.com/office/drawing/2014/main" id="{75E24CA8-4E37-4A7B-B45C-10107C667844}"/>
              </a:ext>
            </a:extLst>
          </p:cNvPr>
          <p:cNvSpPr>
            <a:spLocks noGrp="1"/>
          </p:cNvSpPr>
          <p:nvPr/>
        </p:nvSpPr>
        <p:spPr>
          <a:xfrm>
            <a:off x="9692640" y="5431536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11" name="Shape 109">
            <a:extLst>
              <a:ext uri="{FF2B5EF4-FFF2-40B4-BE49-F238E27FC236}">
                <a16:creationId xmlns:a16="http://schemas.microsoft.com/office/drawing/2014/main" id="{2D5BDB5A-BC71-40CB-88C1-37E8DC393B7D}"/>
              </a:ext>
            </a:extLst>
          </p:cNvPr>
          <p:cNvSpPr>
            <a:spLocks noGrp="1"/>
          </p:cNvSpPr>
          <p:nvPr/>
        </p:nvSpPr>
        <p:spPr>
          <a:xfrm>
            <a:off x="11201400" y="5486400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Text 110">
            <a:extLst>
              <a:ext uri="{FF2B5EF4-FFF2-40B4-BE49-F238E27FC236}">
                <a16:creationId xmlns:a16="http://schemas.microsoft.com/office/drawing/2014/main" id="{27A09E37-BF1F-4A75-AA57-358AF525AB21}"/>
              </a:ext>
            </a:extLst>
          </p:cNvPr>
          <p:cNvSpPr>
            <a:spLocks noGrp="1"/>
          </p:cNvSpPr>
          <p:nvPr/>
        </p:nvSpPr>
        <p:spPr>
          <a:xfrm>
            <a:off x="11201400" y="5477256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13" name="Shape 111">
            <a:extLst>
              <a:ext uri="{FF2B5EF4-FFF2-40B4-BE49-F238E27FC236}">
                <a16:creationId xmlns:a16="http://schemas.microsoft.com/office/drawing/2014/main" id="{8CB45808-D286-45C4-BB8B-24CA74A568F4}"/>
              </a:ext>
            </a:extLst>
          </p:cNvPr>
          <p:cNvSpPr>
            <a:spLocks noGrp="1"/>
          </p:cNvSpPr>
          <p:nvPr/>
        </p:nvSpPr>
        <p:spPr>
          <a:xfrm>
            <a:off x="6263640" y="5724144"/>
            <a:ext cx="55321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4" name="Text 112">
            <a:extLst>
              <a:ext uri="{FF2B5EF4-FFF2-40B4-BE49-F238E27FC236}">
                <a16:creationId xmlns:a16="http://schemas.microsoft.com/office/drawing/2014/main" id="{5F011D3C-FDEC-431C-9779-65EBF99B28BC}"/>
              </a:ext>
            </a:extLst>
          </p:cNvPr>
          <p:cNvSpPr>
            <a:spLocks noGrp="1"/>
          </p:cNvSpPr>
          <p:nvPr/>
        </p:nvSpPr>
        <p:spPr>
          <a:xfrm>
            <a:off x="6355080" y="572414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clean/clean_09_value_object.py</a:t>
            </a:r>
          </a:p>
        </p:txBody>
      </p:sp>
      <p:sp>
        <p:nvSpPr>
          <p:cNvPr id="115" name="Text 113">
            <a:extLst>
              <a:ext uri="{FF2B5EF4-FFF2-40B4-BE49-F238E27FC236}">
                <a16:creationId xmlns:a16="http://schemas.microsoft.com/office/drawing/2014/main" id="{89B500BA-C9C5-4A55-9468-4499C53BA7FE}"/>
              </a:ext>
            </a:extLst>
          </p:cNvPr>
          <p:cNvSpPr>
            <a:spLocks noGrp="1"/>
          </p:cNvSpPr>
          <p:nvPr/>
        </p:nvSpPr>
        <p:spPr>
          <a:xfrm>
            <a:off x="9692640" y="572414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16" name="Shape 114">
            <a:extLst>
              <a:ext uri="{FF2B5EF4-FFF2-40B4-BE49-F238E27FC236}">
                <a16:creationId xmlns:a16="http://schemas.microsoft.com/office/drawing/2014/main" id="{D9E262F0-6050-4B8C-8DF3-D1B5CE4A1B65}"/>
              </a:ext>
            </a:extLst>
          </p:cNvPr>
          <p:cNvSpPr>
            <a:spLocks noGrp="1"/>
          </p:cNvSpPr>
          <p:nvPr/>
        </p:nvSpPr>
        <p:spPr>
          <a:xfrm>
            <a:off x="11201400" y="5779008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7" name="Text 115">
            <a:extLst>
              <a:ext uri="{FF2B5EF4-FFF2-40B4-BE49-F238E27FC236}">
                <a16:creationId xmlns:a16="http://schemas.microsoft.com/office/drawing/2014/main" id="{345CB553-0D3B-42DB-B53D-A9D364733284}"/>
              </a:ext>
            </a:extLst>
          </p:cNvPr>
          <p:cNvSpPr>
            <a:spLocks noGrp="1"/>
          </p:cNvSpPr>
          <p:nvPr/>
        </p:nvSpPr>
        <p:spPr>
          <a:xfrm>
            <a:off x="11201400" y="5769864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18" name="Shape 116">
            <a:extLst>
              <a:ext uri="{FF2B5EF4-FFF2-40B4-BE49-F238E27FC236}">
                <a16:creationId xmlns:a16="http://schemas.microsoft.com/office/drawing/2014/main" id="{C2A07626-88A2-4598-BD3E-D3F99EFC7C69}"/>
              </a:ext>
            </a:extLst>
          </p:cNvPr>
          <p:cNvSpPr>
            <a:spLocks noGrp="1"/>
          </p:cNvSpPr>
          <p:nvPr/>
        </p:nvSpPr>
        <p:spPr>
          <a:xfrm>
            <a:off x="6263640" y="6016752"/>
            <a:ext cx="5532120" cy="274320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9" name="Text 117">
            <a:extLst>
              <a:ext uri="{FF2B5EF4-FFF2-40B4-BE49-F238E27FC236}">
                <a16:creationId xmlns:a16="http://schemas.microsoft.com/office/drawing/2014/main" id="{F5FD787C-2A94-400A-8ACB-71497CC96581}"/>
              </a:ext>
            </a:extLst>
          </p:cNvPr>
          <p:cNvSpPr>
            <a:spLocks noGrp="1"/>
          </p:cNvSpPr>
          <p:nvPr/>
        </p:nvSpPr>
        <p:spPr>
          <a:xfrm>
            <a:off x="6355080" y="601675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clean/clean_10_repository_protocol.py</a:t>
            </a:r>
          </a:p>
        </p:txBody>
      </p:sp>
      <p:sp>
        <p:nvSpPr>
          <p:cNvPr id="120" name="Text 118">
            <a:extLst>
              <a:ext uri="{FF2B5EF4-FFF2-40B4-BE49-F238E27FC236}">
                <a16:creationId xmlns:a16="http://schemas.microsoft.com/office/drawing/2014/main" id="{7F85AA3B-6928-404F-8BBC-529B637233EB}"/>
              </a:ext>
            </a:extLst>
          </p:cNvPr>
          <p:cNvSpPr>
            <a:spLocks noGrp="1"/>
          </p:cNvSpPr>
          <p:nvPr/>
        </p:nvSpPr>
        <p:spPr>
          <a:xfrm>
            <a:off x="9692640" y="601675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21" name="Shape 119">
            <a:extLst>
              <a:ext uri="{FF2B5EF4-FFF2-40B4-BE49-F238E27FC236}">
                <a16:creationId xmlns:a16="http://schemas.microsoft.com/office/drawing/2014/main" id="{094F21D1-5163-4EC8-B105-1B665C83258F}"/>
              </a:ext>
            </a:extLst>
          </p:cNvPr>
          <p:cNvSpPr>
            <a:spLocks noGrp="1"/>
          </p:cNvSpPr>
          <p:nvPr/>
        </p:nvSpPr>
        <p:spPr>
          <a:xfrm>
            <a:off x="11201400" y="6071616"/>
            <a:ext cx="50292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2" name="Text 120">
            <a:extLst>
              <a:ext uri="{FF2B5EF4-FFF2-40B4-BE49-F238E27FC236}">
                <a16:creationId xmlns:a16="http://schemas.microsoft.com/office/drawing/2014/main" id="{BEB4C18C-BCD8-4DAE-8E94-CE7B6E0330E7}"/>
              </a:ext>
            </a:extLst>
          </p:cNvPr>
          <p:cNvSpPr>
            <a:spLocks noGrp="1"/>
          </p:cNvSpPr>
          <p:nvPr/>
        </p:nvSpPr>
        <p:spPr>
          <a:xfrm>
            <a:off x="11201400" y="6062472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23" name="Text 121">
            <a:extLst>
              <a:ext uri="{FF2B5EF4-FFF2-40B4-BE49-F238E27FC236}">
                <a16:creationId xmlns:a16="http://schemas.microsoft.com/office/drawing/2014/main" id="{6DDF10F3-5FA8-4ED2-AA9B-04352DA27B2D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124" name="Text 122">
            <a:extLst>
              <a:ext uri="{FF2B5EF4-FFF2-40B4-BE49-F238E27FC236}">
                <a16:creationId xmlns:a16="http://schemas.microsoft.com/office/drawing/2014/main" id="{3691B43D-7ADE-4EA8-8622-F07D4C8656BE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 / 24</a:t>
            </a:r>
          </a:p>
        </p:txBody>
      </p:sp>
    </p:spTree>
    <p:extLst>
      <p:ext uri="{BB962C8B-B14F-4D97-AF65-F5344CB8AC3E}">
        <p14:creationId xmlns:p14="http://schemas.microsoft.com/office/powerpoint/2010/main" val="2035102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6AE4263-ABFF-4ACF-8E8B-CF09CE6B9CE8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10 · ENDPOINT · REFACTOR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7B1822B-66B4-422C-A772-13F4674040BC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POST /api/v1/evaluate/refactor — 8/10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56A4C4A-D2A2-4F4B-BE6D-D2787BECA4B6}"/>
              </a:ext>
            </a:extLst>
          </p:cNvPr>
          <p:cNvSpPr>
            <a:spLocks noGrp="1"/>
          </p:cNvSpPr>
          <p:nvPr/>
        </p:nvSpPr>
        <p:spPr>
          <a:xfrm>
            <a:off x="548640" y="1627632"/>
            <a:ext cx="5029200" cy="329184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61D8F4F-FE1F-4778-8D06-80BE22A15983}"/>
              </a:ext>
            </a:extLst>
          </p:cNvPr>
          <p:cNvSpPr>
            <a:spLocks noGrp="1"/>
          </p:cNvSpPr>
          <p:nvPr/>
        </p:nvSpPr>
        <p:spPr>
          <a:xfrm>
            <a:off x="640080" y="16276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/api/v1/evaluate/refactor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97A803C-B465-4C7C-979C-78E13F1508FA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FC6B0B8-7563-4843-95B7-9C1D383267A2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73152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1AE78FB-4E10-4341-AFE7-40351BE11879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B2980F5-AC7A-4986-A833-75F35F9B4A80}"/>
              </a:ext>
            </a:extLst>
          </p:cNvPr>
          <p:cNvSpPr>
            <a:spLocks noGrp="1"/>
          </p:cNvSpPr>
          <p:nvPr/>
        </p:nvSpPr>
        <p:spPr>
          <a:xfrm>
            <a:off x="731520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0.800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F2B8B2F-83F3-45F7-AD09-18F97B14079F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380EFFF-7806-4047-A5AC-B3D5FBBC4C03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6B9A3F6-6402-427F-91BA-56A54372BC8C}"/>
              </a:ext>
            </a:extLst>
          </p:cNvPr>
          <p:cNvSpPr>
            <a:spLocks noGrp="1"/>
          </p:cNvSpPr>
          <p:nvPr/>
        </p:nvSpPr>
        <p:spPr>
          <a:xfrm>
            <a:off x="3593592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 OK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0716B41-46A1-4F1B-A29F-A471A3424796}"/>
              </a:ext>
            </a:extLst>
          </p:cNvPr>
          <p:cNvSpPr>
            <a:spLocks noGrp="1"/>
          </p:cNvSpPr>
          <p:nvPr/>
        </p:nvSpPr>
        <p:spPr>
          <a:xfrm>
            <a:off x="3593592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EBBAC92-BC8B-4639-A7D7-4FFBECFC65DE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4A072C9-A836-4DC0-B2AC-C5C6F589B9C8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8CAB519-CCFB-4396-8F9D-6B470D6253A1}"/>
              </a:ext>
            </a:extLst>
          </p:cNvPr>
          <p:cNvSpPr>
            <a:spLocks noGrp="1"/>
          </p:cNvSpPr>
          <p:nvPr/>
        </p:nvSpPr>
        <p:spPr>
          <a:xfrm>
            <a:off x="6455664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SINTAXE OK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B8763E5-010F-437B-B642-790575B3330F}"/>
              </a:ext>
            </a:extLst>
          </p:cNvPr>
          <p:cNvSpPr>
            <a:spLocks noGrp="1"/>
          </p:cNvSpPr>
          <p:nvPr/>
        </p:nvSpPr>
        <p:spPr>
          <a:xfrm>
            <a:off x="6455664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6A7F5D9-78FB-4A02-A181-5F8494251A5D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4CF149E-5115-44B0-8DA4-AB5FDEBA4A0E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73152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5621401-7F27-462F-8D0F-EDC7CCC5B0B1}"/>
              </a:ext>
            </a:extLst>
          </p:cNvPr>
          <p:cNvSpPr>
            <a:spLocks noGrp="1"/>
          </p:cNvSpPr>
          <p:nvPr/>
        </p:nvSpPr>
        <p:spPr>
          <a:xfrm>
            <a:off x="9317736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LOGIC PRESERVED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7F572D6-E20E-49D2-AB3C-576ABBFF44A2}"/>
              </a:ext>
            </a:extLst>
          </p:cNvPr>
          <p:cNvSpPr>
            <a:spLocks noGrp="1"/>
          </p:cNvSpPr>
          <p:nvPr/>
        </p:nvSpPr>
        <p:spPr>
          <a:xfrm>
            <a:off x="9317736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0.800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A00618E-D328-4C74-A0D0-C0557070C61E}"/>
              </a:ext>
            </a:extLst>
          </p:cNvPr>
          <p:cNvSpPr>
            <a:spLocks noGrp="1"/>
          </p:cNvSpPr>
          <p:nvPr/>
        </p:nvSpPr>
        <p:spPr>
          <a:xfrm>
            <a:off x="548640" y="30632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(10 problemas) · pipeline_approved_rate=0.7 · avg_iterations=1.4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83EBDD0E-2F54-437B-B227-040B30E6F603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11064240" cy="292608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61AF019-97FD-4FD4-A606-66823915E8DB}"/>
              </a:ext>
            </a:extLst>
          </p:cNvPr>
          <p:cNvSpPr>
            <a:spLocks noGrp="1"/>
          </p:cNvSpPr>
          <p:nvPr/>
        </p:nvSpPr>
        <p:spPr>
          <a:xfrm>
            <a:off x="640080" y="338328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AFBF88A-C15D-4D1E-9BB0-4125838EE84A}"/>
              </a:ext>
            </a:extLst>
          </p:cNvPr>
          <p:cNvSpPr>
            <a:spLocks noGrp="1"/>
          </p:cNvSpPr>
          <p:nvPr/>
        </p:nvSpPr>
        <p:spPr>
          <a:xfrm>
            <a:off x="3840480" y="338328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848DC69-1125-4136-BAFD-E204AC936A89}"/>
              </a:ext>
            </a:extLst>
          </p:cNvPr>
          <p:cNvSpPr>
            <a:spLocks noGrp="1"/>
          </p:cNvSpPr>
          <p:nvPr/>
        </p:nvSpPr>
        <p:spPr>
          <a:xfrm>
            <a:off x="7040880" y="338328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applied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7EF3C9FA-D6D4-437C-91C5-0E6DF42B2C97}"/>
              </a:ext>
            </a:extLst>
          </p:cNvPr>
          <p:cNvSpPr>
            <a:spLocks noGrp="1"/>
          </p:cNvSpPr>
          <p:nvPr/>
        </p:nvSpPr>
        <p:spPr>
          <a:xfrm>
            <a:off x="9875520" y="338328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</a:t>
            </a: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1493CE0-DFFE-4BE5-A888-26F8B7F83FC5}"/>
              </a:ext>
            </a:extLst>
          </p:cNvPr>
          <p:cNvSpPr>
            <a:spLocks noGrp="1"/>
          </p:cNvSpPr>
          <p:nvPr/>
        </p:nvSpPr>
        <p:spPr>
          <a:xfrm>
            <a:off x="11018520" y="3383280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iter</a:t>
            </a: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FF6AED4F-3A40-43C9-9B4C-6B49727234F2}"/>
              </a:ext>
            </a:extLst>
          </p:cNvPr>
          <p:cNvSpPr>
            <a:spLocks noGrp="1"/>
          </p:cNvSpPr>
          <p:nvPr/>
        </p:nvSpPr>
        <p:spPr>
          <a:xfrm>
            <a:off x="548640" y="3703320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ED77F53-C58C-4529-B402-5EEECFBB1D73}"/>
              </a:ext>
            </a:extLst>
          </p:cNvPr>
          <p:cNvSpPr>
            <a:spLocks noGrp="1"/>
          </p:cNvSpPr>
          <p:nvPr/>
        </p:nvSpPr>
        <p:spPr>
          <a:xfrm>
            <a:off x="640080" y="3703320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01_complex_switch.py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503AD22-FF5D-4DF6-B9CD-93E9A3D51CC7}"/>
              </a:ext>
            </a:extLst>
          </p:cNvPr>
          <p:cNvSpPr>
            <a:spLocks noGrp="1"/>
          </p:cNvSpPr>
          <p:nvPr/>
        </p:nvSpPr>
        <p:spPr>
          <a:xfrm>
            <a:off x="3840480" y="3703320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AAC4844-2E4F-4A62-8F68-B4E8F9AC053C}"/>
              </a:ext>
            </a:extLst>
          </p:cNvPr>
          <p:cNvSpPr>
            <a:spLocks noGrp="1"/>
          </p:cNvSpPr>
          <p:nvPr/>
        </p:nvSpPr>
        <p:spPr>
          <a:xfrm>
            <a:off x="7040880" y="3703320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78346D6E-B76C-41D9-BD37-0911E6AB4A02}"/>
              </a:ext>
            </a:extLst>
          </p:cNvPr>
          <p:cNvSpPr>
            <a:spLocks noGrp="1"/>
          </p:cNvSpPr>
          <p:nvPr/>
        </p:nvSpPr>
        <p:spPr>
          <a:xfrm>
            <a:off x="9875520" y="3703320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DA42681-F194-4972-B8AA-AE8BB7B9A264}"/>
              </a:ext>
            </a:extLst>
          </p:cNvPr>
          <p:cNvSpPr>
            <a:spLocks noGrp="1"/>
          </p:cNvSpPr>
          <p:nvPr/>
        </p:nvSpPr>
        <p:spPr>
          <a:xfrm>
            <a:off x="11018520" y="3703320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7D43BA92-7C41-4D10-8739-FA65EB91B84C}"/>
              </a:ext>
            </a:extLst>
          </p:cNvPr>
          <p:cNvSpPr>
            <a:spLocks noGrp="1"/>
          </p:cNvSpPr>
          <p:nvPr/>
        </p:nvSpPr>
        <p:spPr>
          <a:xfrm>
            <a:off x="548640" y="3950208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D663CF57-E5EC-4B31-8CEF-1F38229718BF}"/>
              </a:ext>
            </a:extLst>
          </p:cNvPr>
          <p:cNvSpPr>
            <a:spLocks noGrp="1"/>
          </p:cNvSpPr>
          <p:nvPr/>
        </p:nvSpPr>
        <p:spPr>
          <a:xfrm>
            <a:off x="640080" y="3950208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02_long_parameter_list.py</a:t>
            </a: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B003898D-677C-49D7-B03F-DDD12E3D626C}"/>
              </a:ext>
            </a:extLst>
          </p:cNvPr>
          <p:cNvSpPr>
            <a:spLocks noGrp="1"/>
          </p:cNvSpPr>
          <p:nvPr/>
        </p:nvSpPr>
        <p:spPr>
          <a:xfrm>
            <a:off x="3840480" y="3950208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AD17B5B9-DFA9-4446-93A6-50F91EC07547}"/>
              </a:ext>
            </a:extLst>
          </p:cNvPr>
          <p:cNvSpPr>
            <a:spLocks noGrp="1"/>
          </p:cNvSpPr>
          <p:nvPr/>
        </p:nvSpPr>
        <p:spPr>
          <a:xfrm>
            <a:off x="7040880" y="3950208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5578863-19F4-49BA-BFE2-81CD20577BAD}"/>
              </a:ext>
            </a:extLst>
          </p:cNvPr>
          <p:cNvSpPr>
            <a:spLocks noGrp="1"/>
          </p:cNvSpPr>
          <p:nvPr/>
        </p:nvSpPr>
        <p:spPr>
          <a:xfrm>
            <a:off x="9875520" y="3950208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8B32B574-6BE3-4D05-BD6C-9228C774F4DC}"/>
              </a:ext>
            </a:extLst>
          </p:cNvPr>
          <p:cNvSpPr>
            <a:spLocks noGrp="1"/>
          </p:cNvSpPr>
          <p:nvPr/>
        </p:nvSpPr>
        <p:spPr>
          <a:xfrm>
            <a:off x="11018520" y="3950208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A9DA2AD5-570D-417B-A0D6-AB2192990841}"/>
              </a:ext>
            </a:extLst>
          </p:cNvPr>
          <p:cNvSpPr>
            <a:spLocks noGrp="1"/>
          </p:cNvSpPr>
          <p:nvPr/>
        </p:nvSpPr>
        <p:spPr>
          <a:xfrm>
            <a:off x="548640" y="4197096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0B02ED65-05DF-496F-AB94-C552D15EB8D6}"/>
              </a:ext>
            </a:extLst>
          </p:cNvPr>
          <p:cNvSpPr>
            <a:spLocks noGrp="1"/>
          </p:cNvSpPr>
          <p:nvPr/>
        </p:nvSpPr>
        <p:spPr>
          <a:xfrm>
            <a:off x="640080" y="4197096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03_god_class.py</a:t>
            </a: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D8C99976-53C3-4205-9146-1DA404C417EA}"/>
              </a:ext>
            </a:extLst>
          </p:cNvPr>
          <p:cNvSpPr>
            <a:spLocks noGrp="1"/>
          </p:cNvSpPr>
          <p:nvPr/>
        </p:nvSpPr>
        <p:spPr>
          <a:xfrm>
            <a:off x="3840480" y="4197096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8042251-92F0-4D9C-9EE0-837E81DAE9FC}"/>
              </a:ext>
            </a:extLst>
          </p:cNvPr>
          <p:cNvSpPr>
            <a:spLocks noGrp="1"/>
          </p:cNvSpPr>
          <p:nvPr/>
        </p:nvSpPr>
        <p:spPr>
          <a:xfrm>
            <a:off x="7040880" y="4197096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1CE20862-C017-4AB0-A8EE-E340B48C1D12}"/>
              </a:ext>
            </a:extLst>
          </p:cNvPr>
          <p:cNvSpPr>
            <a:spLocks noGrp="1"/>
          </p:cNvSpPr>
          <p:nvPr/>
        </p:nvSpPr>
        <p:spPr>
          <a:xfrm>
            <a:off x="9875520" y="4197096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✗ API broken</a:t>
            </a: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70167CB4-A868-428D-A9BD-AF687EF97C4E}"/>
              </a:ext>
            </a:extLst>
          </p:cNvPr>
          <p:cNvSpPr>
            <a:spLocks noGrp="1"/>
          </p:cNvSpPr>
          <p:nvPr/>
        </p:nvSpPr>
        <p:spPr>
          <a:xfrm>
            <a:off x="11018520" y="4197096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5B68C564-E793-45CA-A115-A221E182D35B}"/>
              </a:ext>
            </a:extLst>
          </p:cNvPr>
          <p:cNvSpPr>
            <a:spLocks noGrp="1"/>
          </p:cNvSpPr>
          <p:nvPr/>
        </p:nvSpPr>
        <p:spPr>
          <a:xfrm>
            <a:off x="548640" y="4443984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F99A0548-0794-48FB-947D-B3564C0AF4C5}"/>
              </a:ext>
            </a:extLst>
          </p:cNvPr>
          <p:cNvSpPr>
            <a:spLocks noGrp="1"/>
          </p:cNvSpPr>
          <p:nvPr/>
        </p:nvSpPr>
        <p:spPr>
          <a:xfrm>
            <a:off x="640080" y="4443984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04_tight_coupling.py</a:t>
            </a:r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12781A06-DD38-42A3-903C-2BA86A4BCE8D}"/>
              </a:ext>
            </a:extLst>
          </p:cNvPr>
          <p:cNvSpPr>
            <a:spLocks noGrp="1"/>
          </p:cNvSpPr>
          <p:nvPr/>
        </p:nvSpPr>
        <p:spPr>
          <a:xfrm>
            <a:off x="3840480" y="4443984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47A1E60-BAE4-4FB2-B959-BDF550C9843A}"/>
              </a:ext>
            </a:extLst>
          </p:cNvPr>
          <p:cNvSpPr>
            <a:spLocks noGrp="1"/>
          </p:cNvSpPr>
          <p:nvPr/>
        </p:nvSpPr>
        <p:spPr>
          <a:xfrm>
            <a:off x="7040880" y="4443984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845DA903-43AD-4B58-A94A-B6E349812D45}"/>
              </a:ext>
            </a:extLst>
          </p:cNvPr>
          <p:cNvSpPr>
            <a:spLocks noGrp="1"/>
          </p:cNvSpPr>
          <p:nvPr/>
        </p:nvSpPr>
        <p:spPr>
          <a:xfrm>
            <a:off x="9875520" y="4443984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9987BB21-48C7-4F10-A07F-427467F78ED4}"/>
              </a:ext>
            </a:extLst>
          </p:cNvPr>
          <p:cNvSpPr>
            <a:spLocks noGrp="1"/>
          </p:cNvSpPr>
          <p:nvPr/>
        </p:nvSpPr>
        <p:spPr>
          <a:xfrm>
            <a:off x="11018520" y="4443984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FD9038FC-B063-4CA9-A38D-40C3EFAA56C6}"/>
              </a:ext>
            </a:extLst>
          </p:cNvPr>
          <p:cNvSpPr>
            <a:spLocks noGrp="1"/>
          </p:cNvSpPr>
          <p:nvPr/>
        </p:nvSpPr>
        <p:spPr>
          <a:xfrm>
            <a:off x="548640" y="4690872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68BED334-FD40-4D23-B85E-89FF48F83E18}"/>
              </a:ext>
            </a:extLst>
          </p:cNvPr>
          <p:cNvSpPr>
            <a:spLocks noGrp="1"/>
          </p:cNvSpPr>
          <p:nvPr/>
        </p:nvSpPr>
        <p:spPr>
          <a:xfrm>
            <a:off x="640080" y="4690872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05_duplicated_code.py</a:t>
            </a:r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EA6805AC-0BED-49C3-B427-0203EEC2362C}"/>
              </a:ext>
            </a:extLst>
          </p:cNvPr>
          <p:cNvSpPr>
            <a:spLocks noGrp="1"/>
          </p:cNvSpPr>
          <p:nvPr/>
        </p:nvSpPr>
        <p:spPr>
          <a:xfrm>
            <a:off x="3840480" y="4690872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F972084B-7D6C-4907-B4DB-FEC40958541B}"/>
              </a:ext>
            </a:extLst>
          </p:cNvPr>
          <p:cNvSpPr>
            <a:spLocks noGrp="1"/>
          </p:cNvSpPr>
          <p:nvPr/>
        </p:nvSpPr>
        <p:spPr>
          <a:xfrm>
            <a:off x="7040880" y="4690872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28AA19F9-2C27-40A5-AA6C-A89826A6FE1B}"/>
              </a:ext>
            </a:extLst>
          </p:cNvPr>
          <p:cNvSpPr>
            <a:spLocks noGrp="1"/>
          </p:cNvSpPr>
          <p:nvPr/>
        </p:nvSpPr>
        <p:spPr>
          <a:xfrm>
            <a:off x="9875520" y="4690872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A46D08AC-1974-4188-8E02-F0CFADEAE919}"/>
              </a:ext>
            </a:extLst>
          </p:cNvPr>
          <p:cNvSpPr>
            <a:spLocks noGrp="1"/>
          </p:cNvSpPr>
          <p:nvPr/>
        </p:nvSpPr>
        <p:spPr>
          <a:xfrm>
            <a:off x="11018520" y="4690872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1C1BA015-F066-4D60-825D-44842109DD04}"/>
              </a:ext>
            </a:extLst>
          </p:cNvPr>
          <p:cNvSpPr>
            <a:spLocks noGrp="1"/>
          </p:cNvSpPr>
          <p:nvPr/>
        </p:nvSpPr>
        <p:spPr>
          <a:xfrm>
            <a:off x="548640" y="4937760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7BEEF4DE-A1B2-4BC7-B3AC-410B6C92B0D7}"/>
              </a:ext>
            </a:extLst>
          </p:cNvPr>
          <p:cNvSpPr>
            <a:spLocks noGrp="1"/>
          </p:cNvSpPr>
          <p:nvPr/>
        </p:nvSpPr>
        <p:spPr>
          <a:xfrm>
            <a:off x="640080" y="4937760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06_complex_switch.py</a:t>
            </a: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E29F3232-BB09-499F-A261-8B351C08539B}"/>
              </a:ext>
            </a:extLst>
          </p:cNvPr>
          <p:cNvSpPr>
            <a:spLocks noGrp="1"/>
          </p:cNvSpPr>
          <p:nvPr/>
        </p:nvSpPr>
        <p:spPr>
          <a:xfrm>
            <a:off x="3840480" y="4937760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0B7E22C1-16A5-4380-B296-0A4C27C015D3}"/>
              </a:ext>
            </a:extLst>
          </p:cNvPr>
          <p:cNvSpPr>
            <a:spLocks noGrp="1"/>
          </p:cNvSpPr>
          <p:nvPr/>
        </p:nvSpPr>
        <p:spPr>
          <a:xfrm>
            <a:off x="7040880" y="4937760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DB8153F4-BB05-4724-919F-3B0388D77FBB}"/>
              </a:ext>
            </a:extLst>
          </p:cNvPr>
          <p:cNvSpPr>
            <a:spLocks noGrp="1"/>
          </p:cNvSpPr>
          <p:nvPr/>
        </p:nvSpPr>
        <p:spPr>
          <a:xfrm>
            <a:off x="9875520" y="4937760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D71B1B31-5FBD-4307-9246-B72CFCF96E89}"/>
              </a:ext>
            </a:extLst>
          </p:cNvPr>
          <p:cNvSpPr>
            <a:spLocks noGrp="1"/>
          </p:cNvSpPr>
          <p:nvPr/>
        </p:nvSpPr>
        <p:spPr>
          <a:xfrm>
            <a:off x="11018520" y="4937760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17E0E6F0-8969-473C-BB09-CAE6B555AD4A}"/>
              </a:ext>
            </a:extLst>
          </p:cNvPr>
          <p:cNvSpPr>
            <a:spLocks noGrp="1"/>
          </p:cNvSpPr>
          <p:nvPr/>
        </p:nvSpPr>
        <p:spPr>
          <a:xfrm>
            <a:off x="548640" y="5184648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50CFD010-E502-4073-B4FC-436C3575DAF1}"/>
              </a:ext>
            </a:extLst>
          </p:cNvPr>
          <p:cNvSpPr>
            <a:spLocks noGrp="1"/>
          </p:cNvSpPr>
          <p:nvPr/>
        </p:nvSpPr>
        <p:spPr>
          <a:xfrm>
            <a:off x="640080" y="5184648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07_long_parameter_list.py</a:t>
            </a:r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A007CD7B-9AB7-4080-81E4-A3B5190805A0}"/>
              </a:ext>
            </a:extLst>
          </p:cNvPr>
          <p:cNvSpPr>
            <a:spLocks noGrp="1"/>
          </p:cNvSpPr>
          <p:nvPr/>
        </p:nvSpPr>
        <p:spPr>
          <a:xfrm>
            <a:off x="3840480" y="5184648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B5E0EF02-BAA3-450B-B46F-91C857B171DA}"/>
              </a:ext>
            </a:extLst>
          </p:cNvPr>
          <p:cNvSpPr>
            <a:spLocks noGrp="1"/>
          </p:cNvSpPr>
          <p:nvPr/>
        </p:nvSpPr>
        <p:spPr>
          <a:xfrm>
            <a:off x="7040880" y="5184648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8B95F139-4A3C-4E49-AA47-2467441F993F}"/>
              </a:ext>
            </a:extLst>
          </p:cNvPr>
          <p:cNvSpPr>
            <a:spLocks noGrp="1"/>
          </p:cNvSpPr>
          <p:nvPr/>
        </p:nvSpPr>
        <p:spPr>
          <a:xfrm>
            <a:off x="9875520" y="5184648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✗ wrapper</a:t>
            </a:r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FA6B9F42-FD67-4F3C-B40C-17BBC8750C06}"/>
              </a:ext>
            </a:extLst>
          </p:cNvPr>
          <p:cNvSpPr>
            <a:spLocks noGrp="1"/>
          </p:cNvSpPr>
          <p:nvPr/>
        </p:nvSpPr>
        <p:spPr>
          <a:xfrm>
            <a:off x="11018520" y="5184648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DD5DEEB7-A567-4B7B-B74C-31B7D2B22686}"/>
              </a:ext>
            </a:extLst>
          </p:cNvPr>
          <p:cNvSpPr>
            <a:spLocks noGrp="1"/>
          </p:cNvSpPr>
          <p:nvPr/>
        </p:nvSpPr>
        <p:spPr>
          <a:xfrm>
            <a:off x="548640" y="5431536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F1B3033C-8602-4418-AE72-E7A6CB0250A7}"/>
              </a:ext>
            </a:extLst>
          </p:cNvPr>
          <p:cNvSpPr>
            <a:spLocks noGrp="1"/>
          </p:cNvSpPr>
          <p:nvPr/>
        </p:nvSpPr>
        <p:spPr>
          <a:xfrm>
            <a:off x="640080" y="5431536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08_god_class.py</a:t>
            </a:r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F68C786D-B004-4625-B734-B8BB325846F8}"/>
              </a:ext>
            </a:extLst>
          </p:cNvPr>
          <p:cNvSpPr>
            <a:spLocks noGrp="1"/>
          </p:cNvSpPr>
          <p:nvPr/>
        </p:nvSpPr>
        <p:spPr>
          <a:xfrm>
            <a:off x="3840480" y="5431536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E792007A-DED6-446F-B935-F5ECFAE2DB7E}"/>
              </a:ext>
            </a:extLst>
          </p:cNvPr>
          <p:cNvSpPr>
            <a:spLocks noGrp="1"/>
          </p:cNvSpPr>
          <p:nvPr/>
        </p:nvSpPr>
        <p:spPr>
          <a:xfrm>
            <a:off x="7040880" y="5431536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C71F6436-1F95-4959-AF45-ADC60D09BFB9}"/>
              </a:ext>
            </a:extLst>
          </p:cNvPr>
          <p:cNvSpPr>
            <a:spLocks noGrp="1"/>
          </p:cNvSpPr>
          <p:nvPr/>
        </p:nvSpPr>
        <p:spPr>
          <a:xfrm>
            <a:off x="9875520" y="5431536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D32A8B1E-147E-4AE4-B852-0C5ABC4125D2}"/>
              </a:ext>
            </a:extLst>
          </p:cNvPr>
          <p:cNvSpPr>
            <a:spLocks noGrp="1"/>
          </p:cNvSpPr>
          <p:nvPr/>
        </p:nvSpPr>
        <p:spPr>
          <a:xfrm>
            <a:off x="11018520" y="5431536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BC8AA298-772A-46B0-AEB4-154A965F5ADD}"/>
              </a:ext>
            </a:extLst>
          </p:cNvPr>
          <p:cNvSpPr>
            <a:spLocks noGrp="1"/>
          </p:cNvSpPr>
          <p:nvPr/>
        </p:nvSpPr>
        <p:spPr>
          <a:xfrm>
            <a:off x="548640" y="5678424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42EE9096-8DE1-4AEE-926B-8A0B5C7EEAE4}"/>
              </a:ext>
            </a:extLst>
          </p:cNvPr>
          <p:cNvSpPr>
            <a:spLocks noGrp="1"/>
          </p:cNvSpPr>
          <p:nvPr/>
        </p:nvSpPr>
        <p:spPr>
          <a:xfrm>
            <a:off x="640080" y="5678424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09_tight_coupling.py</a:t>
            </a:r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C97C7976-CC8F-412A-BAEF-3C6A61A77986}"/>
              </a:ext>
            </a:extLst>
          </p:cNvPr>
          <p:cNvSpPr>
            <a:spLocks noGrp="1"/>
          </p:cNvSpPr>
          <p:nvPr/>
        </p:nvSpPr>
        <p:spPr>
          <a:xfrm>
            <a:off x="3840480" y="5678424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45CFD6DE-54CD-4F0C-A3E4-03051D8E39F9}"/>
              </a:ext>
            </a:extLst>
          </p:cNvPr>
          <p:cNvSpPr>
            <a:spLocks noGrp="1"/>
          </p:cNvSpPr>
          <p:nvPr/>
        </p:nvSpPr>
        <p:spPr>
          <a:xfrm>
            <a:off x="7040880" y="5678424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67354115-7F94-4D49-A925-0F6D859040B1}"/>
              </a:ext>
            </a:extLst>
          </p:cNvPr>
          <p:cNvSpPr>
            <a:spLocks noGrp="1"/>
          </p:cNvSpPr>
          <p:nvPr/>
        </p:nvSpPr>
        <p:spPr>
          <a:xfrm>
            <a:off x="9875520" y="5678424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ED4295A1-BF88-4564-89EA-05CCC3D9378E}"/>
              </a:ext>
            </a:extLst>
          </p:cNvPr>
          <p:cNvSpPr>
            <a:spLocks noGrp="1"/>
          </p:cNvSpPr>
          <p:nvPr/>
        </p:nvSpPr>
        <p:spPr>
          <a:xfrm>
            <a:off x="11018520" y="5678424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2E0F6212-E626-4D64-9DE1-B92E8D0501F4}"/>
              </a:ext>
            </a:extLst>
          </p:cNvPr>
          <p:cNvSpPr>
            <a:spLocks noGrp="1"/>
          </p:cNvSpPr>
          <p:nvPr/>
        </p:nvSpPr>
        <p:spPr>
          <a:xfrm>
            <a:off x="548640" y="5925312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51A7773E-79EE-4AFA-8866-6E9DFF911E9E}"/>
              </a:ext>
            </a:extLst>
          </p:cNvPr>
          <p:cNvSpPr>
            <a:spLocks noGrp="1"/>
          </p:cNvSpPr>
          <p:nvPr/>
        </p:nvSpPr>
        <p:spPr>
          <a:xfrm>
            <a:off x="640080" y="5925312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10_duplicated_code.py</a:t>
            </a:r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2CD7F597-3FEA-4D10-A27A-B163D2E66C21}"/>
              </a:ext>
            </a:extLst>
          </p:cNvPr>
          <p:cNvSpPr>
            <a:spLocks noGrp="1"/>
          </p:cNvSpPr>
          <p:nvPr/>
        </p:nvSpPr>
        <p:spPr>
          <a:xfrm>
            <a:off x="3840480" y="5925312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1F7DDAE0-CB2D-4918-AC4B-BC45D29A5334}"/>
              </a:ext>
            </a:extLst>
          </p:cNvPr>
          <p:cNvSpPr>
            <a:spLocks noGrp="1"/>
          </p:cNvSpPr>
          <p:nvPr/>
        </p:nvSpPr>
        <p:spPr>
          <a:xfrm>
            <a:off x="7040880" y="5925312"/>
            <a:ext cx="274320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87" name="Text 85">
            <a:extLst>
              <a:ext uri="{FF2B5EF4-FFF2-40B4-BE49-F238E27FC236}">
                <a16:creationId xmlns:a16="http://schemas.microsoft.com/office/drawing/2014/main" id="{ABA06AD1-4BD7-4F0A-9C10-6824C1D1D195}"/>
              </a:ext>
            </a:extLst>
          </p:cNvPr>
          <p:cNvSpPr>
            <a:spLocks noGrp="1"/>
          </p:cNvSpPr>
          <p:nvPr/>
        </p:nvSpPr>
        <p:spPr>
          <a:xfrm>
            <a:off x="9875520" y="5925312"/>
            <a:ext cx="10972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0510F16B-972F-4E84-B44A-A54141826E3A}"/>
              </a:ext>
            </a:extLst>
          </p:cNvPr>
          <p:cNvSpPr>
            <a:spLocks noGrp="1"/>
          </p:cNvSpPr>
          <p:nvPr/>
        </p:nvSpPr>
        <p:spPr>
          <a:xfrm>
            <a:off x="11018520" y="5925312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124F54C7-136A-4B43-BD10-A2E0091C7A5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E2AB41E8-690C-47F1-8D4C-0BBBF7D7376E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 / 24</a:t>
            </a:r>
          </a:p>
        </p:txBody>
      </p:sp>
    </p:spTree>
    <p:extLst>
      <p:ext uri="{BB962C8B-B14F-4D97-AF65-F5344CB8AC3E}">
        <p14:creationId xmlns:p14="http://schemas.microsoft.com/office/powerpoint/2010/main" val="1038749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535D1DA-5DB8-4A86-AB44-BD2A30C857C3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11 · ENDPOINT · CRITIC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4461C3D-AF88-4BFC-A5BB-B5666FA3A870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POST /api/v1/evaluate/critic — 17/20 corretos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901D01-F80F-4C35-A2BB-53E084F0A2EC}"/>
              </a:ext>
            </a:extLst>
          </p:cNvPr>
          <p:cNvSpPr>
            <a:spLocks noGrp="1"/>
          </p:cNvSpPr>
          <p:nvPr/>
        </p:nvSpPr>
        <p:spPr>
          <a:xfrm>
            <a:off x="548640" y="1627632"/>
            <a:ext cx="5029200" cy="329184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947B74B-9E25-4932-B7BD-C3F86248FEDB}"/>
              </a:ext>
            </a:extLst>
          </p:cNvPr>
          <p:cNvSpPr>
            <a:spLocks noGrp="1"/>
          </p:cNvSpPr>
          <p:nvPr/>
        </p:nvSpPr>
        <p:spPr>
          <a:xfrm>
            <a:off x="640080" y="16276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/api/v1/evaluate/critic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0275A91-2F92-4655-BD88-F91AA7979B7A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96977F4-7E19-4522-B9B5-3AD3CD1D4AAA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73152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163D892-8795-4020-B2A2-B3B70CEF5191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AD86B2-8C3A-45AC-819D-DEA128447245}"/>
              </a:ext>
            </a:extLst>
          </p:cNvPr>
          <p:cNvSpPr>
            <a:spLocks noGrp="1"/>
          </p:cNvSpPr>
          <p:nvPr/>
        </p:nvSpPr>
        <p:spPr>
          <a:xfrm>
            <a:off x="731520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0.824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29CC15F-900F-40C6-8558-44E2AC55C460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E520C9D-DE4E-45DF-BE5D-B45418B877CC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6508AAF-BC81-4A4B-9F0D-2F93CF8EC758}"/>
              </a:ext>
            </a:extLst>
          </p:cNvPr>
          <p:cNvSpPr>
            <a:spLocks noGrp="1"/>
          </p:cNvSpPr>
          <p:nvPr/>
        </p:nvSpPr>
        <p:spPr>
          <a:xfrm>
            <a:off x="3593592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D72B1C6-D1D6-4A5F-9B1A-6CD3596B99B7}"/>
              </a:ext>
            </a:extLst>
          </p:cNvPr>
          <p:cNvSpPr>
            <a:spLocks noGrp="1"/>
          </p:cNvSpPr>
          <p:nvPr/>
        </p:nvSpPr>
        <p:spPr>
          <a:xfrm>
            <a:off x="3593592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12F6715-0F1D-4F74-B5C1-7ED3BB7FEAC3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A1DD1ED-75B9-4844-9CF9-50E726886620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73152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631E990-CFE4-4AD6-ADE4-04A91505DD1D}"/>
              </a:ext>
            </a:extLst>
          </p:cNvPr>
          <p:cNvSpPr>
            <a:spLocks noGrp="1"/>
          </p:cNvSpPr>
          <p:nvPr/>
        </p:nvSpPr>
        <p:spPr>
          <a:xfrm>
            <a:off x="6455664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20EE8E1-77DB-4365-B33F-0C38A2D29B4F}"/>
              </a:ext>
            </a:extLst>
          </p:cNvPr>
          <p:cNvSpPr>
            <a:spLocks noGrp="1"/>
          </p:cNvSpPr>
          <p:nvPr/>
        </p:nvSpPr>
        <p:spPr>
          <a:xfrm>
            <a:off x="6455664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0.700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2C3028A-7585-420F-BC13-E367E65AA99A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B93BF77E-F86D-46AD-9C5F-E1893A0EAD7B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73152" cy="8229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DD150CC-28EC-4BDB-9DF0-43F8EA1C7BC0}"/>
              </a:ext>
            </a:extLst>
          </p:cNvPr>
          <p:cNvSpPr>
            <a:spLocks noGrp="1"/>
          </p:cNvSpPr>
          <p:nvPr/>
        </p:nvSpPr>
        <p:spPr>
          <a:xfrm>
            <a:off x="9317736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FRR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AD070DE-B4C7-4F01-A169-74B17CAC4E83}"/>
              </a:ext>
            </a:extLst>
          </p:cNvPr>
          <p:cNvSpPr>
            <a:spLocks noGrp="1"/>
          </p:cNvSpPr>
          <p:nvPr/>
        </p:nvSpPr>
        <p:spPr>
          <a:xfrm>
            <a:off x="9317736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0.300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ED446CB-0C3C-4E7E-A78E-0DABC9C0CDBD}"/>
              </a:ext>
            </a:extLst>
          </p:cNvPr>
          <p:cNvSpPr>
            <a:spLocks noGrp="1"/>
          </p:cNvSpPr>
          <p:nvPr/>
        </p:nvSpPr>
        <p:spPr>
          <a:xfrm>
            <a:off x="548640" y="30632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(10 corretas + 10 incorretas) · zero false accepts · 3 false rejects em casos de borda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D7F22F3-4652-4068-992A-65BA108D0200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spc="1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solutions/correct/ (expected: approve)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CBF40BB-6FBA-4639-A6B0-54669B46FB87}"/>
              </a:ext>
            </a:extLst>
          </p:cNvPr>
          <p:cNvSpPr>
            <a:spLocks noGrp="1"/>
          </p:cNvSpPr>
          <p:nvPr/>
        </p:nvSpPr>
        <p:spPr>
          <a:xfrm>
            <a:off x="6126480" y="33832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spc="100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solutions/incorrect/ (expected: reject)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D479880A-4156-4EF3-94E6-732B09609D66}"/>
              </a:ext>
            </a:extLst>
          </p:cNvPr>
          <p:cNvSpPr>
            <a:spLocks noGrp="1"/>
          </p:cNvSpPr>
          <p:nvPr/>
        </p:nvSpPr>
        <p:spPr>
          <a:xfrm>
            <a:off x="548640" y="3657600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22F42BB-7C25-4C0A-BD06-1631B79F7C9B}"/>
              </a:ext>
            </a:extLst>
          </p:cNvPr>
          <p:cNvSpPr>
            <a:spLocks noGrp="1"/>
          </p:cNvSpPr>
          <p:nvPr/>
        </p:nvSpPr>
        <p:spPr>
          <a:xfrm>
            <a:off x="640080" y="3657600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sol_01_complex_switch.py</a:t>
            </a: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03B36C6E-FDFD-4022-9E75-F315DE8B1259}"/>
              </a:ext>
            </a:extLst>
          </p:cNvPr>
          <p:cNvSpPr>
            <a:spLocks noGrp="1"/>
          </p:cNvSpPr>
          <p:nvPr/>
        </p:nvSpPr>
        <p:spPr>
          <a:xfrm>
            <a:off x="5394960" y="3703320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B5FA90B-3DF3-4293-9BBF-E76BE27A7563}"/>
              </a:ext>
            </a:extLst>
          </p:cNvPr>
          <p:cNvSpPr>
            <a:spLocks noGrp="1"/>
          </p:cNvSpPr>
          <p:nvPr/>
        </p:nvSpPr>
        <p:spPr>
          <a:xfrm>
            <a:off x="5394960" y="36941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F5BC15-060B-481F-9850-F0DAA9DE56E9}"/>
              </a:ext>
            </a:extLst>
          </p:cNvPr>
          <p:cNvSpPr>
            <a:spLocks noGrp="1"/>
          </p:cNvSpPr>
          <p:nvPr/>
        </p:nvSpPr>
        <p:spPr>
          <a:xfrm>
            <a:off x="548640" y="3904488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FB101341-FBC2-4482-836F-E00703F6714A}"/>
              </a:ext>
            </a:extLst>
          </p:cNvPr>
          <p:cNvSpPr>
            <a:spLocks noGrp="1"/>
          </p:cNvSpPr>
          <p:nvPr/>
        </p:nvSpPr>
        <p:spPr>
          <a:xfrm>
            <a:off x="640080" y="390448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sol_02_long_parameter_list.py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5578BCA-A545-43E3-9DE9-78FCD65962EB}"/>
              </a:ext>
            </a:extLst>
          </p:cNvPr>
          <p:cNvSpPr>
            <a:spLocks noGrp="1"/>
          </p:cNvSpPr>
          <p:nvPr/>
        </p:nvSpPr>
        <p:spPr>
          <a:xfrm>
            <a:off x="5394960" y="3950208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252DEC5-44F4-4A2E-A8C6-B53FD5D34E5F}"/>
              </a:ext>
            </a:extLst>
          </p:cNvPr>
          <p:cNvSpPr>
            <a:spLocks noGrp="1"/>
          </p:cNvSpPr>
          <p:nvPr/>
        </p:nvSpPr>
        <p:spPr>
          <a:xfrm>
            <a:off x="5394960" y="394106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9A78AAA6-FC92-469F-89BD-7E598BF83811}"/>
              </a:ext>
            </a:extLst>
          </p:cNvPr>
          <p:cNvSpPr>
            <a:spLocks noGrp="1"/>
          </p:cNvSpPr>
          <p:nvPr/>
        </p:nvSpPr>
        <p:spPr>
          <a:xfrm>
            <a:off x="548640" y="4151376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71D6585-4EC2-463C-8C25-7EF6D434C158}"/>
              </a:ext>
            </a:extLst>
          </p:cNvPr>
          <p:cNvSpPr>
            <a:spLocks noGrp="1"/>
          </p:cNvSpPr>
          <p:nvPr/>
        </p:nvSpPr>
        <p:spPr>
          <a:xfrm>
            <a:off x="640080" y="4151376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sol_03_god_class.py</a:t>
            </a: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1D08371E-249E-439F-920A-173EE7533BE8}"/>
              </a:ext>
            </a:extLst>
          </p:cNvPr>
          <p:cNvSpPr>
            <a:spLocks noGrp="1"/>
          </p:cNvSpPr>
          <p:nvPr/>
        </p:nvSpPr>
        <p:spPr>
          <a:xfrm>
            <a:off x="5394960" y="4197096"/>
            <a:ext cx="548640" cy="1554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2DE03499-5DAA-4CFF-8AD9-D6B421CF479B}"/>
              </a:ext>
            </a:extLst>
          </p:cNvPr>
          <p:cNvSpPr>
            <a:spLocks noGrp="1"/>
          </p:cNvSpPr>
          <p:nvPr/>
        </p:nvSpPr>
        <p:spPr>
          <a:xfrm>
            <a:off x="5394960" y="418795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FN</a:t>
            </a: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3A6321EF-6415-4D7B-823A-976116B0247C}"/>
              </a:ext>
            </a:extLst>
          </p:cNvPr>
          <p:cNvSpPr>
            <a:spLocks noGrp="1"/>
          </p:cNvSpPr>
          <p:nvPr/>
        </p:nvSpPr>
        <p:spPr>
          <a:xfrm>
            <a:off x="548640" y="4398264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281F90B-1044-4DB0-95F5-22434C4A3EFB}"/>
              </a:ext>
            </a:extLst>
          </p:cNvPr>
          <p:cNvSpPr>
            <a:spLocks noGrp="1"/>
          </p:cNvSpPr>
          <p:nvPr/>
        </p:nvSpPr>
        <p:spPr>
          <a:xfrm>
            <a:off x="640080" y="4398264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sol_04_tight_coupling.py</a:t>
            </a:r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9B343BD1-8E11-43C7-9E60-EFF527713125}"/>
              </a:ext>
            </a:extLst>
          </p:cNvPr>
          <p:cNvSpPr>
            <a:spLocks noGrp="1"/>
          </p:cNvSpPr>
          <p:nvPr/>
        </p:nvSpPr>
        <p:spPr>
          <a:xfrm>
            <a:off x="5394960" y="4443984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1C617EA-2890-4D26-BDE6-AF0BE06BCF88}"/>
              </a:ext>
            </a:extLst>
          </p:cNvPr>
          <p:cNvSpPr>
            <a:spLocks noGrp="1"/>
          </p:cNvSpPr>
          <p:nvPr/>
        </p:nvSpPr>
        <p:spPr>
          <a:xfrm>
            <a:off x="5394960" y="44348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E6AF6EBC-AAE0-4E3A-BA1D-3AE7757862C1}"/>
              </a:ext>
            </a:extLst>
          </p:cNvPr>
          <p:cNvSpPr>
            <a:spLocks noGrp="1"/>
          </p:cNvSpPr>
          <p:nvPr/>
        </p:nvSpPr>
        <p:spPr>
          <a:xfrm>
            <a:off x="548640" y="4645152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B899DEA7-080B-4904-90C6-E1FB3AF03979}"/>
              </a:ext>
            </a:extLst>
          </p:cNvPr>
          <p:cNvSpPr>
            <a:spLocks noGrp="1"/>
          </p:cNvSpPr>
          <p:nvPr/>
        </p:nvSpPr>
        <p:spPr>
          <a:xfrm>
            <a:off x="640080" y="4645152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sol_05_duplicated_code.py</a:t>
            </a: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9824F6F3-C5FF-4C87-8AD0-832A981C3117}"/>
              </a:ext>
            </a:extLst>
          </p:cNvPr>
          <p:cNvSpPr>
            <a:spLocks noGrp="1"/>
          </p:cNvSpPr>
          <p:nvPr/>
        </p:nvSpPr>
        <p:spPr>
          <a:xfrm>
            <a:off x="5394960" y="4690872"/>
            <a:ext cx="548640" cy="1554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2846F41A-E203-47AE-B2C9-2362A28DD8DE}"/>
              </a:ext>
            </a:extLst>
          </p:cNvPr>
          <p:cNvSpPr>
            <a:spLocks noGrp="1"/>
          </p:cNvSpPr>
          <p:nvPr/>
        </p:nvSpPr>
        <p:spPr>
          <a:xfrm>
            <a:off x="5394960" y="468172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FN</a:t>
            </a:r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9C9D9881-8B5F-4A4A-97E8-3BB77FFD356F}"/>
              </a:ext>
            </a:extLst>
          </p:cNvPr>
          <p:cNvSpPr>
            <a:spLocks noGrp="1"/>
          </p:cNvSpPr>
          <p:nvPr/>
        </p:nvSpPr>
        <p:spPr>
          <a:xfrm>
            <a:off x="548640" y="4892040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72AF3F3-F252-4AAE-B8AA-BB55FF318AB9}"/>
              </a:ext>
            </a:extLst>
          </p:cNvPr>
          <p:cNvSpPr>
            <a:spLocks noGrp="1"/>
          </p:cNvSpPr>
          <p:nvPr/>
        </p:nvSpPr>
        <p:spPr>
          <a:xfrm>
            <a:off x="640080" y="4892040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sol_06_complex_switch.py</a:t>
            </a:r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C4AB9CEC-B527-433F-8311-36D658054BEF}"/>
              </a:ext>
            </a:extLst>
          </p:cNvPr>
          <p:cNvSpPr>
            <a:spLocks noGrp="1"/>
          </p:cNvSpPr>
          <p:nvPr/>
        </p:nvSpPr>
        <p:spPr>
          <a:xfrm>
            <a:off x="5394960" y="4937760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D9585AEB-77F9-4F87-852B-A28B40E8E607}"/>
              </a:ext>
            </a:extLst>
          </p:cNvPr>
          <p:cNvSpPr>
            <a:spLocks noGrp="1"/>
          </p:cNvSpPr>
          <p:nvPr/>
        </p:nvSpPr>
        <p:spPr>
          <a:xfrm>
            <a:off x="5394960" y="492861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EE7F1536-6F70-4B71-9976-6F9DFBEEB5A9}"/>
              </a:ext>
            </a:extLst>
          </p:cNvPr>
          <p:cNvSpPr>
            <a:spLocks noGrp="1"/>
          </p:cNvSpPr>
          <p:nvPr/>
        </p:nvSpPr>
        <p:spPr>
          <a:xfrm>
            <a:off x="548640" y="5138928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0326E7C9-2C97-4D02-AF9D-75EE15F9A583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sol_07_long_parameter_list.py</a:t>
            </a:r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5306CB71-5A82-4FA7-8EAA-A86B732B62B8}"/>
              </a:ext>
            </a:extLst>
          </p:cNvPr>
          <p:cNvSpPr>
            <a:spLocks noGrp="1"/>
          </p:cNvSpPr>
          <p:nvPr/>
        </p:nvSpPr>
        <p:spPr>
          <a:xfrm>
            <a:off x="5394960" y="5184648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A8A64ABC-4524-4486-B889-F1C87C5A1824}"/>
              </a:ext>
            </a:extLst>
          </p:cNvPr>
          <p:cNvSpPr>
            <a:spLocks noGrp="1"/>
          </p:cNvSpPr>
          <p:nvPr/>
        </p:nvSpPr>
        <p:spPr>
          <a:xfrm>
            <a:off x="5394960" y="517550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699AF7CF-1F92-45A5-96AD-90D6332ECE33}"/>
              </a:ext>
            </a:extLst>
          </p:cNvPr>
          <p:cNvSpPr>
            <a:spLocks noGrp="1"/>
          </p:cNvSpPr>
          <p:nvPr/>
        </p:nvSpPr>
        <p:spPr>
          <a:xfrm>
            <a:off x="548640" y="5385816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1AD34342-E336-445F-BAE6-747B7F2810CB}"/>
              </a:ext>
            </a:extLst>
          </p:cNvPr>
          <p:cNvSpPr>
            <a:spLocks noGrp="1"/>
          </p:cNvSpPr>
          <p:nvPr/>
        </p:nvSpPr>
        <p:spPr>
          <a:xfrm>
            <a:off x="640080" y="5385816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sol_08_god_class.py</a:t>
            </a: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6E22FACD-F0E6-4FB5-ADED-BD54035549EA}"/>
              </a:ext>
            </a:extLst>
          </p:cNvPr>
          <p:cNvSpPr>
            <a:spLocks noGrp="1"/>
          </p:cNvSpPr>
          <p:nvPr/>
        </p:nvSpPr>
        <p:spPr>
          <a:xfrm>
            <a:off x="5394960" y="5431536"/>
            <a:ext cx="548640" cy="1554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1708C670-ED02-4A90-9FDB-337ADFBB2C96}"/>
              </a:ext>
            </a:extLst>
          </p:cNvPr>
          <p:cNvSpPr>
            <a:spLocks noGrp="1"/>
          </p:cNvSpPr>
          <p:nvPr/>
        </p:nvSpPr>
        <p:spPr>
          <a:xfrm>
            <a:off x="5394960" y="54223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FN</a:t>
            </a:r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9063E2ED-A7FC-405D-A3DA-D3A36E3AFA54}"/>
              </a:ext>
            </a:extLst>
          </p:cNvPr>
          <p:cNvSpPr>
            <a:spLocks noGrp="1"/>
          </p:cNvSpPr>
          <p:nvPr/>
        </p:nvSpPr>
        <p:spPr>
          <a:xfrm>
            <a:off x="548640" y="5632704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DEAF5AE3-BF42-4462-9878-C9B052DF6EC0}"/>
              </a:ext>
            </a:extLst>
          </p:cNvPr>
          <p:cNvSpPr>
            <a:spLocks noGrp="1"/>
          </p:cNvSpPr>
          <p:nvPr/>
        </p:nvSpPr>
        <p:spPr>
          <a:xfrm>
            <a:off x="640080" y="5632704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sol_09_tight_coupling.py</a:t>
            </a:r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B4C42D5A-65BF-4BCE-AAC9-2DF8E4887FFF}"/>
              </a:ext>
            </a:extLst>
          </p:cNvPr>
          <p:cNvSpPr>
            <a:spLocks noGrp="1"/>
          </p:cNvSpPr>
          <p:nvPr/>
        </p:nvSpPr>
        <p:spPr>
          <a:xfrm>
            <a:off x="5394960" y="5678424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A613BE37-DF35-48B9-A016-BBF2FCEDDCCF}"/>
              </a:ext>
            </a:extLst>
          </p:cNvPr>
          <p:cNvSpPr>
            <a:spLocks noGrp="1"/>
          </p:cNvSpPr>
          <p:nvPr/>
        </p:nvSpPr>
        <p:spPr>
          <a:xfrm>
            <a:off x="5394960" y="56692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48CAEA97-6A02-4138-B20D-8C4871B52F21}"/>
              </a:ext>
            </a:extLst>
          </p:cNvPr>
          <p:cNvSpPr>
            <a:spLocks noGrp="1"/>
          </p:cNvSpPr>
          <p:nvPr/>
        </p:nvSpPr>
        <p:spPr>
          <a:xfrm>
            <a:off x="548640" y="5879592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FA31CFB1-7B16-4699-9728-9F5FE3FB1116}"/>
              </a:ext>
            </a:extLst>
          </p:cNvPr>
          <p:cNvSpPr>
            <a:spLocks noGrp="1"/>
          </p:cNvSpPr>
          <p:nvPr/>
        </p:nvSpPr>
        <p:spPr>
          <a:xfrm>
            <a:off x="640080" y="5879592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sol_10_duplicated_code.py</a:t>
            </a:r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20CEF1A2-FF3B-432C-827D-DED55DFDC46B}"/>
              </a:ext>
            </a:extLst>
          </p:cNvPr>
          <p:cNvSpPr>
            <a:spLocks noGrp="1"/>
          </p:cNvSpPr>
          <p:nvPr/>
        </p:nvSpPr>
        <p:spPr>
          <a:xfrm>
            <a:off x="5394960" y="5925312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A51CA842-6ADF-4FED-9900-4BEB2725E089}"/>
              </a:ext>
            </a:extLst>
          </p:cNvPr>
          <p:cNvSpPr>
            <a:spLocks noGrp="1"/>
          </p:cNvSpPr>
          <p:nvPr/>
        </p:nvSpPr>
        <p:spPr>
          <a:xfrm>
            <a:off x="5394960" y="591616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D4AFF180-80C1-4365-9F55-A34CF726B344}"/>
              </a:ext>
            </a:extLst>
          </p:cNvPr>
          <p:cNvSpPr>
            <a:spLocks noGrp="1"/>
          </p:cNvSpPr>
          <p:nvPr/>
        </p:nvSpPr>
        <p:spPr>
          <a:xfrm>
            <a:off x="6126480" y="3657600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AC7CC8F4-211E-47E3-8B70-8D44B99A1DBF}"/>
              </a:ext>
            </a:extLst>
          </p:cNvPr>
          <p:cNvSpPr>
            <a:spLocks noGrp="1"/>
          </p:cNvSpPr>
          <p:nvPr/>
        </p:nvSpPr>
        <p:spPr>
          <a:xfrm>
            <a:off x="6217920" y="3657600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bad_01_complex_switch.py</a:t>
            </a:r>
          </a:p>
        </p:txBody>
      </p:sp>
      <p:sp>
        <p:nvSpPr>
          <p:cNvPr id="67" name="Shape 65">
            <a:extLst>
              <a:ext uri="{FF2B5EF4-FFF2-40B4-BE49-F238E27FC236}">
                <a16:creationId xmlns:a16="http://schemas.microsoft.com/office/drawing/2014/main" id="{6CC8DB39-1252-4FEB-A724-49F6E6626C49}"/>
              </a:ext>
            </a:extLst>
          </p:cNvPr>
          <p:cNvSpPr>
            <a:spLocks noGrp="1"/>
          </p:cNvSpPr>
          <p:nvPr/>
        </p:nvSpPr>
        <p:spPr>
          <a:xfrm>
            <a:off x="10972800" y="3703320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1554D9FE-53D9-4BC1-AADE-C0B8026630FD}"/>
              </a:ext>
            </a:extLst>
          </p:cNvPr>
          <p:cNvSpPr>
            <a:spLocks noGrp="1"/>
          </p:cNvSpPr>
          <p:nvPr/>
        </p:nvSpPr>
        <p:spPr>
          <a:xfrm>
            <a:off x="10972800" y="36941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A24367E1-B00F-4E1D-9DAC-F8A067ACDEF2}"/>
              </a:ext>
            </a:extLst>
          </p:cNvPr>
          <p:cNvSpPr>
            <a:spLocks noGrp="1"/>
          </p:cNvSpPr>
          <p:nvPr/>
        </p:nvSpPr>
        <p:spPr>
          <a:xfrm>
            <a:off x="6126480" y="3904488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62239302-07AB-4C60-987C-F4278B917552}"/>
              </a:ext>
            </a:extLst>
          </p:cNvPr>
          <p:cNvSpPr>
            <a:spLocks noGrp="1"/>
          </p:cNvSpPr>
          <p:nvPr/>
        </p:nvSpPr>
        <p:spPr>
          <a:xfrm>
            <a:off x="6217920" y="390448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bad_02_long_parameter_list.py</a:t>
            </a:r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D988FE9D-282B-4F49-B900-8000DFA24F73}"/>
              </a:ext>
            </a:extLst>
          </p:cNvPr>
          <p:cNvSpPr>
            <a:spLocks noGrp="1"/>
          </p:cNvSpPr>
          <p:nvPr/>
        </p:nvSpPr>
        <p:spPr>
          <a:xfrm>
            <a:off x="10972800" y="3950208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704D3655-1003-43A3-B46E-755C9D13502D}"/>
              </a:ext>
            </a:extLst>
          </p:cNvPr>
          <p:cNvSpPr>
            <a:spLocks noGrp="1"/>
          </p:cNvSpPr>
          <p:nvPr/>
        </p:nvSpPr>
        <p:spPr>
          <a:xfrm>
            <a:off x="10972800" y="394106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5C258D62-6AF5-43CE-98BE-BDF994D43DC5}"/>
              </a:ext>
            </a:extLst>
          </p:cNvPr>
          <p:cNvSpPr>
            <a:spLocks noGrp="1"/>
          </p:cNvSpPr>
          <p:nvPr/>
        </p:nvSpPr>
        <p:spPr>
          <a:xfrm>
            <a:off x="6126480" y="4151376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389BB8AF-AAAE-4E0F-B913-434FF1167294}"/>
              </a:ext>
            </a:extLst>
          </p:cNvPr>
          <p:cNvSpPr>
            <a:spLocks noGrp="1"/>
          </p:cNvSpPr>
          <p:nvPr/>
        </p:nvSpPr>
        <p:spPr>
          <a:xfrm>
            <a:off x="6217920" y="4151376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bad_03_god_class.py</a:t>
            </a:r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D0F6F12F-6698-428E-957C-CD645FDAEC0B}"/>
              </a:ext>
            </a:extLst>
          </p:cNvPr>
          <p:cNvSpPr>
            <a:spLocks noGrp="1"/>
          </p:cNvSpPr>
          <p:nvPr/>
        </p:nvSpPr>
        <p:spPr>
          <a:xfrm>
            <a:off x="10972800" y="4197096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32D66D00-D822-4CF2-8D1E-6405BF98516C}"/>
              </a:ext>
            </a:extLst>
          </p:cNvPr>
          <p:cNvSpPr>
            <a:spLocks noGrp="1"/>
          </p:cNvSpPr>
          <p:nvPr/>
        </p:nvSpPr>
        <p:spPr>
          <a:xfrm>
            <a:off x="10972800" y="418795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608F6616-1C56-4CF6-BD82-EA1123583D39}"/>
              </a:ext>
            </a:extLst>
          </p:cNvPr>
          <p:cNvSpPr>
            <a:spLocks noGrp="1"/>
          </p:cNvSpPr>
          <p:nvPr/>
        </p:nvSpPr>
        <p:spPr>
          <a:xfrm>
            <a:off x="6126480" y="4398264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B9178855-61CC-4672-906A-48C7D35405CE}"/>
              </a:ext>
            </a:extLst>
          </p:cNvPr>
          <p:cNvSpPr>
            <a:spLocks noGrp="1"/>
          </p:cNvSpPr>
          <p:nvPr/>
        </p:nvSpPr>
        <p:spPr>
          <a:xfrm>
            <a:off x="6217920" y="4398264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bad_04_tight_coupling.py</a:t>
            </a:r>
          </a:p>
        </p:txBody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F6E4BD4F-11DD-4D2F-94A0-3468DAFB1034}"/>
              </a:ext>
            </a:extLst>
          </p:cNvPr>
          <p:cNvSpPr>
            <a:spLocks noGrp="1"/>
          </p:cNvSpPr>
          <p:nvPr/>
        </p:nvSpPr>
        <p:spPr>
          <a:xfrm>
            <a:off x="10972800" y="4443984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D5F94905-6B9D-442D-9F88-884E2A24A8F1}"/>
              </a:ext>
            </a:extLst>
          </p:cNvPr>
          <p:cNvSpPr>
            <a:spLocks noGrp="1"/>
          </p:cNvSpPr>
          <p:nvPr/>
        </p:nvSpPr>
        <p:spPr>
          <a:xfrm>
            <a:off x="10972800" y="44348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EA6DD028-3390-4038-9EEE-21F8EE75D6EB}"/>
              </a:ext>
            </a:extLst>
          </p:cNvPr>
          <p:cNvSpPr>
            <a:spLocks noGrp="1"/>
          </p:cNvSpPr>
          <p:nvPr/>
        </p:nvSpPr>
        <p:spPr>
          <a:xfrm>
            <a:off x="6126480" y="4645152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E508371-C7AC-4718-88A5-E19616DDCFC8}"/>
              </a:ext>
            </a:extLst>
          </p:cNvPr>
          <p:cNvSpPr>
            <a:spLocks noGrp="1"/>
          </p:cNvSpPr>
          <p:nvPr/>
        </p:nvSpPr>
        <p:spPr>
          <a:xfrm>
            <a:off x="6217920" y="4645152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bad_05_duplicated_code.py</a:t>
            </a:r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9414628D-757A-4C61-BAE2-9005D0180C65}"/>
              </a:ext>
            </a:extLst>
          </p:cNvPr>
          <p:cNvSpPr>
            <a:spLocks noGrp="1"/>
          </p:cNvSpPr>
          <p:nvPr/>
        </p:nvSpPr>
        <p:spPr>
          <a:xfrm>
            <a:off x="10972800" y="4690872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2326E8B5-2A6D-4084-98F6-5ADD1909AB18}"/>
              </a:ext>
            </a:extLst>
          </p:cNvPr>
          <p:cNvSpPr>
            <a:spLocks noGrp="1"/>
          </p:cNvSpPr>
          <p:nvPr/>
        </p:nvSpPr>
        <p:spPr>
          <a:xfrm>
            <a:off x="10972800" y="468172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5" name="Shape 83">
            <a:extLst>
              <a:ext uri="{FF2B5EF4-FFF2-40B4-BE49-F238E27FC236}">
                <a16:creationId xmlns:a16="http://schemas.microsoft.com/office/drawing/2014/main" id="{D3A6FB3E-050A-41FD-94A2-8F6659D33431}"/>
              </a:ext>
            </a:extLst>
          </p:cNvPr>
          <p:cNvSpPr>
            <a:spLocks noGrp="1"/>
          </p:cNvSpPr>
          <p:nvPr/>
        </p:nvSpPr>
        <p:spPr>
          <a:xfrm>
            <a:off x="6126480" y="4892040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15AC9608-0B16-40B5-A241-A18BC2D1AABC}"/>
              </a:ext>
            </a:extLst>
          </p:cNvPr>
          <p:cNvSpPr>
            <a:spLocks noGrp="1"/>
          </p:cNvSpPr>
          <p:nvPr/>
        </p:nvSpPr>
        <p:spPr>
          <a:xfrm>
            <a:off x="6217920" y="4892040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bad_06_complex_switch.py</a:t>
            </a:r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6A6EE9E5-E760-45C0-B796-08A692A6250B}"/>
              </a:ext>
            </a:extLst>
          </p:cNvPr>
          <p:cNvSpPr>
            <a:spLocks noGrp="1"/>
          </p:cNvSpPr>
          <p:nvPr/>
        </p:nvSpPr>
        <p:spPr>
          <a:xfrm>
            <a:off x="10972800" y="4937760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DEDABDA4-B854-42B2-A0E0-C650305738D4}"/>
              </a:ext>
            </a:extLst>
          </p:cNvPr>
          <p:cNvSpPr>
            <a:spLocks noGrp="1"/>
          </p:cNvSpPr>
          <p:nvPr/>
        </p:nvSpPr>
        <p:spPr>
          <a:xfrm>
            <a:off x="10972800" y="492861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9" name="Shape 87">
            <a:extLst>
              <a:ext uri="{FF2B5EF4-FFF2-40B4-BE49-F238E27FC236}">
                <a16:creationId xmlns:a16="http://schemas.microsoft.com/office/drawing/2014/main" id="{BB397332-678A-4045-B66D-D5D1E6334B2C}"/>
              </a:ext>
            </a:extLst>
          </p:cNvPr>
          <p:cNvSpPr>
            <a:spLocks noGrp="1"/>
          </p:cNvSpPr>
          <p:nvPr/>
        </p:nvSpPr>
        <p:spPr>
          <a:xfrm>
            <a:off x="6126480" y="5138928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2A470760-9878-45B3-BA6B-2BEB015AFA58}"/>
              </a:ext>
            </a:extLst>
          </p:cNvPr>
          <p:cNvSpPr>
            <a:spLocks noGrp="1"/>
          </p:cNvSpPr>
          <p:nvPr/>
        </p:nvSpPr>
        <p:spPr>
          <a:xfrm>
            <a:off x="6217920" y="513892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bad_07_long_parameter_list.py</a:t>
            </a:r>
          </a:p>
        </p:txBody>
      </p:sp>
      <p:sp>
        <p:nvSpPr>
          <p:cNvPr id="91" name="Shape 89">
            <a:extLst>
              <a:ext uri="{FF2B5EF4-FFF2-40B4-BE49-F238E27FC236}">
                <a16:creationId xmlns:a16="http://schemas.microsoft.com/office/drawing/2014/main" id="{355F16C0-8BE4-46DF-B1DC-2AB10733B781}"/>
              </a:ext>
            </a:extLst>
          </p:cNvPr>
          <p:cNvSpPr>
            <a:spLocks noGrp="1"/>
          </p:cNvSpPr>
          <p:nvPr/>
        </p:nvSpPr>
        <p:spPr>
          <a:xfrm>
            <a:off x="10972800" y="5184648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EE31CF1F-5E63-4BF7-AF7D-1CD5BB6DFA9F}"/>
              </a:ext>
            </a:extLst>
          </p:cNvPr>
          <p:cNvSpPr>
            <a:spLocks noGrp="1"/>
          </p:cNvSpPr>
          <p:nvPr/>
        </p:nvSpPr>
        <p:spPr>
          <a:xfrm>
            <a:off x="10972800" y="517550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821D6D70-2CF4-401A-84BE-C38A5E6C4074}"/>
              </a:ext>
            </a:extLst>
          </p:cNvPr>
          <p:cNvSpPr>
            <a:spLocks noGrp="1"/>
          </p:cNvSpPr>
          <p:nvPr/>
        </p:nvSpPr>
        <p:spPr>
          <a:xfrm>
            <a:off x="6126480" y="5385816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2E539E7D-FAC1-4736-A6F8-BC943404B914}"/>
              </a:ext>
            </a:extLst>
          </p:cNvPr>
          <p:cNvSpPr>
            <a:spLocks noGrp="1"/>
          </p:cNvSpPr>
          <p:nvPr/>
        </p:nvSpPr>
        <p:spPr>
          <a:xfrm>
            <a:off x="6217920" y="5385816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bad_08_god_class.py</a:t>
            </a:r>
          </a:p>
        </p:txBody>
      </p:sp>
      <p:sp>
        <p:nvSpPr>
          <p:cNvPr id="95" name="Shape 93">
            <a:extLst>
              <a:ext uri="{FF2B5EF4-FFF2-40B4-BE49-F238E27FC236}">
                <a16:creationId xmlns:a16="http://schemas.microsoft.com/office/drawing/2014/main" id="{3DFB3C20-D7AE-4360-995D-C9CDE1863B91}"/>
              </a:ext>
            </a:extLst>
          </p:cNvPr>
          <p:cNvSpPr>
            <a:spLocks noGrp="1"/>
          </p:cNvSpPr>
          <p:nvPr/>
        </p:nvSpPr>
        <p:spPr>
          <a:xfrm>
            <a:off x="10972800" y="5431536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Text 94">
            <a:extLst>
              <a:ext uri="{FF2B5EF4-FFF2-40B4-BE49-F238E27FC236}">
                <a16:creationId xmlns:a16="http://schemas.microsoft.com/office/drawing/2014/main" id="{994BD05A-E403-412F-96CB-14411D7683F4}"/>
              </a:ext>
            </a:extLst>
          </p:cNvPr>
          <p:cNvSpPr>
            <a:spLocks noGrp="1"/>
          </p:cNvSpPr>
          <p:nvPr/>
        </p:nvSpPr>
        <p:spPr>
          <a:xfrm>
            <a:off x="10972800" y="54223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7" name="Shape 95">
            <a:extLst>
              <a:ext uri="{FF2B5EF4-FFF2-40B4-BE49-F238E27FC236}">
                <a16:creationId xmlns:a16="http://schemas.microsoft.com/office/drawing/2014/main" id="{17B5F979-E7FD-4EAE-AA64-CEC32938371D}"/>
              </a:ext>
            </a:extLst>
          </p:cNvPr>
          <p:cNvSpPr>
            <a:spLocks noGrp="1"/>
          </p:cNvSpPr>
          <p:nvPr/>
        </p:nvSpPr>
        <p:spPr>
          <a:xfrm>
            <a:off x="6126480" y="5632704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Text 96">
            <a:extLst>
              <a:ext uri="{FF2B5EF4-FFF2-40B4-BE49-F238E27FC236}">
                <a16:creationId xmlns:a16="http://schemas.microsoft.com/office/drawing/2014/main" id="{24C0C0AB-8955-41F4-A640-87C0C5165D63}"/>
              </a:ext>
            </a:extLst>
          </p:cNvPr>
          <p:cNvSpPr>
            <a:spLocks noGrp="1"/>
          </p:cNvSpPr>
          <p:nvPr/>
        </p:nvSpPr>
        <p:spPr>
          <a:xfrm>
            <a:off x="6217920" y="5632704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bad_09_tight_coupling.py</a:t>
            </a:r>
          </a:p>
        </p:txBody>
      </p:sp>
      <p:sp>
        <p:nvSpPr>
          <p:cNvPr id="99" name="Shape 97">
            <a:extLst>
              <a:ext uri="{FF2B5EF4-FFF2-40B4-BE49-F238E27FC236}">
                <a16:creationId xmlns:a16="http://schemas.microsoft.com/office/drawing/2014/main" id="{3EF26666-1679-4299-8C09-9EB6C5248EFD}"/>
              </a:ext>
            </a:extLst>
          </p:cNvPr>
          <p:cNvSpPr>
            <a:spLocks noGrp="1"/>
          </p:cNvSpPr>
          <p:nvPr/>
        </p:nvSpPr>
        <p:spPr>
          <a:xfrm>
            <a:off x="10972800" y="5678424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Text 98">
            <a:extLst>
              <a:ext uri="{FF2B5EF4-FFF2-40B4-BE49-F238E27FC236}">
                <a16:creationId xmlns:a16="http://schemas.microsoft.com/office/drawing/2014/main" id="{42FB1DCE-4943-4235-AAA9-55DE92F9A314}"/>
              </a:ext>
            </a:extLst>
          </p:cNvPr>
          <p:cNvSpPr>
            <a:spLocks noGrp="1"/>
          </p:cNvSpPr>
          <p:nvPr/>
        </p:nvSpPr>
        <p:spPr>
          <a:xfrm>
            <a:off x="10972800" y="56692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1" name="Shape 99">
            <a:extLst>
              <a:ext uri="{FF2B5EF4-FFF2-40B4-BE49-F238E27FC236}">
                <a16:creationId xmlns:a16="http://schemas.microsoft.com/office/drawing/2014/main" id="{11C30B7A-9E51-4E30-98C3-F6C0DCCCF333}"/>
              </a:ext>
            </a:extLst>
          </p:cNvPr>
          <p:cNvSpPr>
            <a:spLocks noGrp="1"/>
          </p:cNvSpPr>
          <p:nvPr/>
        </p:nvSpPr>
        <p:spPr>
          <a:xfrm>
            <a:off x="6126480" y="5879592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Text 100">
            <a:extLst>
              <a:ext uri="{FF2B5EF4-FFF2-40B4-BE49-F238E27FC236}">
                <a16:creationId xmlns:a16="http://schemas.microsoft.com/office/drawing/2014/main" id="{14ECF970-5C95-4816-A77A-56D1044CE9A9}"/>
              </a:ext>
            </a:extLst>
          </p:cNvPr>
          <p:cNvSpPr>
            <a:spLocks noGrp="1"/>
          </p:cNvSpPr>
          <p:nvPr/>
        </p:nvSpPr>
        <p:spPr>
          <a:xfrm>
            <a:off x="6217920" y="5879592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bad_10_duplicated_code.py</a:t>
            </a:r>
          </a:p>
        </p:txBody>
      </p:sp>
      <p:sp>
        <p:nvSpPr>
          <p:cNvPr id="103" name="Shape 101">
            <a:extLst>
              <a:ext uri="{FF2B5EF4-FFF2-40B4-BE49-F238E27FC236}">
                <a16:creationId xmlns:a16="http://schemas.microsoft.com/office/drawing/2014/main" id="{44A8C7B0-27C1-4DAC-B794-1EE37B2FE757}"/>
              </a:ext>
            </a:extLst>
          </p:cNvPr>
          <p:cNvSpPr>
            <a:spLocks noGrp="1"/>
          </p:cNvSpPr>
          <p:nvPr/>
        </p:nvSpPr>
        <p:spPr>
          <a:xfrm>
            <a:off x="10972800" y="5925312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>
            <a:extLst>
              <a:ext uri="{FF2B5EF4-FFF2-40B4-BE49-F238E27FC236}">
                <a16:creationId xmlns:a16="http://schemas.microsoft.com/office/drawing/2014/main" id="{67B53451-BF54-4567-A64C-876101DE031E}"/>
              </a:ext>
            </a:extLst>
          </p:cNvPr>
          <p:cNvSpPr>
            <a:spLocks noGrp="1"/>
          </p:cNvSpPr>
          <p:nvPr/>
        </p:nvSpPr>
        <p:spPr>
          <a:xfrm>
            <a:off x="10972800" y="591616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5" name="Text 103">
            <a:extLst>
              <a:ext uri="{FF2B5EF4-FFF2-40B4-BE49-F238E27FC236}">
                <a16:creationId xmlns:a16="http://schemas.microsoft.com/office/drawing/2014/main" id="{794EC5A6-7A65-4E39-9FD0-CDB9D291A7F8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106" name="Text 104">
            <a:extLst>
              <a:ext uri="{FF2B5EF4-FFF2-40B4-BE49-F238E27FC236}">
                <a16:creationId xmlns:a16="http://schemas.microsoft.com/office/drawing/2014/main" id="{73B6ED25-438B-4B38-994F-D3E1B0972273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 / 24</a:t>
            </a:r>
          </a:p>
        </p:txBody>
      </p:sp>
    </p:spTree>
    <p:extLst>
      <p:ext uri="{BB962C8B-B14F-4D97-AF65-F5344CB8AC3E}">
        <p14:creationId xmlns:p14="http://schemas.microsoft.com/office/powerpoint/2010/main" val="180534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C0BE116-6D76-4765-93A1-DF449EBFB6C1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12 · REPRODUTIBILIDADE · DETECTOR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9399CD2-B82D-42F7-9C26-987E160C62C3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Run 2 — Detector blindado por design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E76A219-6AFA-4AAC-8ABD-0D1C2EC947D7}"/>
              </a:ext>
            </a:extLst>
          </p:cNvPr>
          <p:cNvSpPr>
            <a:spLocks noGrp="1"/>
          </p:cNvSpPr>
          <p:nvPr/>
        </p:nvSpPr>
        <p:spPr>
          <a:xfrm>
            <a:off x="548640" y="1627632"/>
            <a:ext cx="5029200" cy="329184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C3B7C4F-CE3C-4C49-B8D5-EEAF6ADF62E4}"/>
              </a:ext>
            </a:extLst>
          </p:cNvPr>
          <p:cNvSpPr>
            <a:spLocks noGrp="1"/>
          </p:cNvSpPr>
          <p:nvPr/>
        </p:nvSpPr>
        <p:spPr>
          <a:xfrm>
            <a:off x="640080" y="16276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/api/v1/evaluate/detector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551FF37-0149-4C9C-BB3A-4A7AE123D9B1}"/>
              </a:ext>
            </a:extLst>
          </p:cNvPr>
          <p:cNvSpPr>
            <a:spLocks noGrp="1"/>
          </p:cNvSpPr>
          <p:nvPr/>
        </p:nvSpPr>
        <p:spPr>
          <a:xfrm>
            <a:off x="5760720" y="1627632"/>
            <a:ext cx="5852160" cy="32918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9CECADE-181C-4E72-85D4-1B9904BEB936}"/>
              </a:ext>
            </a:extLst>
          </p:cNvPr>
          <p:cNvSpPr>
            <a:spLocks noGrp="1"/>
          </p:cNvSpPr>
          <p:nvPr/>
        </p:nvSpPr>
        <p:spPr>
          <a:xfrm>
            <a:off x="5852160" y="1627632"/>
            <a:ext cx="56692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RUN 2 · </a:t>
            </a:r>
            <a:r>
              <a:rPr sz="1000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sob carga compartilhada · sem regressão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5189504-B0D3-444D-899A-E2E17D8B5CD4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536E517-6B6B-43C4-8033-FCF07C8F9FE6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9F40948-61D9-42D4-8657-DEDAC50CFED6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EAB7F04-4781-4354-A4F1-A1E8249AC79F}"/>
              </a:ext>
            </a:extLst>
          </p:cNvPr>
          <p:cNvSpPr>
            <a:spLocks noGrp="1"/>
          </p:cNvSpPr>
          <p:nvPr/>
        </p:nvSpPr>
        <p:spPr>
          <a:xfrm>
            <a:off x="731520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FF6648C-7ADB-48A3-8BDE-0B8B42FDD2C8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A82ABDD-4750-4DC2-9283-012BDC2EA38E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72CE9B7-3316-44B9-9191-6D13D60BCA3B}"/>
              </a:ext>
            </a:extLst>
          </p:cNvPr>
          <p:cNvSpPr>
            <a:spLocks noGrp="1"/>
          </p:cNvSpPr>
          <p:nvPr/>
        </p:nvSpPr>
        <p:spPr>
          <a:xfrm>
            <a:off x="3593592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771D892-121F-43D8-8951-938DE6CF8FB5}"/>
              </a:ext>
            </a:extLst>
          </p:cNvPr>
          <p:cNvSpPr>
            <a:spLocks noGrp="1"/>
          </p:cNvSpPr>
          <p:nvPr/>
        </p:nvSpPr>
        <p:spPr>
          <a:xfrm>
            <a:off x="3593592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B6FC37C-90E6-4E8A-8D6C-247FE0DC6C61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955E3F6-6FC0-4A75-9B36-4146E258FF9A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D0A4D86-7DB9-4717-8BD9-B4374A1A8BB7}"/>
              </a:ext>
            </a:extLst>
          </p:cNvPr>
          <p:cNvSpPr>
            <a:spLocks noGrp="1"/>
          </p:cNvSpPr>
          <p:nvPr/>
        </p:nvSpPr>
        <p:spPr>
          <a:xfrm>
            <a:off x="6455664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C0E1A95-E773-4B49-9468-BBF974979B27}"/>
              </a:ext>
            </a:extLst>
          </p:cNvPr>
          <p:cNvSpPr>
            <a:spLocks noGrp="1"/>
          </p:cNvSpPr>
          <p:nvPr/>
        </p:nvSpPr>
        <p:spPr>
          <a:xfrm>
            <a:off x="6455664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69909B8-68C2-4F74-A153-8A9D3B024FA2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D940CD2-B4D4-4667-A3CE-F1E93A6E5DB9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7D0161F-E2E7-409D-BD23-C3EBA38D7BF0}"/>
              </a:ext>
            </a:extLst>
          </p:cNvPr>
          <p:cNvSpPr>
            <a:spLocks noGrp="1"/>
          </p:cNvSpPr>
          <p:nvPr/>
        </p:nvSpPr>
        <p:spPr>
          <a:xfrm>
            <a:off x="9317736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603571A-BC2C-4E3E-9E25-914643793149}"/>
              </a:ext>
            </a:extLst>
          </p:cNvPr>
          <p:cNvSpPr>
            <a:spLocks noGrp="1"/>
          </p:cNvSpPr>
          <p:nvPr/>
        </p:nvSpPr>
        <p:spPr>
          <a:xfrm>
            <a:off x="9317736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B50CF26-ED00-42EB-AF36-0257C779C2B5}"/>
              </a:ext>
            </a:extLst>
          </p:cNvPr>
          <p:cNvSpPr>
            <a:spLocks noGrp="1"/>
          </p:cNvSpPr>
          <p:nvPr/>
        </p:nvSpPr>
        <p:spPr>
          <a:xfrm>
            <a:off x="548640" y="30632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(20 amostras) · run 1 = run 2 · zero regressão entre execuções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0697155-A804-4E54-9650-E0273C38A451}"/>
              </a:ext>
            </a:extLst>
          </p:cNvPr>
          <p:cNvSpPr>
            <a:spLocks noGrp="1"/>
          </p:cNvSpPr>
          <p:nvPr/>
        </p:nvSpPr>
        <p:spPr>
          <a:xfrm>
            <a:off x="548640" y="3429000"/>
            <a:ext cx="11064240" cy="260604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DD66DC0-EBD3-4A2E-A4E4-971E5A348643}"/>
              </a:ext>
            </a:extLst>
          </p:cNvPr>
          <p:cNvSpPr>
            <a:spLocks noGrp="1"/>
          </p:cNvSpPr>
          <p:nvPr/>
        </p:nvSpPr>
        <p:spPr>
          <a:xfrm>
            <a:off x="914400" y="36118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Por que o Detector é blindado</a:t>
            </a: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9CA90302-6E0C-4792-8A4B-3E81EE8E1A41}"/>
              </a:ext>
            </a:extLst>
          </p:cNvPr>
          <p:cNvSpPr>
            <a:spLocks noGrp="1"/>
          </p:cNvSpPr>
          <p:nvPr/>
        </p:nvSpPr>
        <p:spPr>
          <a:xfrm>
            <a:off x="914400" y="4114800"/>
            <a:ext cx="777240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3EF5ABCA-CC0E-4905-BAF5-391CC8DEF386}"/>
              </a:ext>
            </a:extLst>
          </p:cNvPr>
          <p:cNvSpPr>
            <a:spLocks noGrp="1"/>
          </p:cNvSpPr>
          <p:nvPr/>
        </p:nvSpPr>
        <p:spPr>
          <a:xfrm>
            <a:off x="914400" y="4123944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AST</a:t>
            </a: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FD1C4BB-82E7-44FF-AF78-B70644FE58D5}"/>
              </a:ext>
            </a:extLst>
          </p:cNvPr>
          <p:cNvSpPr>
            <a:spLocks noGrp="1"/>
          </p:cNvSpPr>
          <p:nvPr/>
        </p:nvSpPr>
        <p:spPr>
          <a:xfrm>
            <a:off x="1828800" y="4114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Métricas determinísticas via ast + radon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3AD5B80-BE59-4F09-A696-D28A2D668DB7}"/>
              </a:ext>
            </a:extLst>
          </p:cNvPr>
          <p:cNvSpPr>
            <a:spLocks noGrp="1"/>
          </p:cNvSpPr>
          <p:nvPr/>
        </p:nvSpPr>
        <p:spPr>
          <a:xfrm>
            <a:off x="6949440" y="411480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Complexidade ciclomática, contagem de membros, aridade de parâmetros — números objetivos, mesmos em todo run.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7C5E4EA-27D6-4686-B8D8-34F61E96FF08}"/>
              </a:ext>
            </a:extLst>
          </p:cNvPr>
          <p:cNvSpPr>
            <a:spLocks noGrp="1"/>
          </p:cNvSpPr>
          <p:nvPr/>
        </p:nvSpPr>
        <p:spPr>
          <a:xfrm>
            <a:off x="914400" y="4709160"/>
            <a:ext cx="777240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7EC84EB-8CB2-415A-993D-77FCD81FD265}"/>
              </a:ext>
            </a:extLst>
          </p:cNvPr>
          <p:cNvSpPr>
            <a:spLocks noGrp="1"/>
          </p:cNvSpPr>
          <p:nvPr/>
        </p:nvSpPr>
        <p:spPr>
          <a:xfrm>
            <a:off x="914400" y="4718304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CBD8A224-D952-44A3-A7B7-2CF97766DDA0}"/>
              </a:ext>
            </a:extLst>
          </p:cNvPr>
          <p:cNvSpPr>
            <a:spLocks noGrp="1"/>
          </p:cNvSpPr>
          <p:nvPr/>
        </p:nvSpPr>
        <p:spPr>
          <a:xfrm>
            <a:off x="1828800" y="47091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Thresholds explícitos no prompt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04E97B5-E995-448D-A412-4F905B85E0EB}"/>
              </a:ext>
            </a:extLst>
          </p:cNvPr>
          <p:cNvSpPr>
            <a:spLocks noGrp="1"/>
          </p:cNvSpPr>
          <p:nvPr/>
        </p:nvSpPr>
        <p:spPr>
          <a:xfrm>
            <a:off x="6949440" y="47091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CC &gt; 10, classe &gt; 20 membros, ≥ 5 parâmetros. LLM apenas classifica — espaço para alucinação é mínimo.</a:t>
            </a: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7810C622-9B18-48F2-A1EE-750EBE0A592E}"/>
              </a:ext>
            </a:extLst>
          </p:cNvPr>
          <p:cNvSpPr>
            <a:spLocks noGrp="1"/>
          </p:cNvSpPr>
          <p:nvPr/>
        </p:nvSpPr>
        <p:spPr>
          <a:xfrm>
            <a:off x="914400" y="5303520"/>
            <a:ext cx="777240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A6FA8CE8-697A-4525-8515-0DDD896C959B}"/>
              </a:ext>
            </a:extLst>
          </p:cNvPr>
          <p:cNvSpPr>
            <a:spLocks noGrp="1"/>
          </p:cNvSpPr>
          <p:nvPr/>
        </p:nvSpPr>
        <p:spPr>
          <a:xfrm>
            <a:off x="914400" y="5312664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VAL</a:t>
            </a: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C7614AD-954C-4211-A5AF-1DDA7B56EA20}"/>
              </a:ext>
            </a:extLst>
          </p:cNvPr>
          <p:cNvSpPr>
            <a:spLocks noGrp="1"/>
          </p:cNvSpPr>
          <p:nvPr/>
        </p:nvSpPr>
        <p:spPr>
          <a:xfrm>
            <a:off x="1828800" y="53035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parser_model isola JSON-mode</a:t>
            </a: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58169E1-B166-4EB7-B413-09FFAAE1CB44}"/>
              </a:ext>
            </a:extLst>
          </p:cNvPr>
          <p:cNvSpPr>
            <a:spLocks noGrp="1"/>
          </p:cNvSpPr>
          <p:nvPr/>
        </p:nvSpPr>
        <p:spPr>
          <a:xfrm>
            <a:off x="6949440" y="530352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Mesmo sob 429 transitório, o agente recupera via arun_typed. Nas 20 amostras, zero falhas.</a:t>
            </a: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80839061-6C93-458F-840B-458124140855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C25A0415-AEFB-4B6B-958E-A4D29418368E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 / 24</a:t>
            </a:r>
          </a:p>
        </p:txBody>
      </p:sp>
    </p:spTree>
    <p:extLst>
      <p:ext uri="{BB962C8B-B14F-4D97-AF65-F5344CB8AC3E}">
        <p14:creationId xmlns:p14="http://schemas.microsoft.com/office/powerpoint/2010/main" val="10499712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ACFF768-5A7D-46C9-80B2-364439A078CB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13 · REPRODUTIBILIDADE · REFACTOR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3295DE-05A5-4DB2-B2AD-40F4AEBC8435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Run 2 — qualidade preservada onde executou (3/4)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9B32AA2-09F6-446A-88E4-2E66017A730D}"/>
              </a:ext>
            </a:extLst>
          </p:cNvPr>
          <p:cNvSpPr>
            <a:spLocks noGrp="1"/>
          </p:cNvSpPr>
          <p:nvPr/>
        </p:nvSpPr>
        <p:spPr>
          <a:xfrm>
            <a:off x="548640" y="1627632"/>
            <a:ext cx="5029200" cy="329184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A53D9E0-B1A0-4763-AEAF-FA1C72814879}"/>
              </a:ext>
            </a:extLst>
          </p:cNvPr>
          <p:cNvSpPr>
            <a:spLocks noGrp="1"/>
          </p:cNvSpPr>
          <p:nvPr/>
        </p:nvSpPr>
        <p:spPr>
          <a:xfrm>
            <a:off x="640080" y="16276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/api/v1/evaluate/refactor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528279C-7B88-4A74-82E1-078746601A98}"/>
              </a:ext>
            </a:extLst>
          </p:cNvPr>
          <p:cNvSpPr>
            <a:spLocks noGrp="1"/>
          </p:cNvSpPr>
          <p:nvPr/>
        </p:nvSpPr>
        <p:spPr>
          <a:xfrm>
            <a:off x="5760720" y="1627632"/>
            <a:ext cx="5852160" cy="32918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6665BF5-9F12-45AE-AC07-0583EEDDC29D}"/>
              </a:ext>
            </a:extLst>
          </p:cNvPr>
          <p:cNvSpPr>
            <a:spLocks noGrp="1"/>
          </p:cNvSpPr>
          <p:nvPr/>
        </p:nvSpPr>
        <p:spPr>
          <a:xfrm>
            <a:off x="5852160" y="1627632"/>
            <a:ext cx="56692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RUN 2 · </a:t>
            </a:r>
            <a:r>
              <a:rPr sz="1000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6/10 pipelines abortados antes de gerar proposta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D1D1FD6-03EB-4F6D-A529-E7959B66BE0C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F56CD00-CB04-4CD3-AC88-D19CDC180C99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73152" cy="8229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1B438AA-1FA8-4B91-A2EE-0762133D4E5F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89AEA8C-9CE2-4F97-A6DB-64B15730D817}"/>
              </a:ext>
            </a:extLst>
          </p:cNvPr>
          <p:cNvSpPr>
            <a:spLocks noGrp="1"/>
          </p:cNvSpPr>
          <p:nvPr/>
        </p:nvSpPr>
        <p:spPr>
          <a:xfrm>
            <a:off x="731520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0.300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7D982C4-63BC-4F57-913A-D515F74F67A3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2052045-3C83-4C1A-8301-212012EBDF30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73152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5EFE712-E37F-486A-B2CE-20C0B6855201}"/>
              </a:ext>
            </a:extLst>
          </p:cNvPr>
          <p:cNvSpPr>
            <a:spLocks noGrp="1"/>
          </p:cNvSpPr>
          <p:nvPr/>
        </p:nvSpPr>
        <p:spPr>
          <a:xfrm>
            <a:off x="3593592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 OK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22BB7DE-FAC7-4A84-A86A-0CAF0779ECF0}"/>
              </a:ext>
            </a:extLst>
          </p:cNvPr>
          <p:cNvSpPr>
            <a:spLocks noGrp="1"/>
          </p:cNvSpPr>
          <p:nvPr/>
        </p:nvSpPr>
        <p:spPr>
          <a:xfrm>
            <a:off x="3593592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0.400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6273D18-AF9C-4B0E-8389-188FDBACA1F1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D91997F-ACC6-4ABD-84B8-3600FC07562D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73152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E75D7FB-954A-4832-A2FC-3AA863714E62}"/>
              </a:ext>
            </a:extLst>
          </p:cNvPr>
          <p:cNvSpPr>
            <a:spLocks noGrp="1"/>
          </p:cNvSpPr>
          <p:nvPr/>
        </p:nvSpPr>
        <p:spPr>
          <a:xfrm>
            <a:off x="6455664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SINTAXE OK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57A64D6-0DA1-4582-85FE-EEC97BC7AE5B}"/>
              </a:ext>
            </a:extLst>
          </p:cNvPr>
          <p:cNvSpPr>
            <a:spLocks noGrp="1"/>
          </p:cNvSpPr>
          <p:nvPr/>
        </p:nvSpPr>
        <p:spPr>
          <a:xfrm>
            <a:off x="6455664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0.400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03F878E-1603-43BB-BCE0-A00BCBB5DB01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1936345-90A3-4E19-AB03-EA6D7B1F3729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73152" cy="8229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F4BF7BB-E07A-4C66-B22D-E374F5ABD324}"/>
              </a:ext>
            </a:extLst>
          </p:cNvPr>
          <p:cNvSpPr>
            <a:spLocks noGrp="1"/>
          </p:cNvSpPr>
          <p:nvPr/>
        </p:nvSpPr>
        <p:spPr>
          <a:xfrm>
            <a:off x="9317736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LOGIC PRESERVED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C3D140D-522E-4F7A-8147-1E264D56F349}"/>
              </a:ext>
            </a:extLst>
          </p:cNvPr>
          <p:cNvSpPr>
            <a:spLocks noGrp="1"/>
          </p:cNvSpPr>
          <p:nvPr/>
        </p:nvSpPr>
        <p:spPr>
          <a:xfrm>
            <a:off x="9317736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0.300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AE9BC14-010B-4979-BA80-C5FA589E8DFD}"/>
              </a:ext>
            </a:extLst>
          </p:cNvPr>
          <p:cNvSpPr>
            <a:spLocks noGrp="1"/>
          </p:cNvSpPr>
          <p:nvPr/>
        </p:nvSpPr>
        <p:spPr>
          <a:xfrm>
            <a:off x="548640" y="30632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(10 problemas) · pipeline_approved_rate=0.3 · avg_iterations=0.6 · 6 pipelines abortados (proposal=null)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E3B3DD0-647B-4FD5-8A80-D42A7AD80E57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0670476-72DE-43D9-A7EF-234E9D316C35}"/>
              </a:ext>
            </a:extLst>
          </p:cNvPr>
          <p:cNvSpPr>
            <a:spLocks noGrp="1"/>
          </p:cNvSpPr>
          <p:nvPr/>
        </p:nvSpPr>
        <p:spPr>
          <a:xfrm>
            <a:off x="640080" y="33832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546F750-4C58-40B5-AF88-012CF15EDF7F}"/>
              </a:ext>
            </a:extLst>
          </p:cNvPr>
          <p:cNvSpPr>
            <a:spLocks noGrp="1"/>
          </p:cNvSpPr>
          <p:nvPr/>
        </p:nvSpPr>
        <p:spPr>
          <a:xfrm>
            <a:off x="3840480" y="33832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</a:t>
            </a: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39AFBF0A-2740-4587-840F-45AE3EFA4E85}"/>
              </a:ext>
            </a:extLst>
          </p:cNvPr>
          <p:cNvSpPr>
            <a:spLocks noGrp="1"/>
          </p:cNvSpPr>
          <p:nvPr/>
        </p:nvSpPr>
        <p:spPr>
          <a:xfrm>
            <a:off x="7040880" y="33832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applied</a:t>
            </a: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2451AB4-853E-44F9-ADCB-208868A6F593}"/>
              </a:ext>
            </a:extLst>
          </p:cNvPr>
          <p:cNvSpPr>
            <a:spLocks noGrp="1"/>
          </p:cNvSpPr>
          <p:nvPr/>
        </p:nvSpPr>
        <p:spPr>
          <a:xfrm>
            <a:off x="9509760" y="33832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BE7E6446-275D-4823-B8D2-E8489E442214}"/>
              </a:ext>
            </a:extLst>
          </p:cNvPr>
          <p:cNvSpPr>
            <a:spLocks noGrp="1"/>
          </p:cNvSpPr>
          <p:nvPr/>
        </p:nvSpPr>
        <p:spPr>
          <a:xfrm>
            <a:off x="11018520" y="338328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iter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EDC9F05-53D5-4717-85C6-C5EF0DF6626F}"/>
              </a:ext>
            </a:extLst>
          </p:cNvPr>
          <p:cNvSpPr>
            <a:spLocks noGrp="1"/>
          </p:cNvSpPr>
          <p:nvPr/>
        </p:nvSpPr>
        <p:spPr>
          <a:xfrm>
            <a:off x="548640" y="3685032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ED864AD-24D5-4ECE-B8B2-5177F449DD40}"/>
              </a:ext>
            </a:extLst>
          </p:cNvPr>
          <p:cNvSpPr>
            <a:spLocks noGrp="1"/>
          </p:cNvSpPr>
          <p:nvPr/>
        </p:nvSpPr>
        <p:spPr>
          <a:xfrm>
            <a:off x="640080" y="3685032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01_complex_switch.py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4C10EB27-22B9-4CA3-8E28-F4ADDEFBD2D3}"/>
              </a:ext>
            </a:extLst>
          </p:cNvPr>
          <p:cNvSpPr>
            <a:spLocks noGrp="1"/>
          </p:cNvSpPr>
          <p:nvPr/>
        </p:nvSpPr>
        <p:spPr>
          <a:xfrm>
            <a:off x="3840480" y="3685032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8954AA5-A153-4E6B-9D65-33B03191A483}"/>
              </a:ext>
            </a:extLst>
          </p:cNvPr>
          <p:cNvSpPr>
            <a:spLocks noGrp="1"/>
          </p:cNvSpPr>
          <p:nvPr/>
        </p:nvSpPr>
        <p:spPr>
          <a:xfrm>
            <a:off x="7040880" y="3685032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EBF37889-E02B-4605-8D3C-87794CBA83FD}"/>
              </a:ext>
            </a:extLst>
          </p:cNvPr>
          <p:cNvSpPr>
            <a:spLocks noGrp="1"/>
          </p:cNvSpPr>
          <p:nvPr/>
        </p:nvSpPr>
        <p:spPr>
          <a:xfrm>
            <a:off x="9509760" y="3685032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ok</a:t>
            </a: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DBD7846F-CF14-4667-892F-E42A354EA28B}"/>
              </a:ext>
            </a:extLst>
          </p:cNvPr>
          <p:cNvSpPr>
            <a:spLocks noGrp="1"/>
          </p:cNvSpPr>
          <p:nvPr/>
        </p:nvSpPr>
        <p:spPr>
          <a:xfrm>
            <a:off x="11018520" y="3685032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0162E5E-2D30-4CCB-942C-897459D15895}"/>
              </a:ext>
            </a:extLst>
          </p:cNvPr>
          <p:cNvSpPr>
            <a:spLocks noGrp="1"/>
          </p:cNvSpPr>
          <p:nvPr/>
        </p:nvSpPr>
        <p:spPr>
          <a:xfrm>
            <a:off x="548640" y="3931920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50D04A9-E4FF-4378-9D66-CA20C516165C}"/>
              </a:ext>
            </a:extLst>
          </p:cNvPr>
          <p:cNvSpPr>
            <a:spLocks noGrp="1"/>
          </p:cNvSpPr>
          <p:nvPr/>
        </p:nvSpPr>
        <p:spPr>
          <a:xfrm>
            <a:off x="640080" y="3931920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02_long_parameter_list.py</a:t>
            </a: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92ED88B-8879-4D2F-A350-C0C67D15B597}"/>
              </a:ext>
            </a:extLst>
          </p:cNvPr>
          <p:cNvSpPr>
            <a:spLocks noGrp="1"/>
          </p:cNvSpPr>
          <p:nvPr/>
        </p:nvSpPr>
        <p:spPr>
          <a:xfrm>
            <a:off x="3840480" y="3931920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0FF91F06-F1F3-4B1B-A759-3B7CF4D1D249}"/>
              </a:ext>
            </a:extLst>
          </p:cNvPr>
          <p:cNvSpPr>
            <a:spLocks noGrp="1"/>
          </p:cNvSpPr>
          <p:nvPr/>
        </p:nvSpPr>
        <p:spPr>
          <a:xfrm>
            <a:off x="7040880" y="3931920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32A1C01-9E55-4303-8789-94E2ADEECC21}"/>
              </a:ext>
            </a:extLst>
          </p:cNvPr>
          <p:cNvSpPr>
            <a:spLocks noGrp="1"/>
          </p:cNvSpPr>
          <p:nvPr/>
        </p:nvSpPr>
        <p:spPr>
          <a:xfrm>
            <a:off x="9509760" y="3931920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ok</a:t>
            </a: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21C458B2-B2F5-46CB-BD07-DEDA30AF4C70}"/>
              </a:ext>
            </a:extLst>
          </p:cNvPr>
          <p:cNvSpPr>
            <a:spLocks noGrp="1"/>
          </p:cNvSpPr>
          <p:nvPr/>
        </p:nvSpPr>
        <p:spPr>
          <a:xfrm>
            <a:off x="11018520" y="3931920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ECE92303-9E69-4975-BEF1-0A3595566C5A}"/>
              </a:ext>
            </a:extLst>
          </p:cNvPr>
          <p:cNvSpPr>
            <a:spLocks noGrp="1"/>
          </p:cNvSpPr>
          <p:nvPr/>
        </p:nvSpPr>
        <p:spPr>
          <a:xfrm>
            <a:off x="548640" y="4178808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B3578B44-53BF-4069-A8FE-E990BEC2B370}"/>
              </a:ext>
            </a:extLst>
          </p:cNvPr>
          <p:cNvSpPr>
            <a:spLocks noGrp="1"/>
          </p:cNvSpPr>
          <p:nvPr/>
        </p:nvSpPr>
        <p:spPr>
          <a:xfrm>
            <a:off x="640080" y="4178808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03_god_class.py</a:t>
            </a: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5708FB5D-11F8-4425-8499-05F8377FC311}"/>
              </a:ext>
            </a:extLst>
          </p:cNvPr>
          <p:cNvSpPr>
            <a:spLocks noGrp="1"/>
          </p:cNvSpPr>
          <p:nvPr/>
        </p:nvSpPr>
        <p:spPr>
          <a:xfrm>
            <a:off x="3840480" y="4178808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89B8DC2-71BA-47BA-8B55-17FE56F11C39}"/>
              </a:ext>
            </a:extLst>
          </p:cNvPr>
          <p:cNvSpPr>
            <a:spLocks noGrp="1"/>
          </p:cNvSpPr>
          <p:nvPr/>
        </p:nvSpPr>
        <p:spPr>
          <a:xfrm>
            <a:off x="7040880" y="4178808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A6A2814D-96C4-4C13-842A-059B5C7FF4DD}"/>
              </a:ext>
            </a:extLst>
          </p:cNvPr>
          <p:cNvSpPr>
            <a:spLocks noGrp="1"/>
          </p:cNvSpPr>
          <p:nvPr/>
        </p:nvSpPr>
        <p:spPr>
          <a:xfrm>
            <a:off x="9509760" y="4178808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pipeline</a:t>
            </a: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FA2874E6-340A-444B-A9D2-29B915DE0DDB}"/>
              </a:ext>
            </a:extLst>
          </p:cNvPr>
          <p:cNvSpPr>
            <a:spLocks noGrp="1"/>
          </p:cNvSpPr>
          <p:nvPr/>
        </p:nvSpPr>
        <p:spPr>
          <a:xfrm>
            <a:off x="11018520" y="4178808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CC86677C-429A-4306-B600-BEEA18FEB653}"/>
              </a:ext>
            </a:extLst>
          </p:cNvPr>
          <p:cNvSpPr>
            <a:spLocks noGrp="1"/>
          </p:cNvSpPr>
          <p:nvPr/>
        </p:nvSpPr>
        <p:spPr>
          <a:xfrm>
            <a:off x="548640" y="4425696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9C4C9C4F-27AC-4657-8242-A13189C0C4D0}"/>
              </a:ext>
            </a:extLst>
          </p:cNvPr>
          <p:cNvSpPr>
            <a:spLocks noGrp="1"/>
          </p:cNvSpPr>
          <p:nvPr/>
        </p:nvSpPr>
        <p:spPr>
          <a:xfrm>
            <a:off x="640080" y="4425696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04_tight_coupling.py</a:t>
            </a: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A7E47BAD-C630-4F35-AA0F-0412E205AEE6}"/>
              </a:ext>
            </a:extLst>
          </p:cNvPr>
          <p:cNvSpPr>
            <a:spLocks noGrp="1"/>
          </p:cNvSpPr>
          <p:nvPr/>
        </p:nvSpPr>
        <p:spPr>
          <a:xfrm>
            <a:off x="3840480" y="4425696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5892E537-BF61-42C3-84D9-CDD3A582AAE6}"/>
              </a:ext>
            </a:extLst>
          </p:cNvPr>
          <p:cNvSpPr>
            <a:spLocks noGrp="1"/>
          </p:cNvSpPr>
          <p:nvPr/>
        </p:nvSpPr>
        <p:spPr>
          <a:xfrm>
            <a:off x="7040880" y="4425696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0DD900E-75ED-4F24-BDEB-0250A160FD47}"/>
              </a:ext>
            </a:extLst>
          </p:cNvPr>
          <p:cNvSpPr>
            <a:spLocks noGrp="1"/>
          </p:cNvSpPr>
          <p:nvPr/>
        </p:nvSpPr>
        <p:spPr>
          <a:xfrm>
            <a:off x="9509760" y="4425696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7FF48D4-2E94-4900-87D9-BA2F479DAC80}"/>
              </a:ext>
            </a:extLst>
          </p:cNvPr>
          <p:cNvSpPr>
            <a:spLocks noGrp="1"/>
          </p:cNvSpPr>
          <p:nvPr/>
        </p:nvSpPr>
        <p:spPr>
          <a:xfrm>
            <a:off x="11018520" y="4425696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6D13C7E3-94F3-440F-AD31-8B50959EC103}"/>
              </a:ext>
            </a:extLst>
          </p:cNvPr>
          <p:cNvSpPr>
            <a:spLocks noGrp="1"/>
          </p:cNvSpPr>
          <p:nvPr/>
        </p:nvSpPr>
        <p:spPr>
          <a:xfrm>
            <a:off x="548640" y="4672584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09F6B269-815E-4A98-A687-1D3A7A7869E7}"/>
              </a:ext>
            </a:extLst>
          </p:cNvPr>
          <p:cNvSpPr>
            <a:spLocks noGrp="1"/>
          </p:cNvSpPr>
          <p:nvPr/>
        </p:nvSpPr>
        <p:spPr>
          <a:xfrm>
            <a:off x="640080" y="4672584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05_duplicated_code.py</a:t>
            </a: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D122EB71-10CC-43AB-861F-5E58DAF9B54C}"/>
              </a:ext>
            </a:extLst>
          </p:cNvPr>
          <p:cNvSpPr>
            <a:spLocks noGrp="1"/>
          </p:cNvSpPr>
          <p:nvPr/>
        </p:nvSpPr>
        <p:spPr>
          <a:xfrm>
            <a:off x="3840480" y="4672584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9ECA067B-6CDF-42FE-9A63-605F7EABA465}"/>
              </a:ext>
            </a:extLst>
          </p:cNvPr>
          <p:cNvSpPr>
            <a:spLocks noGrp="1"/>
          </p:cNvSpPr>
          <p:nvPr/>
        </p:nvSpPr>
        <p:spPr>
          <a:xfrm>
            <a:off x="7040880" y="4672584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B1C9598A-2530-46EF-845E-55AE2AC39CFF}"/>
              </a:ext>
            </a:extLst>
          </p:cNvPr>
          <p:cNvSpPr>
            <a:spLocks noGrp="1"/>
          </p:cNvSpPr>
          <p:nvPr/>
        </p:nvSpPr>
        <p:spPr>
          <a:xfrm>
            <a:off x="9509760" y="4672584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CB05CE4D-0072-481B-8D1A-368DA302C26E}"/>
              </a:ext>
            </a:extLst>
          </p:cNvPr>
          <p:cNvSpPr>
            <a:spLocks noGrp="1"/>
          </p:cNvSpPr>
          <p:nvPr/>
        </p:nvSpPr>
        <p:spPr>
          <a:xfrm>
            <a:off x="11018520" y="4672584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1DC8D21C-0B64-4605-911D-FB989AEBC345}"/>
              </a:ext>
            </a:extLst>
          </p:cNvPr>
          <p:cNvSpPr>
            <a:spLocks noGrp="1"/>
          </p:cNvSpPr>
          <p:nvPr/>
        </p:nvSpPr>
        <p:spPr>
          <a:xfrm>
            <a:off x="548640" y="4919472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FD130254-AE32-4948-9BF1-FE866083E1D1}"/>
              </a:ext>
            </a:extLst>
          </p:cNvPr>
          <p:cNvSpPr>
            <a:spLocks noGrp="1"/>
          </p:cNvSpPr>
          <p:nvPr/>
        </p:nvSpPr>
        <p:spPr>
          <a:xfrm>
            <a:off x="640080" y="4919472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06_complex_switch.py</a:t>
            </a: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3BA7A7C6-093B-4DC2-8A8F-E5BD373F6385}"/>
              </a:ext>
            </a:extLst>
          </p:cNvPr>
          <p:cNvSpPr>
            <a:spLocks noGrp="1"/>
          </p:cNvSpPr>
          <p:nvPr/>
        </p:nvSpPr>
        <p:spPr>
          <a:xfrm>
            <a:off x="3840480" y="4919472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4944CE77-3F2E-42BA-9875-0481D33FF3B2}"/>
              </a:ext>
            </a:extLst>
          </p:cNvPr>
          <p:cNvSpPr>
            <a:spLocks noGrp="1"/>
          </p:cNvSpPr>
          <p:nvPr/>
        </p:nvSpPr>
        <p:spPr>
          <a:xfrm>
            <a:off x="7040880" y="4919472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5EEE2793-15D3-40E2-A1F5-4EC8D43D8227}"/>
              </a:ext>
            </a:extLst>
          </p:cNvPr>
          <p:cNvSpPr>
            <a:spLocks noGrp="1"/>
          </p:cNvSpPr>
          <p:nvPr/>
        </p:nvSpPr>
        <p:spPr>
          <a:xfrm>
            <a:off x="9509760" y="4919472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729E9D63-A43B-409E-959D-88F7704D10F2}"/>
              </a:ext>
            </a:extLst>
          </p:cNvPr>
          <p:cNvSpPr>
            <a:spLocks noGrp="1"/>
          </p:cNvSpPr>
          <p:nvPr/>
        </p:nvSpPr>
        <p:spPr>
          <a:xfrm>
            <a:off x="11018520" y="4919472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67" name="Shape 65">
            <a:extLst>
              <a:ext uri="{FF2B5EF4-FFF2-40B4-BE49-F238E27FC236}">
                <a16:creationId xmlns:a16="http://schemas.microsoft.com/office/drawing/2014/main" id="{13889F6D-D212-48EE-A0D0-62E08379AC9D}"/>
              </a:ext>
            </a:extLst>
          </p:cNvPr>
          <p:cNvSpPr>
            <a:spLocks noGrp="1"/>
          </p:cNvSpPr>
          <p:nvPr/>
        </p:nvSpPr>
        <p:spPr>
          <a:xfrm>
            <a:off x="548640" y="5166360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DE360C91-69A3-4E49-9701-CF57CB7269E2}"/>
              </a:ext>
            </a:extLst>
          </p:cNvPr>
          <p:cNvSpPr>
            <a:spLocks noGrp="1"/>
          </p:cNvSpPr>
          <p:nvPr/>
        </p:nvSpPr>
        <p:spPr>
          <a:xfrm>
            <a:off x="640080" y="5166360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07_long_parameter_list.py</a:t>
            </a:r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79A5A5AB-A380-43EF-8AC4-94990C71CB99}"/>
              </a:ext>
            </a:extLst>
          </p:cNvPr>
          <p:cNvSpPr>
            <a:spLocks noGrp="1"/>
          </p:cNvSpPr>
          <p:nvPr/>
        </p:nvSpPr>
        <p:spPr>
          <a:xfrm>
            <a:off x="3840480" y="5166360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7DE0043E-5A93-40C2-8BF8-AB5FF0DEACAC}"/>
              </a:ext>
            </a:extLst>
          </p:cNvPr>
          <p:cNvSpPr>
            <a:spLocks noGrp="1"/>
          </p:cNvSpPr>
          <p:nvPr/>
        </p:nvSpPr>
        <p:spPr>
          <a:xfrm>
            <a:off x="7040880" y="5166360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65EC3F4D-AFC0-498B-9261-1FE9741482AD}"/>
              </a:ext>
            </a:extLst>
          </p:cNvPr>
          <p:cNvSpPr>
            <a:spLocks noGrp="1"/>
          </p:cNvSpPr>
          <p:nvPr/>
        </p:nvSpPr>
        <p:spPr>
          <a:xfrm>
            <a:off x="9509760" y="5166360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BACC33D3-767F-4F07-82A5-18D3A54BEA63}"/>
              </a:ext>
            </a:extLst>
          </p:cNvPr>
          <p:cNvSpPr>
            <a:spLocks noGrp="1"/>
          </p:cNvSpPr>
          <p:nvPr/>
        </p:nvSpPr>
        <p:spPr>
          <a:xfrm>
            <a:off x="11018520" y="5166360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13EEA6E7-6896-4B5A-A643-34F61BF0964C}"/>
              </a:ext>
            </a:extLst>
          </p:cNvPr>
          <p:cNvSpPr>
            <a:spLocks noGrp="1"/>
          </p:cNvSpPr>
          <p:nvPr/>
        </p:nvSpPr>
        <p:spPr>
          <a:xfrm>
            <a:off x="548640" y="5413248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A572D576-5229-4AB6-9761-0A3E12CEDE74}"/>
              </a:ext>
            </a:extLst>
          </p:cNvPr>
          <p:cNvSpPr>
            <a:spLocks noGrp="1"/>
          </p:cNvSpPr>
          <p:nvPr/>
        </p:nvSpPr>
        <p:spPr>
          <a:xfrm>
            <a:off x="640080" y="5413248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08_god_class.py</a:t>
            </a: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001C7F4B-11E6-4E97-BFC3-B51077303C2F}"/>
              </a:ext>
            </a:extLst>
          </p:cNvPr>
          <p:cNvSpPr>
            <a:spLocks noGrp="1"/>
          </p:cNvSpPr>
          <p:nvPr/>
        </p:nvSpPr>
        <p:spPr>
          <a:xfrm>
            <a:off x="3840480" y="5413248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6A28C3AB-EEDA-4AEE-96F6-ABC32C5681F0}"/>
              </a:ext>
            </a:extLst>
          </p:cNvPr>
          <p:cNvSpPr>
            <a:spLocks noGrp="1"/>
          </p:cNvSpPr>
          <p:nvPr/>
        </p:nvSpPr>
        <p:spPr>
          <a:xfrm>
            <a:off x="7040880" y="5413248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3E49C886-F7F3-4120-93C9-E08A02E3D445}"/>
              </a:ext>
            </a:extLst>
          </p:cNvPr>
          <p:cNvSpPr>
            <a:spLocks noGrp="1"/>
          </p:cNvSpPr>
          <p:nvPr/>
        </p:nvSpPr>
        <p:spPr>
          <a:xfrm>
            <a:off x="9509760" y="5413248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5C16C20A-9314-4BF8-AB8B-251EACFCC683}"/>
              </a:ext>
            </a:extLst>
          </p:cNvPr>
          <p:cNvSpPr>
            <a:spLocks noGrp="1"/>
          </p:cNvSpPr>
          <p:nvPr/>
        </p:nvSpPr>
        <p:spPr>
          <a:xfrm>
            <a:off x="11018520" y="5413248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1237B63C-B38B-47A3-ACED-A8924A526002}"/>
              </a:ext>
            </a:extLst>
          </p:cNvPr>
          <p:cNvSpPr>
            <a:spLocks noGrp="1"/>
          </p:cNvSpPr>
          <p:nvPr/>
        </p:nvSpPr>
        <p:spPr>
          <a:xfrm>
            <a:off x="548640" y="5660136"/>
            <a:ext cx="1106424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845648BA-860A-4EB9-B811-4DA967CC2128}"/>
              </a:ext>
            </a:extLst>
          </p:cNvPr>
          <p:cNvSpPr>
            <a:spLocks noGrp="1"/>
          </p:cNvSpPr>
          <p:nvPr/>
        </p:nvSpPr>
        <p:spPr>
          <a:xfrm>
            <a:off x="640080" y="5660136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09_tight_coupling.py</a:t>
            </a:r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0A8A470B-2536-4F91-89D4-89FE0E1CB638}"/>
              </a:ext>
            </a:extLst>
          </p:cNvPr>
          <p:cNvSpPr>
            <a:spLocks noGrp="1"/>
          </p:cNvSpPr>
          <p:nvPr/>
        </p:nvSpPr>
        <p:spPr>
          <a:xfrm>
            <a:off x="3840480" y="5660136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008037DF-E9BB-462F-ADA4-C3CA35218318}"/>
              </a:ext>
            </a:extLst>
          </p:cNvPr>
          <p:cNvSpPr>
            <a:spLocks noGrp="1"/>
          </p:cNvSpPr>
          <p:nvPr/>
        </p:nvSpPr>
        <p:spPr>
          <a:xfrm>
            <a:off x="7040880" y="5660136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83" name="Text 81">
            <a:extLst>
              <a:ext uri="{FF2B5EF4-FFF2-40B4-BE49-F238E27FC236}">
                <a16:creationId xmlns:a16="http://schemas.microsoft.com/office/drawing/2014/main" id="{8754DA91-0600-4A0A-85CE-B4B3973266E7}"/>
              </a:ext>
            </a:extLst>
          </p:cNvPr>
          <p:cNvSpPr>
            <a:spLocks noGrp="1"/>
          </p:cNvSpPr>
          <p:nvPr/>
        </p:nvSpPr>
        <p:spPr>
          <a:xfrm>
            <a:off x="9509760" y="5660136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ok</a:t>
            </a:r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DB231087-75EE-4E2E-9A57-DCA738DB35AB}"/>
              </a:ext>
            </a:extLst>
          </p:cNvPr>
          <p:cNvSpPr>
            <a:spLocks noGrp="1"/>
          </p:cNvSpPr>
          <p:nvPr/>
        </p:nvSpPr>
        <p:spPr>
          <a:xfrm>
            <a:off x="11018520" y="5660136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85" name="Shape 83">
            <a:extLst>
              <a:ext uri="{FF2B5EF4-FFF2-40B4-BE49-F238E27FC236}">
                <a16:creationId xmlns:a16="http://schemas.microsoft.com/office/drawing/2014/main" id="{B41508AD-00DB-49EC-9AE2-2E34647B2BAE}"/>
              </a:ext>
            </a:extLst>
          </p:cNvPr>
          <p:cNvSpPr>
            <a:spLocks noGrp="1"/>
          </p:cNvSpPr>
          <p:nvPr/>
        </p:nvSpPr>
        <p:spPr>
          <a:xfrm>
            <a:off x="548640" y="5907024"/>
            <a:ext cx="1106424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CCBA723F-D752-4856-AAFF-931BC9F0F097}"/>
              </a:ext>
            </a:extLst>
          </p:cNvPr>
          <p:cNvSpPr>
            <a:spLocks noGrp="1"/>
          </p:cNvSpPr>
          <p:nvPr/>
        </p:nvSpPr>
        <p:spPr>
          <a:xfrm>
            <a:off x="640080" y="5907024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10_duplicated_code.py</a:t>
            </a:r>
          </a:p>
        </p:txBody>
      </p:sp>
      <p:sp>
        <p:nvSpPr>
          <p:cNvPr id="87" name="Text 85">
            <a:extLst>
              <a:ext uri="{FF2B5EF4-FFF2-40B4-BE49-F238E27FC236}">
                <a16:creationId xmlns:a16="http://schemas.microsoft.com/office/drawing/2014/main" id="{E602C5EB-5CBC-474A-80D5-8A83CD0C3ADE}"/>
              </a:ext>
            </a:extLst>
          </p:cNvPr>
          <p:cNvSpPr>
            <a:spLocks noGrp="1"/>
          </p:cNvSpPr>
          <p:nvPr/>
        </p:nvSpPr>
        <p:spPr>
          <a:xfrm>
            <a:off x="3840480" y="5907024"/>
            <a:ext cx="310896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58D069DC-CAB7-44C5-BEC0-79DE28E3FB2D}"/>
              </a:ext>
            </a:extLst>
          </p:cNvPr>
          <p:cNvSpPr>
            <a:spLocks noGrp="1"/>
          </p:cNvSpPr>
          <p:nvPr/>
        </p:nvSpPr>
        <p:spPr>
          <a:xfrm>
            <a:off x="7040880" y="5907024"/>
            <a:ext cx="23774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40818E71-CD87-42FC-8C36-2AA6659EED08}"/>
              </a:ext>
            </a:extLst>
          </p:cNvPr>
          <p:cNvSpPr>
            <a:spLocks noGrp="1"/>
          </p:cNvSpPr>
          <p:nvPr/>
        </p:nvSpPr>
        <p:spPr>
          <a:xfrm>
            <a:off x="9509760" y="5907024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✗ missing methods</a:t>
            </a:r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57EBC951-15E5-440F-B934-3CD3D8BCA23B}"/>
              </a:ext>
            </a:extLst>
          </p:cNvPr>
          <p:cNvSpPr>
            <a:spLocks noGrp="1"/>
          </p:cNvSpPr>
          <p:nvPr/>
        </p:nvSpPr>
        <p:spPr>
          <a:xfrm>
            <a:off x="11018520" y="5907024"/>
            <a:ext cx="50292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91" name="Shape 89">
            <a:extLst>
              <a:ext uri="{FF2B5EF4-FFF2-40B4-BE49-F238E27FC236}">
                <a16:creationId xmlns:a16="http://schemas.microsoft.com/office/drawing/2014/main" id="{623AF523-9B27-4462-BE1D-EF51531F8326}"/>
              </a:ext>
            </a:extLst>
          </p:cNvPr>
          <p:cNvSpPr>
            <a:spLocks noGrp="1"/>
          </p:cNvSpPr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582A1E07-7F0F-4600-BD4F-41F9EA51F2E1}"/>
              </a:ext>
            </a:extLst>
          </p:cNvPr>
          <p:cNvSpPr>
            <a:spLocks noGrp="1"/>
          </p:cNvSpPr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Leitura honesta: 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das 4 chamadas que produziram proposta, 3 passaram (75%). Os 6 </a:t>
            </a: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são pipelines que não chegaram a gerar refatoração (padrão 429 do Mistral) — qualidade do agente está intacta nos casos que executou.</a:t>
            </a:r>
          </a:p>
        </p:txBody>
      </p:sp>
      <p:sp>
        <p:nvSpPr>
          <p:cNvPr id="93" name="Text 91">
            <a:extLst>
              <a:ext uri="{FF2B5EF4-FFF2-40B4-BE49-F238E27FC236}">
                <a16:creationId xmlns:a16="http://schemas.microsoft.com/office/drawing/2014/main" id="{A2A31242-116A-41E2-9853-D4C21BCF85B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93B710BC-E915-4F93-8909-70266FA0F5E9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 / 24</a:t>
            </a:r>
          </a:p>
        </p:txBody>
      </p:sp>
    </p:spTree>
    <p:extLst>
      <p:ext uri="{BB962C8B-B14F-4D97-AF65-F5344CB8AC3E}">
        <p14:creationId xmlns:p14="http://schemas.microsoft.com/office/powerpoint/2010/main" val="2318534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D2A9C1E-0C58-4627-94E8-3E548BD8E14A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14 · REPRODUTIBILIDADE · CRITIC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A0A9E06-EB1C-40EE-8D3A-D4275A815656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Run 2 — zero false accept mantido (10/11 corretos)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3728448-3759-45EA-8CC6-8A2830116B71}"/>
              </a:ext>
            </a:extLst>
          </p:cNvPr>
          <p:cNvSpPr>
            <a:spLocks noGrp="1"/>
          </p:cNvSpPr>
          <p:nvPr/>
        </p:nvSpPr>
        <p:spPr>
          <a:xfrm>
            <a:off x="548640" y="1627632"/>
            <a:ext cx="5029200" cy="329184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93A3C3-52C5-4D2A-8FCD-8D3823B6CFE9}"/>
              </a:ext>
            </a:extLst>
          </p:cNvPr>
          <p:cNvSpPr>
            <a:spLocks noGrp="1"/>
          </p:cNvSpPr>
          <p:nvPr/>
        </p:nvSpPr>
        <p:spPr>
          <a:xfrm>
            <a:off x="640080" y="16276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/api/v1/evaluate/critic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7457D00-2955-492C-9A21-295AD631749B}"/>
              </a:ext>
            </a:extLst>
          </p:cNvPr>
          <p:cNvSpPr>
            <a:spLocks noGrp="1"/>
          </p:cNvSpPr>
          <p:nvPr/>
        </p:nvSpPr>
        <p:spPr>
          <a:xfrm>
            <a:off x="5760720" y="1627632"/>
            <a:ext cx="5852160" cy="32918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143139F-7DAB-49B9-9062-A91AC939ED90}"/>
              </a:ext>
            </a:extLst>
          </p:cNvPr>
          <p:cNvSpPr>
            <a:spLocks noGrp="1"/>
          </p:cNvSpPr>
          <p:nvPr/>
        </p:nvSpPr>
        <p:spPr>
          <a:xfrm>
            <a:off x="5852160" y="1627632"/>
            <a:ext cx="56692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RUN 2 · </a:t>
            </a:r>
            <a:r>
              <a:rPr sz="1000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9/20 vereditos não-computáveis · 11 válidos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1B0338B5-165E-491F-B822-58AFBDE1750B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62C592D-B8C7-4EDE-8B1F-CFCFB43AFE37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73152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704199-0ECD-460E-8198-785AFBD13269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580377A-9D84-4972-8939-5F0D07213290}"/>
              </a:ext>
            </a:extLst>
          </p:cNvPr>
          <p:cNvSpPr>
            <a:spLocks noGrp="1"/>
          </p:cNvSpPr>
          <p:nvPr/>
        </p:nvSpPr>
        <p:spPr>
          <a:xfrm>
            <a:off x="731520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0.800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6ADA6C7-E866-45AB-8F9B-695848A210B9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EDC5EEC-7275-41E3-A3AF-5C34B233B297}"/>
              </a:ext>
            </a:extLst>
          </p:cNvPr>
          <p:cNvSpPr>
            <a:spLocks noGrp="1"/>
          </p:cNvSpPr>
          <p:nvPr/>
        </p:nvSpPr>
        <p:spPr>
          <a:xfrm>
            <a:off x="3410712" y="2103120"/>
            <a:ext cx="73152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A165F6A-2AA2-4C45-A000-4958905901A9}"/>
              </a:ext>
            </a:extLst>
          </p:cNvPr>
          <p:cNvSpPr>
            <a:spLocks noGrp="1"/>
          </p:cNvSpPr>
          <p:nvPr/>
        </p:nvSpPr>
        <p:spPr>
          <a:xfrm>
            <a:off x="3593592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104455B-343E-43E9-B1C7-E4C37BBFF9F9}"/>
              </a:ext>
            </a:extLst>
          </p:cNvPr>
          <p:cNvSpPr>
            <a:spLocks noGrp="1"/>
          </p:cNvSpPr>
          <p:nvPr/>
        </p:nvSpPr>
        <p:spPr>
          <a:xfrm>
            <a:off x="3593592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3F127C4-940E-4DE1-9A8D-F7C0BB297944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0F4BF6C-B744-4B4A-9BA3-53708993A86E}"/>
              </a:ext>
            </a:extLst>
          </p:cNvPr>
          <p:cNvSpPr>
            <a:spLocks noGrp="1"/>
          </p:cNvSpPr>
          <p:nvPr/>
        </p:nvSpPr>
        <p:spPr>
          <a:xfrm>
            <a:off x="6272784" y="2103120"/>
            <a:ext cx="73152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1E226DD-F7F6-4DE0-9DC0-9DDB340FFA16}"/>
              </a:ext>
            </a:extLst>
          </p:cNvPr>
          <p:cNvSpPr>
            <a:spLocks noGrp="1"/>
          </p:cNvSpPr>
          <p:nvPr/>
        </p:nvSpPr>
        <p:spPr>
          <a:xfrm>
            <a:off x="6455664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EBE11F6-CB40-42B4-A3A2-E768F32E0A58}"/>
              </a:ext>
            </a:extLst>
          </p:cNvPr>
          <p:cNvSpPr>
            <a:spLocks noGrp="1"/>
          </p:cNvSpPr>
          <p:nvPr/>
        </p:nvSpPr>
        <p:spPr>
          <a:xfrm>
            <a:off x="6455664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0.667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58192AE-0D68-4393-91AA-0B3E7C89E18F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2697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9B99ADA-8490-4D85-83B3-06AE0ED188B2}"/>
              </a:ext>
            </a:extLst>
          </p:cNvPr>
          <p:cNvSpPr>
            <a:spLocks noGrp="1"/>
          </p:cNvSpPr>
          <p:nvPr/>
        </p:nvSpPr>
        <p:spPr>
          <a:xfrm>
            <a:off x="9134856" y="2103120"/>
            <a:ext cx="73152" cy="8229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858A2E5-63B2-4D1E-93C2-E57159D4FFC3}"/>
              </a:ext>
            </a:extLst>
          </p:cNvPr>
          <p:cNvSpPr>
            <a:spLocks noGrp="1"/>
          </p:cNvSpPr>
          <p:nvPr/>
        </p:nvSpPr>
        <p:spPr>
          <a:xfrm>
            <a:off x="9317736" y="21488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FRR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E6C0A8F-BD85-4F9A-95FB-F0EE6FCEB1C5}"/>
              </a:ext>
            </a:extLst>
          </p:cNvPr>
          <p:cNvSpPr>
            <a:spLocks noGrp="1"/>
          </p:cNvSpPr>
          <p:nvPr/>
        </p:nvSpPr>
        <p:spPr>
          <a:xfrm>
            <a:off x="9317736" y="23774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0.333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725E57C-D0DA-40E1-9416-6FB118D8B4AE}"/>
              </a:ext>
            </a:extLst>
          </p:cNvPr>
          <p:cNvSpPr>
            <a:spLocks noGrp="1"/>
          </p:cNvSpPr>
          <p:nvPr/>
        </p:nvSpPr>
        <p:spPr>
          <a:xfrm>
            <a:off x="548640" y="30632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(3 corretas válidas + 8 incorretas válidas + 9 erros) · zero false accepts · 1 false reject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ABE0E8A-F837-4F8E-AFE7-734E960345A9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spc="1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solutions/correct/ (expected: approve)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F77D464-6B30-4901-9750-3E0B7DAC80A4}"/>
              </a:ext>
            </a:extLst>
          </p:cNvPr>
          <p:cNvSpPr>
            <a:spLocks noGrp="1"/>
          </p:cNvSpPr>
          <p:nvPr/>
        </p:nvSpPr>
        <p:spPr>
          <a:xfrm>
            <a:off x="6126480" y="33832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spc="100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solutions/incorrect/ (expected: reject)</a:t>
            </a: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E417C8E-9147-4080-AD5F-07B23A9E2A28}"/>
              </a:ext>
            </a:extLst>
          </p:cNvPr>
          <p:cNvSpPr>
            <a:spLocks noGrp="1"/>
          </p:cNvSpPr>
          <p:nvPr/>
        </p:nvSpPr>
        <p:spPr>
          <a:xfrm>
            <a:off x="548640" y="3657600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88A45BD-0E93-4975-B2AC-3D881BEC552A}"/>
              </a:ext>
            </a:extLst>
          </p:cNvPr>
          <p:cNvSpPr>
            <a:spLocks noGrp="1"/>
          </p:cNvSpPr>
          <p:nvPr/>
        </p:nvSpPr>
        <p:spPr>
          <a:xfrm>
            <a:off x="640080" y="3657600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sol_01_complex_switch.py</a:t>
            </a: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8CB86813-192C-43D4-A8D2-6196DAF30A27}"/>
              </a:ext>
            </a:extLst>
          </p:cNvPr>
          <p:cNvSpPr>
            <a:spLocks noGrp="1"/>
          </p:cNvSpPr>
          <p:nvPr/>
        </p:nvSpPr>
        <p:spPr>
          <a:xfrm>
            <a:off x="5394960" y="3703320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E98A2EA-3DFE-4296-928A-C4C035536829}"/>
              </a:ext>
            </a:extLst>
          </p:cNvPr>
          <p:cNvSpPr>
            <a:spLocks noGrp="1"/>
          </p:cNvSpPr>
          <p:nvPr/>
        </p:nvSpPr>
        <p:spPr>
          <a:xfrm>
            <a:off x="5394960" y="36941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2704EC7-0175-46E4-B633-17A53D0D3F42}"/>
              </a:ext>
            </a:extLst>
          </p:cNvPr>
          <p:cNvSpPr>
            <a:spLocks noGrp="1"/>
          </p:cNvSpPr>
          <p:nvPr/>
        </p:nvSpPr>
        <p:spPr>
          <a:xfrm>
            <a:off x="548640" y="3904488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488CA03-5E24-496E-BE58-A1160C967F7F}"/>
              </a:ext>
            </a:extLst>
          </p:cNvPr>
          <p:cNvSpPr>
            <a:spLocks noGrp="1"/>
          </p:cNvSpPr>
          <p:nvPr/>
        </p:nvSpPr>
        <p:spPr>
          <a:xfrm>
            <a:off x="640080" y="390448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sol_02_long_parameter_list.py</a:t>
            </a: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C49AA11-E145-4EFA-BEFC-FB794B1D7E92}"/>
              </a:ext>
            </a:extLst>
          </p:cNvPr>
          <p:cNvSpPr>
            <a:spLocks noGrp="1"/>
          </p:cNvSpPr>
          <p:nvPr/>
        </p:nvSpPr>
        <p:spPr>
          <a:xfrm>
            <a:off x="5394960" y="3950208"/>
            <a:ext cx="548640" cy="155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5729332D-1BD5-479B-B565-17F390D181E4}"/>
              </a:ext>
            </a:extLst>
          </p:cNvPr>
          <p:cNvSpPr>
            <a:spLocks noGrp="1"/>
          </p:cNvSpPr>
          <p:nvPr/>
        </p:nvSpPr>
        <p:spPr>
          <a:xfrm>
            <a:off x="5394960" y="394106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F528137B-90AC-45BC-861D-0BC9AB28DF95}"/>
              </a:ext>
            </a:extLst>
          </p:cNvPr>
          <p:cNvSpPr>
            <a:spLocks noGrp="1"/>
          </p:cNvSpPr>
          <p:nvPr/>
        </p:nvSpPr>
        <p:spPr>
          <a:xfrm>
            <a:off x="548640" y="4151376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D5E4CFC0-7966-48B8-9091-B3F235D872CB}"/>
              </a:ext>
            </a:extLst>
          </p:cNvPr>
          <p:cNvSpPr>
            <a:spLocks noGrp="1"/>
          </p:cNvSpPr>
          <p:nvPr/>
        </p:nvSpPr>
        <p:spPr>
          <a:xfrm>
            <a:off x="640080" y="4151376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sol_03_god_class.py</a:t>
            </a: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7B667825-C3D7-4823-A8ED-F3E7B03824A8}"/>
              </a:ext>
            </a:extLst>
          </p:cNvPr>
          <p:cNvSpPr>
            <a:spLocks noGrp="1"/>
          </p:cNvSpPr>
          <p:nvPr/>
        </p:nvSpPr>
        <p:spPr>
          <a:xfrm>
            <a:off x="5394960" y="4197096"/>
            <a:ext cx="548640" cy="1554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E3EAE15-F91B-4641-88AE-3F6F58F49F03}"/>
              </a:ext>
            </a:extLst>
          </p:cNvPr>
          <p:cNvSpPr>
            <a:spLocks noGrp="1"/>
          </p:cNvSpPr>
          <p:nvPr/>
        </p:nvSpPr>
        <p:spPr>
          <a:xfrm>
            <a:off x="5394960" y="418795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FN</a:t>
            </a:r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B8F9910D-9745-4D6F-B65B-2D3656CED826}"/>
              </a:ext>
            </a:extLst>
          </p:cNvPr>
          <p:cNvSpPr>
            <a:spLocks noGrp="1"/>
          </p:cNvSpPr>
          <p:nvPr/>
        </p:nvSpPr>
        <p:spPr>
          <a:xfrm>
            <a:off x="548640" y="4398264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46E0C99-C3C1-48B3-8762-7C5F8831D98C}"/>
              </a:ext>
            </a:extLst>
          </p:cNvPr>
          <p:cNvSpPr>
            <a:spLocks noGrp="1"/>
          </p:cNvSpPr>
          <p:nvPr/>
        </p:nvSpPr>
        <p:spPr>
          <a:xfrm>
            <a:off x="640080" y="4398264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sol_04_tight_coupling.py</a:t>
            </a: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73484651-A9CB-47E5-9ECF-597A961E38B3}"/>
              </a:ext>
            </a:extLst>
          </p:cNvPr>
          <p:cNvSpPr>
            <a:spLocks noGrp="1"/>
          </p:cNvSpPr>
          <p:nvPr/>
        </p:nvSpPr>
        <p:spPr>
          <a:xfrm>
            <a:off x="5394960" y="4443984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2BFC25DB-2424-459A-AAA9-11C47C43C905}"/>
              </a:ext>
            </a:extLst>
          </p:cNvPr>
          <p:cNvSpPr>
            <a:spLocks noGrp="1"/>
          </p:cNvSpPr>
          <p:nvPr/>
        </p:nvSpPr>
        <p:spPr>
          <a:xfrm>
            <a:off x="5394960" y="44348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65186B1C-1BA5-4BE6-88CC-0EBCEF85E5D0}"/>
              </a:ext>
            </a:extLst>
          </p:cNvPr>
          <p:cNvSpPr>
            <a:spLocks noGrp="1"/>
          </p:cNvSpPr>
          <p:nvPr/>
        </p:nvSpPr>
        <p:spPr>
          <a:xfrm>
            <a:off x="548640" y="4645152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B1F57E7-FB9B-490D-97C4-7C4CFD59B69B}"/>
              </a:ext>
            </a:extLst>
          </p:cNvPr>
          <p:cNvSpPr>
            <a:spLocks noGrp="1"/>
          </p:cNvSpPr>
          <p:nvPr/>
        </p:nvSpPr>
        <p:spPr>
          <a:xfrm>
            <a:off x="640080" y="4645152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sol_05_duplicated_code.py</a:t>
            </a:r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DAD0FCC8-4691-4821-8A0C-66C2A44504AD}"/>
              </a:ext>
            </a:extLst>
          </p:cNvPr>
          <p:cNvSpPr>
            <a:spLocks noGrp="1"/>
          </p:cNvSpPr>
          <p:nvPr/>
        </p:nvSpPr>
        <p:spPr>
          <a:xfrm>
            <a:off x="5394960" y="4690872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B2DCE339-C16C-49AC-91AC-53F68A80BBDB}"/>
              </a:ext>
            </a:extLst>
          </p:cNvPr>
          <p:cNvSpPr>
            <a:spLocks noGrp="1"/>
          </p:cNvSpPr>
          <p:nvPr/>
        </p:nvSpPr>
        <p:spPr>
          <a:xfrm>
            <a:off x="5394960" y="468172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292122B3-9247-4650-871C-0BED8F025B3E}"/>
              </a:ext>
            </a:extLst>
          </p:cNvPr>
          <p:cNvSpPr>
            <a:spLocks noGrp="1"/>
          </p:cNvSpPr>
          <p:nvPr/>
        </p:nvSpPr>
        <p:spPr>
          <a:xfrm>
            <a:off x="548640" y="4892040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6789D12A-3D12-4E39-B117-5434968052EA}"/>
              </a:ext>
            </a:extLst>
          </p:cNvPr>
          <p:cNvSpPr>
            <a:spLocks noGrp="1"/>
          </p:cNvSpPr>
          <p:nvPr/>
        </p:nvSpPr>
        <p:spPr>
          <a:xfrm>
            <a:off x="640080" y="4892040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sol_06_complex_switch.py</a:t>
            </a: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25DF2056-8156-418A-8C03-292ABE3089F8}"/>
              </a:ext>
            </a:extLst>
          </p:cNvPr>
          <p:cNvSpPr>
            <a:spLocks noGrp="1"/>
          </p:cNvSpPr>
          <p:nvPr/>
        </p:nvSpPr>
        <p:spPr>
          <a:xfrm>
            <a:off x="5394960" y="4937760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4A2BC6C8-5B1C-4ADB-B57B-FB88E6070901}"/>
              </a:ext>
            </a:extLst>
          </p:cNvPr>
          <p:cNvSpPr>
            <a:spLocks noGrp="1"/>
          </p:cNvSpPr>
          <p:nvPr/>
        </p:nvSpPr>
        <p:spPr>
          <a:xfrm>
            <a:off x="5394960" y="492861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968A924A-144F-415C-AD4F-94818CD54F79}"/>
              </a:ext>
            </a:extLst>
          </p:cNvPr>
          <p:cNvSpPr>
            <a:spLocks noGrp="1"/>
          </p:cNvSpPr>
          <p:nvPr/>
        </p:nvSpPr>
        <p:spPr>
          <a:xfrm>
            <a:off x="548640" y="5138928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F71C5971-5CA9-4BBF-A0B1-11E6AB38CE8B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sol_07_long_parameter_list.py</a:t>
            </a:r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20DC49D8-870E-429D-BE22-27E8D103AD96}"/>
              </a:ext>
            </a:extLst>
          </p:cNvPr>
          <p:cNvSpPr>
            <a:spLocks noGrp="1"/>
          </p:cNvSpPr>
          <p:nvPr/>
        </p:nvSpPr>
        <p:spPr>
          <a:xfrm>
            <a:off x="5394960" y="5184648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C222CB7-D6E0-4D7A-BDFF-F224EC78AA71}"/>
              </a:ext>
            </a:extLst>
          </p:cNvPr>
          <p:cNvSpPr>
            <a:spLocks noGrp="1"/>
          </p:cNvSpPr>
          <p:nvPr/>
        </p:nvSpPr>
        <p:spPr>
          <a:xfrm>
            <a:off x="5394960" y="517550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CBAB2D01-815E-4952-948A-A9C66641B7C0}"/>
              </a:ext>
            </a:extLst>
          </p:cNvPr>
          <p:cNvSpPr>
            <a:spLocks noGrp="1"/>
          </p:cNvSpPr>
          <p:nvPr/>
        </p:nvSpPr>
        <p:spPr>
          <a:xfrm>
            <a:off x="548640" y="5385816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50D7AA98-CAF2-4AF4-9E29-3517142BB251}"/>
              </a:ext>
            </a:extLst>
          </p:cNvPr>
          <p:cNvSpPr>
            <a:spLocks noGrp="1"/>
          </p:cNvSpPr>
          <p:nvPr/>
        </p:nvSpPr>
        <p:spPr>
          <a:xfrm>
            <a:off x="640080" y="5385816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sol_08_god_class.py</a:t>
            </a:r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A6D21149-F155-403C-8923-5AD36D14A241}"/>
              </a:ext>
            </a:extLst>
          </p:cNvPr>
          <p:cNvSpPr>
            <a:spLocks noGrp="1"/>
          </p:cNvSpPr>
          <p:nvPr/>
        </p:nvSpPr>
        <p:spPr>
          <a:xfrm>
            <a:off x="5394960" y="5431536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4E1F720F-B203-4584-A0FE-2616FFC03506}"/>
              </a:ext>
            </a:extLst>
          </p:cNvPr>
          <p:cNvSpPr>
            <a:spLocks noGrp="1"/>
          </p:cNvSpPr>
          <p:nvPr/>
        </p:nvSpPr>
        <p:spPr>
          <a:xfrm>
            <a:off x="5394960" y="54223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76C265DB-864C-4D50-83FC-F01751B82B17}"/>
              </a:ext>
            </a:extLst>
          </p:cNvPr>
          <p:cNvSpPr>
            <a:spLocks noGrp="1"/>
          </p:cNvSpPr>
          <p:nvPr/>
        </p:nvSpPr>
        <p:spPr>
          <a:xfrm>
            <a:off x="548640" y="5632704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496C3117-FEA2-4DBD-B2E3-19A3CC29E109}"/>
              </a:ext>
            </a:extLst>
          </p:cNvPr>
          <p:cNvSpPr>
            <a:spLocks noGrp="1"/>
          </p:cNvSpPr>
          <p:nvPr/>
        </p:nvSpPr>
        <p:spPr>
          <a:xfrm>
            <a:off x="640080" y="5632704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sol_09_tight_coupling.py</a:t>
            </a: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EA3D665F-93FE-4417-9564-BA9A21FF6678}"/>
              </a:ext>
            </a:extLst>
          </p:cNvPr>
          <p:cNvSpPr>
            <a:spLocks noGrp="1"/>
          </p:cNvSpPr>
          <p:nvPr/>
        </p:nvSpPr>
        <p:spPr>
          <a:xfrm>
            <a:off x="5394960" y="5678424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5986C5AA-CE6D-43CD-B069-DEBDCD94E9FF}"/>
              </a:ext>
            </a:extLst>
          </p:cNvPr>
          <p:cNvSpPr>
            <a:spLocks noGrp="1"/>
          </p:cNvSpPr>
          <p:nvPr/>
        </p:nvSpPr>
        <p:spPr>
          <a:xfrm>
            <a:off x="5394960" y="56692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DD78EFD6-BC74-47C1-A057-5CD1F8FC4D67}"/>
              </a:ext>
            </a:extLst>
          </p:cNvPr>
          <p:cNvSpPr>
            <a:spLocks noGrp="1"/>
          </p:cNvSpPr>
          <p:nvPr/>
        </p:nvSpPr>
        <p:spPr>
          <a:xfrm>
            <a:off x="548640" y="5879592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1FFDE067-FE1C-42F3-9549-180BD23F8F4A}"/>
              </a:ext>
            </a:extLst>
          </p:cNvPr>
          <p:cNvSpPr>
            <a:spLocks noGrp="1"/>
          </p:cNvSpPr>
          <p:nvPr/>
        </p:nvSpPr>
        <p:spPr>
          <a:xfrm>
            <a:off x="640080" y="5879592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sol_10_duplicated_code.py</a:t>
            </a:r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CE521C9B-9192-48F0-ABE5-107010611086}"/>
              </a:ext>
            </a:extLst>
          </p:cNvPr>
          <p:cNvSpPr>
            <a:spLocks noGrp="1"/>
          </p:cNvSpPr>
          <p:nvPr/>
        </p:nvSpPr>
        <p:spPr>
          <a:xfrm>
            <a:off x="5394960" y="5925312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89882AC7-561E-4A0B-9CC1-192BCE618978}"/>
              </a:ext>
            </a:extLst>
          </p:cNvPr>
          <p:cNvSpPr>
            <a:spLocks noGrp="1"/>
          </p:cNvSpPr>
          <p:nvPr/>
        </p:nvSpPr>
        <p:spPr>
          <a:xfrm>
            <a:off x="5394960" y="591616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67" name="Shape 65">
            <a:extLst>
              <a:ext uri="{FF2B5EF4-FFF2-40B4-BE49-F238E27FC236}">
                <a16:creationId xmlns:a16="http://schemas.microsoft.com/office/drawing/2014/main" id="{D8DA74A1-E786-427E-8CD8-16D188EB9F42}"/>
              </a:ext>
            </a:extLst>
          </p:cNvPr>
          <p:cNvSpPr>
            <a:spLocks noGrp="1"/>
          </p:cNvSpPr>
          <p:nvPr/>
        </p:nvSpPr>
        <p:spPr>
          <a:xfrm>
            <a:off x="6126480" y="3657600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B2FEBCCB-81E0-49FD-A03E-E74D7A829048}"/>
              </a:ext>
            </a:extLst>
          </p:cNvPr>
          <p:cNvSpPr>
            <a:spLocks noGrp="1"/>
          </p:cNvSpPr>
          <p:nvPr/>
        </p:nvSpPr>
        <p:spPr>
          <a:xfrm>
            <a:off x="6217920" y="3657600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bad_01_complex_switch.py</a:t>
            </a: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D23B3FEB-4E3B-450B-A990-611092B5F144}"/>
              </a:ext>
            </a:extLst>
          </p:cNvPr>
          <p:cNvSpPr>
            <a:spLocks noGrp="1"/>
          </p:cNvSpPr>
          <p:nvPr/>
        </p:nvSpPr>
        <p:spPr>
          <a:xfrm>
            <a:off x="10972800" y="3703320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13527816-0FC4-4671-87E7-512F41850A6D}"/>
              </a:ext>
            </a:extLst>
          </p:cNvPr>
          <p:cNvSpPr>
            <a:spLocks noGrp="1"/>
          </p:cNvSpPr>
          <p:nvPr/>
        </p:nvSpPr>
        <p:spPr>
          <a:xfrm>
            <a:off x="10972800" y="36941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A2D47421-506B-4E5E-8006-D38B506A4D55}"/>
              </a:ext>
            </a:extLst>
          </p:cNvPr>
          <p:cNvSpPr>
            <a:spLocks noGrp="1"/>
          </p:cNvSpPr>
          <p:nvPr/>
        </p:nvSpPr>
        <p:spPr>
          <a:xfrm>
            <a:off x="6126480" y="3904488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1633FCEC-E4A4-4406-B761-A9951F994CF1}"/>
              </a:ext>
            </a:extLst>
          </p:cNvPr>
          <p:cNvSpPr>
            <a:spLocks noGrp="1"/>
          </p:cNvSpPr>
          <p:nvPr/>
        </p:nvSpPr>
        <p:spPr>
          <a:xfrm>
            <a:off x="6217920" y="390448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bad_02_long_parameter_list.py</a:t>
            </a:r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EA88804C-896E-44E1-899B-90D4EB699FD2}"/>
              </a:ext>
            </a:extLst>
          </p:cNvPr>
          <p:cNvSpPr>
            <a:spLocks noGrp="1"/>
          </p:cNvSpPr>
          <p:nvPr/>
        </p:nvSpPr>
        <p:spPr>
          <a:xfrm>
            <a:off x="10972800" y="3950208"/>
            <a:ext cx="548640" cy="15544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B9D4D4FA-DBDB-4432-A4B9-B27DD4181D14}"/>
              </a:ext>
            </a:extLst>
          </p:cNvPr>
          <p:cNvSpPr>
            <a:spLocks noGrp="1"/>
          </p:cNvSpPr>
          <p:nvPr/>
        </p:nvSpPr>
        <p:spPr>
          <a:xfrm>
            <a:off x="10972800" y="394106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71B6B799-1089-40C2-B61C-CD8353F33945}"/>
              </a:ext>
            </a:extLst>
          </p:cNvPr>
          <p:cNvSpPr>
            <a:spLocks noGrp="1"/>
          </p:cNvSpPr>
          <p:nvPr/>
        </p:nvSpPr>
        <p:spPr>
          <a:xfrm>
            <a:off x="6126480" y="4151376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7A534022-C847-4897-9DFA-679BA862CC01}"/>
              </a:ext>
            </a:extLst>
          </p:cNvPr>
          <p:cNvSpPr>
            <a:spLocks noGrp="1"/>
          </p:cNvSpPr>
          <p:nvPr/>
        </p:nvSpPr>
        <p:spPr>
          <a:xfrm>
            <a:off x="6217920" y="4151376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bad_03_god_class.py</a:t>
            </a:r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5345D01B-EFF1-46C6-A6FF-DC50B2F9A2A1}"/>
              </a:ext>
            </a:extLst>
          </p:cNvPr>
          <p:cNvSpPr>
            <a:spLocks noGrp="1"/>
          </p:cNvSpPr>
          <p:nvPr/>
        </p:nvSpPr>
        <p:spPr>
          <a:xfrm>
            <a:off x="10972800" y="4197096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63002F47-E6D9-4DAA-8918-19E69C621DDC}"/>
              </a:ext>
            </a:extLst>
          </p:cNvPr>
          <p:cNvSpPr>
            <a:spLocks noGrp="1"/>
          </p:cNvSpPr>
          <p:nvPr/>
        </p:nvSpPr>
        <p:spPr>
          <a:xfrm>
            <a:off x="10972800" y="418795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36381599-423E-42D2-9D22-8BB50BCEAFC9}"/>
              </a:ext>
            </a:extLst>
          </p:cNvPr>
          <p:cNvSpPr>
            <a:spLocks noGrp="1"/>
          </p:cNvSpPr>
          <p:nvPr/>
        </p:nvSpPr>
        <p:spPr>
          <a:xfrm>
            <a:off x="6126480" y="4398264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6E7EFE0B-DDE9-49E2-A47C-9B284403D451}"/>
              </a:ext>
            </a:extLst>
          </p:cNvPr>
          <p:cNvSpPr>
            <a:spLocks noGrp="1"/>
          </p:cNvSpPr>
          <p:nvPr/>
        </p:nvSpPr>
        <p:spPr>
          <a:xfrm>
            <a:off x="6217920" y="4398264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bad_04_tight_coupling.py</a:t>
            </a:r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866789CD-16A6-4893-AF55-B7EAA2D610F8}"/>
              </a:ext>
            </a:extLst>
          </p:cNvPr>
          <p:cNvSpPr>
            <a:spLocks noGrp="1"/>
          </p:cNvSpPr>
          <p:nvPr/>
        </p:nvSpPr>
        <p:spPr>
          <a:xfrm>
            <a:off x="10972800" y="4443984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F312C39-8B8C-4B71-A17F-0FFC09085CC6}"/>
              </a:ext>
            </a:extLst>
          </p:cNvPr>
          <p:cNvSpPr>
            <a:spLocks noGrp="1"/>
          </p:cNvSpPr>
          <p:nvPr/>
        </p:nvSpPr>
        <p:spPr>
          <a:xfrm>
            <a:off x="10972800" y="44348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478CA82B-CEE2-4FE4-A4EF-40EB6B65FBD4}"/>
              </a:ext>
            </a:extLst>
          </p:cNvPr>
          <p:cNvSpPr>
            <a:spLocks noGrp="1"/>
          </p:cNvSpPr>
          <p:nvPr/>
        </p:nvSpPr>
        <p:spPr>
          <a:xfrm>
            <a:off x="6126480" y="4645152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491FD7E6-E0A6-48DD-AB75-EE27CD2181D5}"/>
              </a:ext>
            </a:extLst>
          </p:cNvPr>
          <p:cNvSpPr>
            <a:spLocks noGrp="1"/>
          </p:cNvSpPr>
          <p:nvPr/>
        </p:nvSpPr>
        <p:spPr>
          <a:xfrm>
            <a:off x="6217920" y="4645152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bad_05_duplicated_code.py</a:t>
            </a:r>
          </a:p>
        </p:txBody>
      </p:sp>
      <p:sp>
        <p:nvSpPr>
          <p:cNvPr id="85" name="Shape 83">
            <a:extLst>
              <a:ext uri="{FF2B5EF4-FFF2-40B4-BE49-F238E27FC236}">
                <a16:creationId xmlns:a16="http://schemas.microsoft.com/office/drawing/2014/main" id="{F60683D7-150C-4E4A-B4AB-3DEABB0EDABD}"/>
              </a:ext>
            </a:extLst>
          </p:cNvPr>
          <p:cNvSpPr>
            <a:spLocks noGrp="1"/>
          </p:cNvSpPr>
          <p:nvPr/>
        </p:nvSpPr>
        <p:spPr>
          <a:xfrm>
            <a:off x="10972800" y="4690872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98B84C93-FF98-499A-907F-64BAE40B7194}"/>
              </a:ext>
            </a:extLst>
          </p:cNvPr>
          <p:cNvSpPr>
            <a:spLocks noGrp="1"/>
          </p:cNvSpPr>
          <p:nvPr/>
        </p:nvSpPr>
        <p:spPr>
          <a:xfrm>
            <a:off x="10972800" y="468172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F5FCAC4F-DF2B-40B1-BD78-2600D08FC435}"/>
              </a:ext>
            </a:extLst>
          </p:cNvPr>
          <p:cNvSpPr>
            <a:spLocks noGrp="1"/>
          </p:cNvSpPr>
          <p:nvPr/>
        </p:nvSpPr>
        <p:spPr>
          <a:xfrm>
            <a:off x="6126480" y="4892040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D301EA2D-0E33-45F7-8279-3439DCC54C0A}"/>
              </a:ext>
            </a:extLst>
          </p:cNvPr>
          <p:cNvSpPr>
            <a:spLocks noGrp="1"/>
          </p:cNvSpPr>
          <p:nvPr/>
        </p:nvSpPr>
        <p:spPr>
          <a:xfrm>
            <a:off x="6217920" y="4892040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bad_06_complex_switch.py</a:t>
            </a:r>
          </a:p>
        </p:txBody>
      </p:sp>
      <p:sp>
        <p:nvSpPr>
          <p:cNvPr id="89" name="Shape 87">
            <a:extLst>
              <a:ext uri="{FF2B5EF4-FFF2-40B4-BE49-F238E27FC236}">
                <a16:creationId xmlns:a16="http://schemas.microsoft.com/office/drawing/2014/main" id="{102DCEA0-BC77-4ED3-884A-830FA5713A2B}"/>
              </a:ext>
            </a:extLst>
          </p:cNvPr>
          <p:cNvSpPr>
            <a:spLocks noGrp="1"/>
          </p:cNvSpPr>
          <p:nvPr/>
        </p:nvSpPr>
        <p:spPr>
          <a:xfrm>
            <a:off x="10972800" y="4937760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9759F1CE-2DF6-4C67-A991-FF511345B315}"/>
              </a:ext>
            </a:extLst>
          </p:cNvPr>
          <p:cNvSpPr>
            <a:spLocks noGrp="1"/>
          </p:cNvSpPr>
          <p:nvPr/>
        </p:nvSpPr>
        <p:spPr>
          <a:xfrm>
            <a:off x="10972800" y="492861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1" name="Shape 89">
            <a:extLst>
              <a:ext uri="{FF2B5EF4-FFF2-40B4-BE49-F238E27FC236}">
                <a16:creationId xmlns:a16="http://schemas.microsoft.com/office/drawing/2014/main" id="{1F6D06C7-FACF-40E1-A206-73CA2626C3D8}"/>
              </a:ext>
            </a:extLst>
          </p:cNvPr>
          <p:cNvSpPr>
            <a:spLocks noGrp="1"/>
          </p:cNvSpPr>
          <p:nvPr/>
        </p:nvSpPr>
        <p:spPr>
          <a:xfrm>
            <a:off x="6126480" y="5138928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14A88885-2609-4052-A319-77B76EA379A3}"/>
              </a:ext>
            </a:extLst>
          </p:cNvPr>
          <p:cNvSpPr>
            <a:spLocks noGrp="1"/>
          </p:cNvSpPr>
          <p:nvPr/>
        </p:nvSpPr>
        <p:spPr>
          <a:xfrm>
            <a:off x="6217920" y="513892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bad_07_long_parameter_list.py</a:t>
            </a: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DF4E060D-9971-42BE-B1C8-65550194A4CF}"/>
              </a:ext>
            </a:extLst>
          </p:cNvPr>
          <p:cNvSpPr>
            <a:spLocks noGrp="1"/>
          </p:cNvSpPr>
          <p:nvPr/>
        </p:nvSpPr>
        <p:spPr>
          <a:xfrm>
            <a:off x="10972800" y="5184648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D5A6337-1E7A-4AF6-9105-497EE0E4A4D4}"/>
              </a:ext>
            </a:extLst>
          </p:cNvPr>
          <p:cNvSpPr>
            <a:spLocks noGrp="1"/>
          </p:cNvSpPr>
          <p:nvPr/>
        </p:nvSpPr>
        <p:spPr>
          <a:xfrm>
            <a:off x="10972800" y="517550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5" name="Shape 93">
            <a:extLst>
              <a:ext uri="{FF2B5EF4-FFF2-40B4-BE49-F238E27FC236}">
                <a16:creationId xmlns:a16="http://schemas.microsoft.com/office/drawing/2014/main" id="{08E4629D-3374-4279-A025-DB4AC44EECDD}"/>
              </a:ext>
            </a:extLst>
          </p:cNvPr>
          <p:cNvSpPr>
            <a:spLocks noGrp="1"/>
          </p:cNvSpPr>
          <p:nvPr/>
        </p:nvSpPr>
        <p:spPr>
          <a:xfrm>
            <a:off x="6126480" y="5385816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Text 94">
            <a:extLst>
              <a:ext uri="{FF2B5EF4-FFF2-40B4-BE49-F238E27FC236}">
                <a16:creationId xmlns:a16="http://schemas.microsoft.com/office/drawing/2014/main" id="{FB08C225-E10A-49B7-98D4-AA386D4C8227}"/>
              </a:ext>
            </a:extLst>
          </p:cNvPr>
          <p:cNvSpPr>
            <a:spLocks noGrp="1"/>
          </p:cNvSpPr>
          <p:nvPr/>
        </p:nvSpPr>
        <p:spPr>
          <a:xfrm>
            <a:off x="6217920" y="5385816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bad_08_god_class.py</a:t>
            </a:r>
          </a:p>
        </p:txBody>
      </p:sp>
      <p:sp>
        <p:nvSpPr>
          <p:cNvPr id="97" name="Shape 95">
            <a:extLst>
              <a:ext uri="{FF2B5EF4-FFF2-40B4-BE49-F238E27FC236}">
                <a16:creationId xmlns:a16="http://schemas.microsoft.com/office/drawing/2014/main" id="{CAEC9221-FC90-4767-B48B-C21B7A43DDC2}"/>
              </a:ext>
            </a:extLst>
          </p:cNvPr>
          <p:cNvSpPr>
            <a:spLocks noGrp="1"/>
          </p:cNvSpPr>
          <p:nvPr/>
        </p:nvSpPr>
        <p:spPr>
          <a:xfrm>
            <a:off x="10972800" y="5431536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Text 96">
            <a:extLst>
              <a:ext uri="{FF2B5EF4-FFF2-40B4-BE49-F238E27FC236}">
                <a16:creationId xmlns:a16="http://schemas.microsoft.com/office/drawing/2014/main" id="{AD69B967-D6C0-479B-9121-6F9966A9CF37}"/>
              </a:ext>
            </a:extLst>
          </p:cNvPr>
          <p:cNvSpPr>
            <a:spLocks noGrp="1"/>
          </p:cNvSpPr>
          <p:nvPr/>
        </p:nvSpPr>
        <p:spPr>
          <a:xfrm>
            <a:off x="10972800" y="54223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9" name="Shape 97">
            <a:extLst>
              <a:ext uri="{FF2B5EF4-FFF2-40B4-BE49-F238E27FC236}">
                <a16:creationId xmlns:a16="http://schemas.microsoft.com/office/drawing/2014/main" id="{92BC4C6D-3BC2-4C1D-8F7A-AE15BA701ACA}"/>
              </a:ext>
            </a:extLst>
          </p:cNvPr>
          <p:cNvSpPr>
            <a:spLocks noGrp="1"/>
          </p:cNvSpPr>
          <p:nvPr/>
        </p:nvSpPr>
        <p:spPr>
          <a:xfrm>
            <a:off x="6126480" y="5632704"/>
            <a:ext cx="5486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Text 98">
            <a:extLst>
              <a:ext uri="{FF2B5EF4-FFF2-40B4-BE49-F238E27FC236}">
                <a16:creationId xmlns:a16="http://schemas.microsoft.com/office/drawing/2014/main" id="{3C3BAFFE-FB7D-4EA4-A046-8CAB978D0834}"/>
              </a:ext>
            </a:extLst>
          </p:cNvPr>
          <p:cNvSpPr>
            <a:spLocks noGrp="1"/>
          </p:cNvSpPr>
          <p:nvPr/>
        </p:nvSpPr>
        <p:spPr>
          <a:xfrm>
            <a:off x="6217920" y="5632704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bad_09_tight_coupling.py</a:t>
            </a:r>
          </a:p>
        </p:txBody>
      </p:sp>
      <p:sp>
        <p:nvSpPr>
          <p:cNvPr id="101" name="Shape 99">
            <a:extLst>
              <a:ext uri="{FF2B5EF4-FFF2-40B4-BE49-F238E27FC236}">
                <a16:creationId xmlns:a16="http://schemas.microsoft.com/office/drawing/2014/main" id="{086CEA8D-C0B9-4C6A-82E0-80D1F793EC8A}"/>
              </a:ext>
            </a:extLst>
          </p:cNvPr>
          <p:cNvSpPr>
            <a:spLocks noGrp="1"/>
          </p:cNvSpPr>
          <p:nvPr/>
        </p:nvSpPr>
        <p:spPr>
          <a:xfrm>
            <a:off x="10972800" y="5678424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Text 100">
            <a:extLst>
              <a:ext uri="{FF2B5EF4-FFF2-40B4-BE49-F238E27FC236}">
                <a16:creationId xmlns:a16="http://schemas.microsoft.com/office/drawing/2014/main" id="{5C14B8BB-54A5-4DEA-9F8A-A72BD13B9642}"/>
              </a:ext>
            </a:extLst>
          </p:cNvPr>
          <p:cNvSpPr>
            <a:spLocks noGrp="1"/>
          </p:cNvSpPr>
          <p:nvPr/>
        </p:nvSpPr>
        <p:spPr>
          <a:xfrm>
            <a:off x="10972800" y="56692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3" name="Shape 101">
            <a:extLst>
              <a:ext uri="{FF2B5EF4-FFF2-40B4-BE49-F238E27FC236}">
                <a16:creationId xmlns:a16="http://schemas.microsoft.com/office/drawing/2014/main" id="{86FD1DBF-3CFD-4385-B00D-573DFEE08AB5}"/>
              </a:ext>
            </a:extLst>
          </p:cNvPr>
          <p:cNvSpPr>
            <a:spLocks noGrp="1"/>
          </p:cNvSpPr>
          <p:nvPr/>
        </p:nvSpPr>
        <p:spPr>
          <a:xfrm>
            <a:off x="6126480" y="5879592"/>
            <a:ext cx="5486400" cy="246888"/>
          </a:xfrm>
          <a:prstGeom prst="rect">
            <a:avLst/>
          </a:prstGeom>
          <a:solidFill>
            <a:srgbClr val="F5F8FA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>
            <a:extLst>
              <a:ext uri="{FF2B5EF4-FFF2-40B4-BE49-F238E27FC236}">
                <a16:creationId xmlns:a16="http://schemas.microsoft.com/office/drawing/2014/main" id="{139299C8-2CD5-4BFF-A679-D824F1629365}"/>
              </a:ext>
            </a:extLst>
          </p:cNvPr>
          <p:cNvSpPr>
            <a:spLocks noGrp="1"/>
          </p:cNvSpPr>
          <p:nvPr/>
        </p:nvSpPr>
        <p:spPr>
          <a:xfrm>
            <a:off x="6217920" y="5879592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bad_10_duplicated_code.py</a:t>
            </a:r>
          </a:p>
        </p:txBody>
      </p:sp>
      <p:sp>
        <p:nvSpPr>
          <p:cNvPr id="105" name="Shape 103">
            <a:extLst>
              <a:ext uri="{FF2B5EF4-FFF2-40B4-BE49-F238E27FC236}">
                <a16:creationId xmlns:a16="http://schemas.microsoft.com/office/drawing/2014/main" id="{05EC9EDF-B586-442A-B587-B66AEE76F704}"/>
              </a:ext>
            </a:extLst>
          </p:cNvPr>
          <p:cNvSpPr>
            <a:spLocks noGrp="1"/>
          </p:cNvSpPr>
          <p:nvPr/>
        </p:nvSpPr>
        <p:spPr>
          <a:xfrm>
            <a:off x="10972800" y="5925312"/>
            <a:ext cx="548640" cy="1554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>
            <a:extLst>
              <a:ext uri="{FF2B5EF4-FFF2-40B4-BE49-F238E27FC236}">
                <a16:creationId xmlns:a16="http://schemas.microsoft.com/office/drawing/2014/main" id="{880146E0-2CF9-446F-8466-33968D0A26FF}"/>
              </a:ext>
            </a:extLst>
          </p:cNvPr>
          <p:cNvSpPr>
            <a:spLocks noGrp="1"/>
          </p:cNvSpPr>
          <p:nvPr/>
        </p:nvSpPr>
        <p:spPr>
          <a:xfrm>
            <a:off x="10972800" y="591616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7" name="Shape 105">
            <a:extLst>
              <a:ext uri="{FF2B5EF4-FFF2-40B4-BE49-F238E27FC236}">
                <a16:creationId xmlns:a16="http://schemas.microsoft.com/office/drawing/2014/main" id="{942CC033-919F-4ACC-BE94-38814D55AEF8}"/>
              </a:ext>
            </a:extLst>
          </p:cNvPr>
          <p:cNvSpPr>
            <a:spLocks noGrp="1"/>
          </p:cNvSpPr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8" name="Text 106">
            <a:extLst>
              <a:ext uri="{FF2B5EF4-FFF2-40B4-BE49-F238E27FC236}">
                <a16:creationId xmlns:a16="http://schemas.microsoft.com/office/drawing/2014/main" id="{AA6BD0A5-F361-4ADB-84D7-11C354A9F007}"/>
              </a:ext>
            </a:extLst>
          </p:cNvPr>
          <p:cNvSpPr>
            <a:spLocks noGrp="1"/>
          </p:cNvSpPr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Garantia preservada: 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FAR = 0.000 nas 11 amostras válidas — o Critic continua não aprovando código defeituoso, mesmo sob carga. Os 9 </a:t>
            </a: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são quota Mistral, não julgamento do agente.</a:t>
            </a:r>
          </a:p>
        </p:txBody>
      </p:sp>
      <p:sp>
        <p:nvSpPr>
          <p:cNvPr id="109" name="Text 107">
            <a:extLst>
              <a:ext uri="{FF2B5EF4-FFF2-40B4-BE49-F238E27FC236}">
                <a16:creationId xmlns:a16="http://schemas.microsoft.com/office/drawing/2014/main" id="{82234648-384C-4220-B5EE-65E8351E29E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110" name="Text 108">
            <a:extLst>
              <a:ext uri="{FF2B5EF4-FFF2-40B4-BE49-F238E27FC236}">
                <a16:creationId xmlns:a16="http://schemas.microsoft.com/office/drawing/2014/main" id="{819768FE-38B8-44BB-85A1-62E907DD15D8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 / 24</a:t>
            </a:r>
          </a:p>
        </p:txBody>
      </p:sp>
    </p:spTree>
    <p:extLst>
      <p:ext uri="{BB962C8B-B14F-4D97-AF65-F5344CB8AC3E}">
        <p14:creationId xmlns:p14="http://schemas.microsoft.com/office/powerpoint/2010/main" val="14615264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6E501B4-2353-46E9-AB56-F0BD38C5DA20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15 · AVALIAÇÃO · ANÁLISE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2AB7DB-C7C6-4792-821F-D3E59876C89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Diagnóstico do baseline e ações aplicadas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0C6EC13-90FC-4593-9EA6-91C9B068DDC4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5D5F8A4-87A7-4B7D-B17C-416082B95994}"/>
              </a:ext>
            </a:extLst>
          </p:cNvPr>
          <p:cNvSpPr>
            <a:spLocks noGrp="1"/>
          </p:cNvSpPr>
          <p:nvPr/>
        </p:nvSpPr>
        <p:spPr>
          <a:xfrm>
            <a:off x="731520" y="1828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Diagnóstico do baseline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D050687-675B-4129-9B52-8C53C6C47D2D}"/>
              </a:ext>
            </a:extLst>
          </p:cNvPr>
          <p:cNvSpPr>
            <a:spLocks noGrp="1"/>
          </p:cNvSpPr>
          <p:nvPr/>
        </p:nvSpPr>
        <p:spPr>
          <a:xfrm>
            <a:off x="731520" y="2240280"/>
            <a:ext cx="5029200" cy="3931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Detector saturado em F1 = 1.000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 Sem espaço para melhorar — manter zero-shot.</a:t>
            </a:r>
          </a:p>
          <a:p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⚠ Recommender: gap em "API preservada"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 Em 4/10 problemas, a função pública mudou de assinatura. Sintaxe e pattern saíam corretos, mas o wrapper fino não era escrito.</a:t>
            </a:r>
          </a:p>
          <a:p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⚠ Critic: 1 false reject (FRR=11%)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 Padrão típico de Mistral sob entrada longa devolvendo string crua em vez de ReflectionReview.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89B4FD2-E718-4248-848E-19FE8112C69F}"/>
              </a:ext>
            </a:extLst>
          </p:cNvPr>
          <p:cNvSpPr>
            <a:spLocks noGrp="1"/>
          </p:cNvSpPr>
          <p:nvPr/>
        </p:nvSpPr>
        <p:spPr>
          <a:xfrm>
            <a:off x="6217920" y="1691640"/>
            <a:ext cx="5394960" cy="411480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DA277B2-63C7-47EA-82D8-C71B2DC201A8}"/>
              </a:ext>
            </a:extLst>
          </p:cNvPr>
          <p:cNvSpPr>
            <a:spLocks noGrp="1"/>
          </p:cNvSpPr>
          <p:nvPr/>
        </p:nvSpPr>
        <p:spPr>
          <a:xfrm>
            <a:off x="6400800" y="1828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Ações aplicadas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8843EFC-9D66-4C70-8157-9C76138652E6}"/>
              </a:ext>
            </a:extLst>
          </p:cNvPr>
          <p:cNvSpPr>
            <a:spLocks noGrp="1"/>
          </p:cNvSpPr>
          <p:nvPr/>
        </p:nvSpPr>
        <p:spPr>
          <a:xfrm>
            <a:off x="6400800" y="2194560"/>
            <a:ext cx="1280160" cy="2926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E2084D8-E49C-4416-AA68-76B70B8820F4}"/>
              </a:ext>
            </a:extLst>
          </p:cNvPr>
          <p:cNvSpPr>
            <a:spLocks noGrp="1"/>
          </p:cNvSpPr>
          <p:nvPr/>
        </p:nvSpPr>
        <p:spPr>
          <a:xfrm>
            <a:off x="6400800" y="221284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FEW-SHOT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0442311-5893-4A02-8B8E-F990FE4ED032}"/>
              </a:ext>
            </a:extLst>
          </p:cNvPr>
          <p:cNvSpPr>
            <a:spLocks noGrp="1"/>
          </p:cNvSpPr>
          <p:nvPr/>
        </p:nvSpPr>
        <p:spPr>
          <a:xfrm>
            <a:off x="6400800" y="2578608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Exemplos canônicos via Skills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E20CB93-0846-4FBC-8744-FE60AFB936C2}"/>
              </a:ext>
            </a:extLst>
          </p:cNvPr>
          <p:cNvSpPr>
            <a:spLocks noGrp="1"/>
          </p:cNvSpPr>
          <p:nvPr/>
        </p:nvSpPr>
        <p:spPr>
          <a:xfrm>
            <a:off x="6400800" y="2907792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5 SKILL.md mostram explicitamente o wrapper que preserva a API pública.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E6B3492-A9CF-4A3B-B180-359142FC8B2B}"/>
              </a:ext>
            </a:extLst>
          </p:cNvPr>
          <p:cNvSpPr>
            <a:spLocks noGrp="1"/>
          </p:cNvSpPr>
          <p:nvPr/>
        </p:nvSpPr>
        <p:spPr>
          <a:xfrm>
            <a:off x="6400800" y="3383280"/>
            <a:ext cx="1280160" cy="2926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7A1E45A-E523-4A26-A108-D5E74B2336BF}"/>
              </a:ext>
            </a:extLst>
          </p:cNvPr>
          <p:cNvSpPr>
            <a:spLocks noGrp="1"/>
          </p:cNvSpPr>
          <p:nvPr/>
        </p:nvSpPr>
        <p:spPr>
          <a:xfrm>
            <a:off x="6400800" y="340156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PARSER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32EF6A0-33FA-4D83-8B88-4B88BEC93D67}"/>
              </a:ext>
            </a:extLst>
          </p:cNvPr>
          <p:cNvSpPr>
            <a:spLocks noGrp="1"/>
          </p:cNvSpPr>
          <p:nvPr/>
        </p:nvSpPr>
        <p:spPr>
          <a:xfrm>
            <a:off x="6400800" y="3767328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parser_model wirado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E37918-C176-4B8A-89E6-9F1EF0637120}"/>
              </a:ext>
            </a:extLst>
          </p:cNvPr>
          <p:cNvSpPr>
            <a:spLocks noGrp="1"/>
          </p:cNvSpPr>
          <p:nvPr/>
        </p:nvSpPr>
        <p:spPr>
          <a:xfrm>
            <a:off x="6400800" y="4096512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2º round-trip Mistral só para extrair JSON — sem JSON-mode forçado durante tool calling.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C9642BD-BCBD-447B-8FB7-DE1C844A6292}"/>
              </a:ext>
            </a:extLst>
          </p:cNvPr>
          <p:cNvSpPr>
            <a:spLocks noGrp="1"/>
          </p:cNvSpPr>
          <p:nvPr/>
        </p:nvSpPr>
        <p:spPr>
          <a:xfrm>
            <a:off x="6400800" y="4572000"/>
            <a:ext cx="1280160" cy="2926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9585ED4-6716-427C-9744-D2B58FFAD84C}"/>
              </a:ext>
            </a:extLst>
          </p:cNvPr>
          <p:cNvSpPr>
            <a:spLocks noGrp="1"/>
          </p:cNvSpPr>
          <p:nvPr/>
        </p:nvSpPr>
        <p:spPr>
          <a:xfrm>
            <a:off x="6400800" y="459028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RETRY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FA7EFD5-E1DB-43C3-868F-428EC7B7ACE6}"/>
              </a:ext>
            </a:extLst>
          </p:cNvPr>
          <p:cNvSpPr>
            <a:spLocks noGrp="1"/>
          </p:cNvSpPr>
          <p:nvPr/>
        </p:nvSpPr>
        <p:spPr>
          <a:xfrm>
            <a:off x="6400800" y="4956048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arun_typed com backoff + schema check</a:t>
            </a: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0D5E89B-68D7-45FB-BE54-9F6745436153}"/>
              </a:ext>
            </a:extLst>
          </p:cNvPr>
          <p:cNvSpPr>
            <a:spLocks noGrp="1"/>
          </p:cNvSpPr>
          <p:nvPr/>
        </p:nvSpPr>
        <p:spPr>
          <a:xfrm>
            <a:off x="6400800" y="5285232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Retenta em 429 e quando content não casa com o schema esperado.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96F10FB-E3C2-4858-B63E-3B2042B81880}"/>
              </a:ext>
            </a:extLst>
          </p:cNvPr>
          <p:cNvSpPr>
            <a:spLocks noGrp="1"/>
          </p:cNvSpPr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Validado na re-execução de 2026-06-17 (slide anterior): Recommender 0.60 → 0.90 em lógica/API · Critic F1 estável em 0.947 (parser_model conserta crash, não julgamento).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DFCA84D-E49F-4456-96EB-1FD6D9CE5FC9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1E8C719-CC62-4C40-8C4A-4ACE51C859F8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 / 24</a:t>
            </a:r>
          </a:p>
        </p:txBody>
      </p:sp>
    </p:spTree>
    <p:extLst>
      <p:ext uri="{BB962C8B-B14F-4D97-AF65-F5344CB8AC3E}">
        <p14:creationId xmlns:p14="http://schemas.microsoft.com/office/powerpoint/2010/main" val="892476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7E0B7CC-9752-4354-ABC4-5D0FAC9FFE33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16 · TRABALHOS RELACIONADOS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E8D999-ECCE-4153-B5B5-262A99AD8B48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Como o refactor-os se situa no estado da arte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0DCA659-3A3E-4B3A-B3C5-C03A85E1503C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C5B9840-39EE-4958-8572-4ED4A1771311}"/>
              </a:ext>
            </a:extLst>
          </p:cNvPr>
          <p:cNvSpPr>
            <a:spLocks noGrp="1"/>
          </p:cNvSpPr>
          <p:nvPr/>
        </p:nvSpPr>
        <p:spPr>
          <a:xfrm>
            <a:off x="731520" y="1728216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Catálogo conceitual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E4956EF-445D-42DA-90FB-AEF8AD30CCC1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110642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D1597BC-3BCC-4518-A090-C77BC4C20C92}"/>
              </a:ext>
            </a:extLst>
          </p:cNvPr>
          <p:cNvSpPr>
            <a:spLocks noGrp="1"/>
          </p:cNvSpPr>
          <p:nvPr/>
        </p:nvSpPr>
        <p:spPr>
          <a:xfrm>
            <a:off x="731520" y="2084832"/>
            <a:ext cx="393192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Fowler — Refactoring (1999, 2018)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ED5DBB-B87E-45CD-B340-A5B27EB3165D}"/>
              </a:ext>
            </a:extLst>
          </p:cNvPr>
          <p:cNvSpPr>
            <a:spLocks noGrp="1"/>
          </p:cNvSpPr>
          <p:nvPr/>
        </p:nvSpPr>
        <p:spPr>
          <a:xfrm>
            <a:off x="4754880" y="2084832"/>
            <a:ext cx="676656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Catálogo seminal de bad smells e refatorações. Fonte do nosso escopo.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6553AD5-CECE-442F-9EC7-CD61F4C21BA9}"/>
              </a:ext>
            </a:extLst>
          </p:cNvPr>
          <p:cNvSpPr>
            <a:spLocks noGrp="1"/>
          </p:cNvSpPr>
          <p:nvPr/>
        </p:nvSpPr>
        <p:spPr>
          <a:xfrm>
            <a:off x="548640" y="2468880"/>
            <a:ext cx="11064240" cy="411480"/>
          </a:xfrm>
          <a:prstGeom prst="rect">
            <a:avLst/>
          </a:prstGeom>
          <a:solidFill>
            <a:srgbClr val="F5F8FA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B93EB28-4500-475E-A93D-1B8E7779423B}"/>
              </a:ext>
            </a:extLst>
          </p:cNvPr>
          <p:cNvSpPr>
            <a:spLocks noGrp="1"/>
          </p:cNvSpPr>
          <p:nvPr/>
        </p:nvSpPr>
        <p:spPr>
          <a:xfrm>
            <a:off x="731520" y="2496312"/>
            <a:ext cx="393192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GoF — Design Patterns (1994)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49A422-FA75-4CA5-B703-6681EB2EE035}"/>
              </a:ext>
            </a:extLst>
          </p:cNvPr>
          <p:cNvSpPr>
            <a:spLocks noGrp="1"/>
          </p:cNvSpPr>
          <p:nvPr/>
        </p:nvSpPr>
        <p:spPr>
          <a:xfrm>
            <a:off x="4754880" y="2496312"/>
            <a:ext cx="676656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Vocabulário canônico dos 5 patterns aplicados aqui.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3FF0B92-C9CF-43B9-A929-7EC430B9352E}"/>
              </a:ext>
            </a:extLst>
          </p:cNvPr>
          <p:cNvSpPr>
            <a:spLocks noGrp="1"/>
          </p:cNvSpPr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DD729DB-E896-4A50-9FF7-10A5334D332D}"/>
              </a:ext>
            </a:extLst>
          </p:cNvPr>
          <p:cNvSpPr>
            <a:spLocks noGrp="1"/>
          </p:cNvSpPr>
          <p:nvPr/>
        </p:nvSpPr>
        <p:spPr>
          <a:xfrm>
            <a:off x="731520" y="3008376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Análise estática tradicional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5E2B944-4BD5-4257-97A9-C2AC23AEB845}"/>
              </a:ext>
            </a:extLst>
          </p:cNvPr>
          <p:cNvSpPr>
            <a:spLocks noGrp="1"/>
          </p:cNvSpPr>
          <p:nvPr/>
        </p:nvSpPr>
        <p:spPr>
          <a:xfrm>
            <a:off x="548640" y="3337560"/>
            <a:ext cx="110642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D5ED33A-335A-4B2D-9D1D-6D936819784D}"/>
              </a:ext>
            </a:extLst>
          </p:cNvPr>
          <p:cNvSpPr>
            <a:spLocks noGrp="1"/>
          </p:cNvSpPr>
          <p:nvPr/>
        </p:nvSpPr>
        <p:spPr>
          <a:xfrm>
            <a:off x="731520" y="3364992"/>
            <a:ext cx="393192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SonarQube / SonarLint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E864552-F934-414E-95F8-AEFF3A0D0469}"/>
              </a:ext>
            </a:extLst>
          </p:cNvPr>
          <p:cNvSpPr>
            <a:spLocks noGrp="1"/>
          </p:cNvSpPr>
          <p:nvPr/>
        </p:nvSpPr>
        <p:spPr>
          <a:xfrm>
            <a:off x="4754880" y="3364992"/>
            <a:ext cx="676656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Detecta smells, mas não propõe nem aplica refatoração — só sinaliza.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CE3EA76-2106-477E-B058-82237ABF1CA0}"/>
              </a:ext>
            </a:extLst>
          </p:cNvPr>
          <p:cNvSpPr>
            <a:spLocks noGrp="1"/>
          </p:cNvSpPr>
          <p:nvPr/>
        </p:nvSpPr>
        <p:spPr>
          <a:xfrm>
            <a:off x="548640" y="3749040"/>
            <a:ext cx="11064240" cy="411480"/>
          </a:xfrm>
          <a:prstGeom prst="rect">
            <a:avLst/>
          </a:prstGeom>
          <a:solidFill>
            <a:srgbClr val="F5F8FA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235AE52-0624-4C43-AB49-DE861BC1B4DB}"/>
              </a:ext>
            </a:extLst>
          </p:cNvPr>
          <p:cNvSpPr>
            <a:spLocks noGrp="1"/>
          </p:cNvSpPr>
          <p:nvPr/>
        </p:nvSpPr>
        <p:spPr>
          <a:xfrm>
            <a:off x="731520" y="3776472"/>
            <a:ext cx="393192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PMD, Checkstyle, Pylint, ruff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5D6DF59-9145-44FF-8627-AAD8EE537263}"/>
              </a:ext>
            </a:extLst>
          </p:cNvPr>
          <p:cNvSpPr>
            <a:spLocks noGrp="1"/>
          </p:cNvSpPr>
          <p:nvPr/>
        </p:nvSpPr>
        <p:spPr>
          <a:xfrm>
            <a:off x="4754880" y="3776472"/>
            <a:ext cx="676656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Regras determinísticas; sem capacidade de transformação semântica.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EE17A85-FF81-456A-B26B-ABB064B83CE3}"/>
              </a:ext>
            </a:extLst>
          </p:cNvPr>
          <p:cNvSpPr>
            <a:spLocks noGrp="1"/>
          </p:cNvSpPr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1E9D07A-D228-4239-9730-2F93C46C91C7}"/>
              </a:ext>
            </a:extLst>
          </p:cNvPr>
          <p:cNvSpPr>
            <a:spLocks noGrp="1"/>
          </p:cNvSpPr>
          <p:nvPr/>
        </p:nvSpPr>
        <p:spPr>
          <a:xfrm>
            <a:off x="731520" y="4187952"/>
            <a:ext cx="393192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RefactoringMiner (Tsantalis et al.)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7464561-7B48-435B-917C-D42A3BBB4986}"/>
              </a:ext>
            </a:extLst>
          </p:cNvPr>
          <p:cNvSpPr>
            <a:spLocks noGrp="1"/>
          </p:cNvSpPr>
          <p:nvPr/>
        </p:nvSpPr>
        <p:spPr>
          <a:xfrm>
            <a:off x="4754880" y="4187952"/>
            <a:ext cx="676656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Minera refatorações de histórico de commits — descritivo, não generativo.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19A7AF4-92DB-4B1C-8705-07AC24318436}"/>
              </a:ext>
            </a:extLst>
          </p:cNvPr>
          <p:cNvSpPr>
            <a:spLocks noGrp="1"/>
          </p:cNvSpPr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76D91D9-6412-41E8-8E06-0F16C85D3647}"/>
              </a:ext>
            </a:extLst>
          </p:cNvPr>
          <p:cNvSpPr>
            <a:spLocks noGrp="1"/>
          </p:cNvSpPr>
          <p:nvPr/>
        </p:nvSpPr>
        <p:spPr>
          <a:xfrm>
            <a:off x="731520" y="4700016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Refatoração com LLM / agentes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8FE916C0-2062-41D7-922C-820D01DA36EB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110642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98C7221-71D3-4719-9528-80F18C936B36}"/>
              </a:ext>
            </a:extLst>
          </p:cNvPr>
          <p:cNvSpPr>
            <a:spLocks noGrp="1"/>
          </p:cNvSpPr>
          <p:nvPr/>
        </p:nvSpPr>
        <p:spPr>
          <a:xfrm>
            <a:off x="731520" y="5056632"/>
            <a:ext cx="393192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Tufano et al. — Neural code refactoring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35B8EA5-5DEE-49E1-8233-791799D7B559}"/>
              </a:ext>
            </a:extLst>
          </p:cNvPr>
          <p:cNvSpPr>
            <a:spLocks noGrp="1"/>
          </p:cNvSpPr>
          <p:nvPr/>
        </p:nvSpPr>
        <p:spPr>
          <a:xfrm>
            <a:off x="4754880" y="5056632"/>
            <a:ext cx="676656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Modelos seq-to-seq pré-treinados; sem mapeamento smell↔pattern estrito.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5F94B0F-81E8-415D-89E4-198F6B566B94}"/>
              </a:ext>
            </a:extLst>
          </p:cNvPr>
          <p:cNvSpPr>
            <a:spLocks noGrp="1"/>
          </p:cNvSpPr>
          <p:nvPr/>
        </p:nvSpPr>
        <p:spPr>
          <a:xfrm>
            <a:off x="548640" y="5440680"/>
            <a:ext cx="11064240" cy="411480"/>
          </a:xfrm>
          <a:prstGeom prst="rect">
            <a:avLst/>
          </a:prstGeom>
          <a:solidFill>
            <a:srgbClr val="F5F8FA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984E99D-93FB-4CC2-BBA0-030432512CBF}"/>
              </a:ext>
            </a:extLst>
          </p:cNvPr>
          <p:cNvSpPr>
            <a:spLocks noGrp="1"/>
          </p:cNvSpPr>
          <p:nvPr/>
        </p:nvSpPr>
        <p:spPr>
          <a:xfrm>
            <a:off x="731520" y="5468112"/>
            <a:ext cx="393192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ChatGPT / Copilot / Cursor / Claude Code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D47BE14-A870-44EB-A672-69DCC5196A01}"/>
              </a:ext>
            </a:extLst>
          </p:cNvPr>
          <p:cNvSpPr>
            <a:spLocks noGrp="1"/>
          </p:cNvSpPr>
          <p:nvPr/>
        </p:nvSpPr>
        <p:spPr>
          <a:xfrm>
            <a:off x="4754880" y="5468112"/>
            <a:ext cx="676656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Refatoração ad-hoc, sem garantia de pattern aplicado nem avaliação isolada por agente.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8DF6BDBF-E22A-4F21-B1E4-A348D6BD22CC}"/>
              </a:ext>
            </a:extLst>
          </p:cNvPr>
          <p:cNvSpPr>
            <a:spLocks noGrp="1"/>
          </p:cNvSpPr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401147B-AB18-4FB7-9C8F-E6BE03E76725}"/>
              </a:ext>
            </a:extLst>
          </p:cNvPr>
          <p:cNvSpPr>
            <a:spLocks noGrp="1"/>
          </p:cNvSpPr>
          <p:nvPr/>
        </p:nvSpPr>
        <p:spPr>
          <a:xfrm>
            <a:off x="731520" y="5879592"/>
            <a:ext cx="393192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AutoGen / CrewAI / LangGraph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4C9BAE8-2FA3-4337-8249-57F0ABBF35DB}"/>
              </a:ext>
            </a:extLst>
          </p:cNvPr>
          <p:cNvSpPr>
            <a:spLocks noGrp="1"/>
          </p:cNvSpPr>
          <p:nvPr/>
        </p:nvSpPr>
        <p:spPr>
          <a:xfrm>
            <a:off x="4754880" y="5879592"/>
            <a:ext cx="6766560" cy="356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Frameworks multi-agente; o refactor-os opta por orquestração determinística em Python (não LLM-orquestrada).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9F96F00-8301-495C-BA3A-152065BAD01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B85E544C-5E9E-4BC4-B512-F96AB5BECF5C}"/>
              </a:ext>
            </a:extLst>
          </p:cNvPr>
          <p:cNvSpPr>
            <a:spLocks noGrp="1"/>
          </p:cNvSpPr>
          <p:nvPr/>
        </p:nvSpPr>
        <p:spPr>
          <a:xfrm>
            <a:off x="8229600" y="6446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 / 24</a:t>
            </a:r>
          </a:p>
        </p:txBody>
      </p:sp>
    </p:spTree>
    <p:extLst>
      <p:ext uri="{BB962C8B-B14F-4D97-AF65-F5344CB8AC3E}">
        <p14:creationId xmlns:p14="http://schemas.microsoft.com/office/powerpoint/2010/main" val="17616609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EEE9FBE-FF5A-47C6-B74E-98E005EE44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0DB852-339A-4A1D-A29C-DE443CAB7F58}"/>
              </a:ext>
            </a:extLst>
          </p:cNvPr>
          <p:cNvSpPr>
            <a:spLocks noGrp="1"/>
          </p:cNvSpPr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6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CONCLUSÃO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AB0668-C65C-47F8-8E85-ADBA2BA44E6B}"/>
              </a:ext>
            </a:extLst>
          </p:cNvPr>
          <p:cNvSpPr>
            <a:spLocks noGrp="1"/>
          </p:cNvSpPr>
          <p:nvPr/>
        </p:nvSpPr>
        <p:spPr>
          <a:xfrm>
            <a:off x="731520" y="9601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 que fica entregue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39DF078-5530-456D-8B73-121B7F18350A}"/>
              </a:ext>
            </a:extLst>
          </p:cNvPr>
          <p:cNvSpPr>
            <a:spLocks noGrp="1"/>
          </p:cNvSpPr>
          <p:nvPr/>
        </p:nvSpPr>
        <p:spPr>
          <a:xfrm>
            <a:off x="731520" y="1600200"/>
            <a:ext cx="54864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9F80104-D804-48A2-B60B-9EDAFB7D53C3}"/>
              </a:ext>
            </a:extLst>
          </p:cNvPr>
          <p:cNvSpPr>
            <a:spLocks noGrp="1"/>
          </p:cNvSpPr>
          <p:nvPr/>
        </p:nvSpPr>
        <p:spPr>
          <a:xfrm>
            <a:off x="731520" y="2103120"/>
            <a:ext cx="3566160" cy="3840480"/>
          </a:xfrm>
          <a:prstGeom prst="rect">
            <a:avLst/>
          </a:prstGeom>
          <a:solidFill>
            <a:srgbClr val="0F3158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59470DD-CE12-4A70-856A-52D62DB2FB22}"/>
              </a:ext>
            </a:extLst>
          </p:cNvPr>
          <p:cNvSpPr>
            <a:spLocks noGrp="1"/>
          </p:cNvSpPr>
          <p:nvPr/>
        </p:nvSpPr>
        <p:spPr>
          <a:xfrm>
            <a:off x="960120" y="224028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10B981"/>
                </a:solidFill>
                <a:latin typeface="Georgia"/>
                <a:ea typeface="Georgia"/>
                <a:cs typeface="Georgia"/>
              </a:rPr>
              <a:t>Funciona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AFD3990-CFE8-44CA-B806-4B154993B389}"/>
              </a:ext>
            </a:extLst>
          </p:cNvPr>
          <p:cNvSpPr>
            <a:spLocks noGrp="1"/>
          </p:cNvSpPr>
          <p:nvPr/>
        </p:nvSpPr>
        <p:spPr>
          <a:xfrm>
            <a:off x="960120" y="2788920"/>
            <a:ext cx="3200400" cy="3017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Detector F1 = 1.000 (20/20)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Recommender accuracy = 0.900 (9/10)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Critic F1 = 0.947 (19/20)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Lógica/API: 0.60 → 0.90 · Aprov. pipe: 0.70 → 0.90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631653A-039D-449E-A691-5A4A92B7DE7B}"/>
              </a:ext>
            </a:extLst>
          </p:cNvPr>
          <p:cNvSpPr>
            <a:spLocks noGrp="1"/>
          </p:cNvSpPr>
          <p:nvPr/>
        </p:nvSpPr>
        <p:spPr>
          <a:xfrm>
            <a:off x="4572000" y="2103120"/>
            <a:ext cx="3566160" cy="3840480"/>
          </a:xfrm>
          <a:prstGeom prst="rect">
            <a:avLst/>
          </a:prstGeom>
          <a:solidFill>
            <a:srgbClr val="0F3158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1D848E7-2A78-4A2F-B9D9-9C64E084D584}"/>
              </a:ext>
            </a:extLst>
          </p:cNvPr>
          <p:cNvSpPr>
            <a:spLocks noGrp="1"/>
          </p:cNvSpPr>
          <p:nvPr/>
        </p:nvSpPr>
        <p:spPr>
          <a:xfrm>
            <a:off x="4800600" y="224028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1C7293"/>
                </a:solidFill>
                <a:latin typeface="Georgia"/>
                <a:ea typeface="Georgia"/>
                <a:cs typeface="Georgia"/>
              </a:rPr>
              <a:t>Enxuto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0CC4450-8393-4C36-8C6F-3F8D8833BDAE}"/>
              </a:ext>
            </a:extLst>
          </p:cNvPr>
          <p:cNvSpPr>
            <a:spLocks noGrp="1"/>
          </p:cNvSpPr>
          <p:nvPr/>
        </p:nvSpPr>
        <p:spPr>
          <a:xfrm>
            <a:off x="4800600" y="2788920"/>
            <a:ext cx="3200400" cy="3017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Só Mistral (1 env var)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Sem Postgres, sem pgvector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Sem HuggingFace, sem embeddings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Skills lazy-load por nome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447317C-7C3E-49D9-B84D-5F2D74F929B1}"/>
              </a:ext>
            </a:extLst>
          </p:cNvPr>
          <p:cNvSpPr>
            <a:spLocks noGrp="1"/>
          </p:cNvSpPr>
          <p:nvPr/>
        </p:nvSpPr>
        <p:spPr>
          <a:xfrm>
            <a:off x="8412480" y="2103120"/>
            <a:ext cx="3566160" cy="3840480"/>
          </a:xfrm>
          <a:prstGeom prst="rect">
            <a:avLst/>
          </a:prstGeom>
          <a:solidFill>
            <a:srgbClr val="0F315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EA1FB73-0A85-4C1A-AE7A-2F8EB2F8E130}"/>
              </a:ext>
            </a:extLst>
          </p:cNvPr>
          <p:cNvSpPr>
            <a:spLocks noGrp="1"/>
          </p:cNvSpPr>
          <p:nvPr/>
        </p:nvSpPr>
        <p:spPr>
          <a:xfrm>
            <a:off x="8641080" y="224028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F59E0B"/>
                </a:solidFill>
                <a:latin typeface="Georgia"/>
                <a:ea typeface="Georgia"/>
                <a:cs typeface="Georgia"/>
              </a:rPr>
              <a:t>Próximos passos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4CBD02E-AE2E-4145-ADF9-65EEDAD3FEA1}"/>
              </a:ext>
            </a:extLst>
          </p:cNvPr>
          <p:cNvSpPr>
            <a:spLocks noGrp="1"/>
          </p:cNvSpPr>
          <p:nvPr/>
        </p:nvSpPr>
        <p:spPr>
          <a:xfrm>
            <a:off x="8641080" y="2788920"/>
            <a:ext cx="3200400" cy="3017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Fechar gap residual do Facade (1 falha)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Refinar critério 4 do Critic (false reject)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Expandir dataset (&gt;10 por categoria)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DSPy para otimização automática de prompts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646D6EF-71FA-4D20-8EDC-2018EE710BA2}"/>
              </a:ext>
            </a:extLst>
          </p:cNvPr>
          <p:cNvSpPr>
            <a:spLocks noGrp="1"/>
          </p:cNvSpPr>
          <p:nvPr/>
        </p:nvSpPr>
        <p:spPr>
          <a:xfrm>
            <a:off x="731520" y="62179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i="1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github.com/jvras58/refactor-os</a:t>
            </a:r>
          </a:p>
        </p:txBody>
      </p:sp>
    </p:spTree>
    <p:extLst>
      <p:ext uri="{BB962C8B-B14F-4D97-AF65-F5344CB8AC3E}">
        <p14:creationId xmlns:p14="http://schemas.microsoft.com/office/powerpoint/2010/main" val="1701956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4483</Words>
  <Application>Microsoft Office PowerPoint</Application>
  <DocSecurity>0</DocSecurity>
  <PresentationFormat>Widescreen</PresentationFormat>
  <Paragraphs>781</Paragraphs>
  <Slides>24</Slides>
  <Notes>24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28" baseType="lpstr">
      <vt:lpstr>Calibri</vt:lpstr>
      <vt:lpstr>Consolas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Jvras V</cp:lastModifiedBy>
  <cp:revision>1</cp:revision>
  <dcterms:created xsi:type="dcterms:W3CDTF">2026-06-22T01:42:27Z</dcterms:created>
  <dcterms:modified xsi:type="dcterms:W3CDTF">2026-06-22T01:58:36Z</dcterms:modified>
</cp:coreProperties>
</file>